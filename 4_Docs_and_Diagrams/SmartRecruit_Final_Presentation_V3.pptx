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467F"/>
                </a:solidFill>
              </a:defRPr>
            </a:pPr>
            <a:r>
              <a:t>SMARTRECRUIT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Next-Gen AI-Powered Talent Acquisition Prototype</a:t>
            </a:r>
          </a:p>
          <a:p>
            <a:endParaRPr/>
          </a:p>
          <a:p>
            <a:r>
              <a:t>Submitted By:</a:t>
            </a:r>
          </a:p>
          <a:p>
            <a:r>
              <a:t>Candidate Name</a:t>
            </a:r>
          </a:p>
          <a:p>
            <a:r>
              <a:t>Tech Elecon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spcAft>
                <a:spcPts val="1000"/>
              </a:spcAft>
              <a:defRPr sz="1800"/>
            </a:pPr>
            <a:r>
              <a:t>1. Project Profile</a:t>
            </a:r>
          </a:p>
          <a:p>
            <a:pPr>
              <a:spcAft>
                <a:spcPts val="1000"/>
              </a:spcAft>
              <a:defRPr sz="1800"/>
            </a:pPr>
            <a:r>
              <a:t>2. Introduction To Organization</a:t>
            </a:r>
          </a:p>
          <a:p>
            <a:pPr>
              <a:spcAft>
                <a:spcPts val="1000"/>
              </a:spcAft>
              <a:defRPr sz="1800"/>
            </a:pPr>
            <a:r>
              <a:t>3. Introduction to Project</a:t>
            </a:r>
          </a:p>
          <a:p>
            <a:pPr>
              <a:spcAft>
                <a:spcPts val="1000"/>
              </a:spcAft>
              <a:defRPr sz="1800"/>
            </a:pPr>
            <a:r>
              <a:t>4. Objective of the System</a:t>
            </a:r>
          </a:p>
          <a:p>
            <a:pPr>
              <a:spcAft>
                <a:spcPts val="1000"/>
              </a:spcAft>
              <a:defRPr sz="1800"/>
            </a:pPr>
            <a:r>
              <a:t>5. Functional &amp; Non-Functional Requirements</a:t>
            </a:r>
          </a:p>
          <a:p>
            <a:pPr>
              <a:spcAft>
                <a:spcPts val="1000"/>
              </a:spcAft>
              <a:defRPr sz="1800"/>
            </a:pPr>
            <a:r>
              <a:t>6. Hardware and Software Requirements</a:t>
            </a:r>
          </a:p>
          <a:p>
            <a:pPr>
              <a:spcAft>
                <a:spcPts val="1000"/>
              </a:spcAft>
              <a:defRPr sz="1800"/>
            </a:pPr>
            <a:r>
              <a:t>7. System Modules and Functionalities</a:t>
            </a:r>
          </a:p>
          <a:p>
            <a:pPr>
              <a:spcAft>
                <a:spcPts val="1000"/>
              </a:spcAft>
              <a:defRPr sz="1800"/>
            </a:pPr>
            <a:r>
              <a:t>8. System Design Diagrams</a:t>
            </a:r>
          </a:p>
          <a:p>
            <a:pPr>
              <a:spcAft>
                <a:spcPts val="1000"/>
              </a:spcAft>
              <a:defRPr sz="1800"/>
            </a:pPr>
            <a:r>
              <a:t>9. Data Dictionary</a:t>
            </a:r>
          </a:p>
          <a:p>
            <a:pPr>
              <a:spcAft>
                <a:spcPts val="1000"/>
              </a:spcAft>
              <a:defRPr sz="1800"/>
            </a:pPr>
            <a:r>
              <a:t>10. System Outputs (Screenshots)</a:t>
            </a:r>
          </a:p>
          <a:p>
            <a:pPr>
              <a:spcAft>
                <a:spcPts val="1000"/>
              </a:spcAft>
              <a:defRPr sz="1800"/>
            </a:pPr>
            <a:r>
              <a:t>11.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Introduction To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Tech Elecon Pvt. Ltd.</a:t>
            </a:r>
          </a:p>
          <a:p>
            <a:pPr>
              <a:spcAft>
                <a:spcPts val="1000"/>
              </a:spcAft>
              <a:defRPr sz="1800"/>
            </a:pPr>
            <a:r>
              <a:t>A premier IT solutions provider and part of the esteemed Elecon Group.</a:t>
            </a:r>
          </a:p>
          <a:p>
            <a:pPr>
              <a:spcAft>
                <a:spcPts val="1000"/>
              </a:spcAft>
              <a:defRPr sz="1800"/>
            </a:pPr>
            <a:r>
              <a:t>Specializes in enterprise software development, system integration, and advanced R&amp;D.</a:t>
            </a:r>
          </a:p>
          <a:p>
            <a:pPr>
              <a:spcAft>
                <a:spcPts val="1000"/>
              </a:spcAft>
              <a:defRPr sz="1800"/>
            </a:pPr>
            <a:r>
              <a:t>Focuses on modernizing legacy workflows with bleeding-edge technologies.</a:t>
            </a:r>
          </a:p>
          <a:p>
            <a:pPr>
              <a:spcAft>
                <a:spcPts val="1000"/>
              </a:spcAft>
              <a:defRPr sz="1800"/>
            </a:pPr>
            <a:r>
              <a:t>Headquartered in Vallabh Vidyanagar, Gujarat.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SmartRecruit is a state-of-the-art AI-driven recruitment portal.</a:t>
            </a:r>
          </a:p>
          <a:p>
            <a:pPr>
              <a:spcAft>
                <a:spcPts val="1000"/>
              </a:spcAft>
              <a:defRPr sz="1800"/>
            </a:pPr>
            <a:r>
              <a:t>Completely automates the hiring funnel utilizing Large Language Models (Gemini 1.5, LLaMA3).</a:t>
            </a:r>
          </a:p>
          <a:p>
            <a:pPr>
              <a:spcAft>
                <a:spcPts val="1000"/>
              </a:spcAft>
              <a:defRPr sz="1800"/>
            </a:pPr>
            <a:r>
              <a:t>Eliminates manual CV screening latency through multi-lingual semantic RAG matching.</a:t>
            </a:r>
          </a:p>
          <a:p>
            <a:pPr>
              <a:spcAft>
                <a:spcPts val="1000"/>
              </a:spcAft>
              <a:defRPr sz="1800"/>
            </a:pPr>
            <a:r>
              <a:t>Conducts real-time behavioral AI-interviews equipped with biometric sentiment proctoring.</a:t>
            </a:r>
          </a:p>
          <a:p>
            <a:pPr>
              <a:spcAft>
                <a:spcPts val="1000"/>
              </a:spcAft>
              <a:defRPr sz="1800"/>
            </a:pPr>
            <a:r>
              <a:t>Designed to combat hiring bias while establishing extremely scalable processing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Objective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Automate Candidate Evaluation Pipeline via an objective algorithmic standard.</a:t>
            </a:r>
          </a:p>
          <a:p>
            <a:pPr>
              <a:spcAft>
                <a:spcPts val="1000"/>
              </a:spcAft>
              <a:defRPr sz="1800"/>
            </a:pPr>
            <a:r>
              <a:t>Enhance Security: Piston-isolated execution sandbox for coding evaluations.</a:t>
            </a:r>
          </a:p>
          <a:p>
            <a:pPr>
              <a:spcAft>
                <a:spcPts val="1000"/>
              </a:spcAft>
              <a:defRPr sz="1800"/>
            </a:pPr>
            <a:r>
              <a:t>Mitigate Human Bias using entirely objective LLM-generated assessment metrics.</a:t>
            </a:r>
          </a:p>
          <a:p>
            <a:pPr>
              <a:spcAft>
                <a:spcPts val="1000"/>
              </a:spcAft>
              <a:defRPr sz="1800"/>
            </a:pPr>
            <a:r>
              <a:t>Reduce Operational Costs: Shortlist generation time cut from 12 hours to 8 seconds.</a:t>
            </a:r>
          </a:p>
          <a:p>
            <a:pPr>
              <a:spcAft>
                <a:spcPts val="1000"/>
              </a:spcAft>
              <a:defRPr sz="1800"/>
            </a:pPr>
            <a:r>
              <a:t>Promote Scalability through asynchronous micro-interactions, caching, and Django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3B78B0"/>
                </a:solidFill>
              </a:defRPr>
            </a:pPr>
            <a:r>
              <a:t>Functional &amp;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1000"/>
              </a:spcAft>
              <a:defRPr sz="1800"/>
            </a:pPr>
            <a:r>
              <a:t>Functional Requirements:</a:t>
            </a:r>
          </a:p>
          <a:p>
            <a:pPr>
              <a:spcAft>
                <a:spcPts val="1000"/>
              </a:spcAft>
              <a:defRPr sz="1800"/>
            </a:pPr>
            <a:r>
              <a:t>- Semantic Resume Scoring &amp; Auto-shortlisting.</a:t>
            </a:r>
          </a:p>
          <a:p>
            <a:pPr>
              <a:spcAft>
                <a:spcPts val="1000"/>
              </a:spcAft>
              <a:defRPr sz="1800"/>
            </a:pPr>
            <a:r>
              <a:t>- Multi-tier AI assessment execution (Coding Engine &amp; Interview Engine).</a:t>
            </a:r>
          </a:p>
          <a:p>
            <a:pPr>
              <a:spcAft>
                <a:spcPts val="1000"/>
              </a:spcAft>
              <a:defRPr sz="1800"/>
            </a:pPr>
            <a:r>
              <a:t>- 'Thunder Toast' UI Notifications and Glassmorphism Dashboards.</a:t>
            </a:r>
          </a:p>
          <a:p>
            <a:pPr>
              <a:spcAft>
                <a:spcPts val="1000"/>
              </a:spcAft>
              <a:defRPr sz="1800"/>
            </a:pPr>
            <a:r>
              <a:t>- Granular Multi-Role Permissions (Candidate, Recruiter, Administrator).</a:t>
            </a:r>
          </a:p>
          <a:p>
            <a:pPr>
              <a:spcAft>
                <a:spcPts val="1000"/>
              </a:spcAft>
              <a:defRPr sz="1800"/>
            </a:pPr>
            <a:endParaRPr/>
          </a:p>
          <a:p>
            <a:pPr>
              <a:spcAft>
                <a:spcPts val="1000"/>
              </a:spcAft>
              <a:defRPr sz="1800"/>
            </a:pPr>
            <a:r>
              <a:t>Non-Functional Requirements:</a:t>
            </a:r>
          </a:p>
          <a:p>
            <a:pPr>
              <a:spcAft>
                <a:spcPts val="1000"/>
              </a:spcAft>
              <a:defRPr sz="1800"/>
            </a:pPr>
            <a:r>
              <a:t>- 99.9% Uptime with 'Graceful AI Degradation' mechanism (Gemini -&gt; Groq -&gt; Local Mistral).</a:t>
            </a:r>
          </a:p>
          <a:p>
            <a:pPr>
              <a:spcAft>
                <a:spcPts val="1000"/>
              </a:spcAft>
              <a:defRPr sz="1800"/>
            </a:pPr>
            <a:r>
              <a:t>- Sub-500ms Piston executing response latency.</a:t>
            </a:r>
          </a:p>
          <a:p>
            <a:pPr>
              <a:spcAft>
                <a:spcPts val="1000"/>
              </a:spcAft>
              <a:defRPr sz="1800"/>
            </a:pPr>
            <a:r>
              <a:t>- Complete PWA (Progressive Web App) offline resilience capability.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3B78B0"/>
                </a:solidFill>
              </a:defRPr>
            </a:pPr>
            <a:r>
              <a:t>Hardware and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Hardware Requirements:</a:t>
            </a:r>
          </a:p>
          <a:p>
            <a:pPr>
              <a:spcAft>
                <a:spcPts val="1000"/>
              </a:spcAft>
              <a:defRPr sz="1800"/>
            </a:pPr>
            <a:r>
              <a:t>- Minimum Dual-Core CPU with 4GB RAM.</a:t>
            </a:r>
          </a:p>
          <a:p>
            <a:pPr>
              <a:spcAft>
                <a:spcPts val="1000"/>
              </a:spcAft>
              <a:defRPr sz="1800"/>
            </a:pPr>
            <a:r>
              <a:t>- Standard webcam &amp; microphone for real-time DeepFace emotion analysis.</a:t>
            </a:r>
          </a:p>
          <a:p>
            <a:pPr>
              <a:spcAft>
                <a:spcPts val="1000"/>
              </a:spcAft>
              <a:defRPr sz="1800"/>
            </a:pPr>
            <a:endParaRPr/>
          </a:p>
          <a:p>
            <a:pPr>
              <a:spcAft>
                <a:spcPts val="1000"/>
              </a:spcAft>
              <a:defRPr sz="1800"/>
            </a:pPr>
            <a:r>
              <a:t>Software &amp; Technology Stack:</a:t>
            </a:r>
          </a:p>
          <a:p>
            <a:pPr>
              <a:spcAft>
                <a:spcPts val="1000"/>
              </a:spcAft>
              <a:defRPr sz="1800"/>
            </a:pPr>
            <a:r>
              <a:t>- Backend: Python 3.11, Django 5.x, Django Channels, WebSockets.</a:t>
            </a:r>
          </a:p>
          <a:p>
            <a:pPr>
              <a:spcAft>
                <a:spcPts val="1000"/>
              </a:spcAft>
              <a:defRPr sz="1800"/>
            </a:pPr>
            <a:r>
              <a:t>- Frontend: HTML5, CSS3 Custom Theme Engine, Vanilla JS, Bootstrap 5.</a:t>
            </a:r>
          </a:p>
          <a:p>
            <a:pPr>
              <a:spcAft>
                <a:spcPts val="1000"/>
              </a:spcAft>
              <a:defRPr sz="1800"/>
            </a:pPr>
            <a:r>
              <a:t>- AI / ML Providers: Google Gemini 1.5 API, Hugging Face, OpenCV.</a:t>
            </a:r>
          </a:p>
          <a:p>
            <a:pPr>
              <a:spcAft>
                <a:spcPts val="1000"/>
              </a:spcAft>
              <a:defRPr sz="1800"/>
            </a:pPr>
            <a:r>
              <a:t>- Database Engine: PostgreSQL / MySQL.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Modules and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Account Authorization &amp; PWA Integration Module.</a:t>
            </a:r>
          </a:p>
          <a:p>
            <a:pPr>
              <a:spcAft>
                <a:spcPts val="1000"/>
              </a:spcAft>
              <a:defRPr sz="1800"/>
            </a:pPr>
            <a:r>
              <a:t>Recruiter Management Console (Job Generation &amp; Algorithmic Filtering).</a:t>
            </a:r>
          </a:p>
          <a:p>
            <a:pPr>
              <a:spcAft>
                <a:spcPts val="1000"/>
              </a:spcAft>
              <a:defRPr sz="1800"/>
            </a:pPr>
            <a:r>
              <a:t>Semantic RAG Resume Evaluator (Match &amp; Gap Analysis).</a:t>
            </a:r>
          </a:p>
          <a:p>
            <a:pPr>
              <a:spcAft>
                <a:spcPts val="1000"/>
              </a:spcAft>
              <a:defRPr sz="1800"/>
            </a:pPr>
            <a:r>
              <a:t>AI Sandbox Assessment Hub (Aptitude + Practical Coding Tests).</a:t>
            </a:r>
          </a:p>
          <a:p>
            <a:pPr>
              <a:spcAft>
                <a:spcPts val="1000"/>
              </a:spcAft>
              <a:defRPr sz="1800"/>
            </a:pPr>
            <a:r>
              <a:t>Live HR Interview Simulation Room + OpenCV Proctoring.</a:t>
            </a:r>
          </a:p>
          <a:p>
            <a:pPr>
              <a:spcAft>
                <a:spcPts val="1000"/>
              </a:spcAft>
              <a:defRPr sz="1800"/>
            </a:pPr>
            <a:r>
              <a:t>Dynamic Statistical Reporting &amp; Analytics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Entity-Relationship Diagram (ERD)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06205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Class Diagram (UML)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896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Use Case Diagram</a:t>
            </a:r>
          </a:p>
        </p:txBody>
      </p:sp>
      <p:pic>
        <p:nvPicPr>
          <p:cNvPr id="3" name="Picture 2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37043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Activity Diagram</a:t>
            </a:r>
          </a:p>
        </p:txBody>
      </p:sp>
      <p:pic>
        <p:nvPicPr>
          <p:cNvPr id="3" name="Picture 2" descr="activ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76573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Sequence Diagram</a:t>
            </a:r>
          </a:p>
        </p:txBody>
      </p:sp>
      <p:pic>
        <p:nvPicPr>
          <p:cNvPr id="3" name="Picture 2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31991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Level 0 DFD</a:t>
            </a:r>
          </a:p>
        </p:txBody>
      </p:sp>
      <p:pic>
        <p:nvPicPr>
          <p:cNvPr id="3" name="Picture 2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2812"/>
            <a:ext cx="9144000" cy="23661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Level 1 DFD</a:t>
            </a:r>
          </a:p>
        </p:txBody>
      </p:sp>
      <p:pic>
        <p:nvPicPr>
          <p:cNvPr id="3" name="Picture 2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0" y="1903483"/>
            <a:ext cx="8991600" cy="1515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Level 2 DFD</a:t>
            </a:r>
          </a:p>
        </p:txBody>
      </p:sp>
      <p:pic>
        <p:nvPicPr>
          <p:cNvPr id="3" name="Picture 2" descr="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325"/>
            <a:ext cx="9017000" cy="18177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core_users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VARCHAR(128)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last_login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VARCHAR(150)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Unique, 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VARCHAR(254)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jobs_jobposting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requirements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recruiter_id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(users.id)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jobs_application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resume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match_score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job_id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(jobposting.id)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candidate_id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(users.id)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jobs_interviewresult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code_score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sentiment_score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application_id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(application.id)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jobs_codingchallenge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xp_reward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Null, Default 100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Data Dictionary: jobs_notification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Sr. No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3B78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Key, Auto-Increment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LONGTEXT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is_read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TINYINT(1)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Not Null, Default 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Foreign Key (users.id)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Outputs (Screenshots)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The following slides display the user interface of the SmartRecruit system.</a:t>
            </a:r>
          </a:p>
          <a:p>
            <a:pPr>
              <a:spcAft>
                <a:spcPts val="1000"/>
              </a:spcAft>
              <a:defRPr sz="1800"/>
            </a:pPr>
            <a:r>
              <a:t>The UI is built utilizing a modern Glassmorphism design system.</a:t>
            </a:r>
          </a:p>
          <a:p>
            <a:pPr>
              <a:spcAft>
                <a:spcPts val="1000"/>
              </a:spcAft>
              <a:defRPr sz="1800"/>
            </a:pPr>
            <a:r>
              <a:t>Supports active Dark/Light theme toggling, Thunder Toasts, and real-time data binding.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Landing Interface</a:t>
            </a:r>
          </a:p>
        </p:txBody>
      </p:sp>
      <p:pic>
        <p:nvPicPr>
          <p:cNvPr id="3" name="Picture 2" descr="screenshot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596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Neural Job Listings</a:t>
            </a:r>
          </a:p>
        </p:txBody>
      </p:sp>
      <p:pic>
        <p:nvPicPr>
          <p:cNvPr id="3" name="Picture 2" descr="screenshot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3B78B0"/>
                </a:solidFill>
              </a:defRPr>
            </a:pPr>
            <a:r>
              <a:rPr dirty="0"/>
              <a:t>System Output: </a:t>
            </a:r>
            <a:r>
              <a:rPr lang="en-IN" dirty="0"/>
              <a:t>Candidate</a:t>
            </a:r>
            <a:r>
              <a:rPr dirty="0"/>
              <a:t> </a:t>
            </a:r>
            <a:r>
              <a:rPr lang="en-IN" dirty="0"/>
              <a:t>Registration</a:t>
            </a:r>
            <a:endParaRPr dirty="0"/>
          </a:p>
        </p:txBody>
      </p:sp>
      <p:pic>
        <p:nvPicPr>
          <p:cNvPr id="3" name="Picture 2" descr="screenshot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Admin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EBBC0-AEF6-E94A-3417-B4EA8047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84"/>
            <a:ext cx="9144000" cy="495978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System Output: AI Interview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Missing: screenshot_interview.png]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78B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SmartRecruit proves that Artificial Intelligence can effectively manage the full talent lifecycle.</a:t>
            </a:r>
          </a:p>
          <a:p>
            <a:pPr>
              <a:spcAft>
                <a:spcPts val="1000"/>
              </a:spcAft>
              <a:defRPr sz="1800"/>
            </a:pPr>
            <a:r>
              <a:t>Decreases administrative recruitment overhead by up to 85% while drastically improving sourcing consistency.</a:t>
            </a:r>
          </a:p>
          <a:p>
            <a:pPr>
              <a:spcAft>
                <a:spcPts val="1000"/>
              </a:spcAft>
              <a:defRPr sz="1800"/>
            </a:pPr>
            <a:r>
              <a:t>Maintains uncompromised application security and applicant privacy.</a:t>
            </a:r>
          </a:p>
          <a:p>
            <a:pPr>
              <a:spcAft>
                <a:spcPts val="1000"/>
              </a:spcAft>
              <a:defRPr sz="1800"/>
            </a:pPr>
            <a:r>
              <a:t>Seamlessly blends deep technical complexity with an exceptionally beautiful, user-centric 'Thunder' GUI.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986</Words>
  <Application>Microsoft Office PowerPoint</Application>
  <PresentationFormat>On-screen Show (4:3)</PresentationFormat>
  <Paragraphs>245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SMARTRECRUIT AI PLATFORM</vt:lpstr>
      <vt:lpstr>Index</vt:lpstr>
      <vt:lpstr>Introduction To Organization</vt:lpstr>
      <vt:lpstr>Introduction to Project</vt:lpstr>
      <vt:lpstr>Objective of the System</vt:lpstr>
      <vt:lpstr>Functional &amp; Non-Functional Requirements</vt:lpstr>
      <vt:lpstr>Hardware and Software Requirements</vt:lpstr>
      <vt:lpstr>System Modules and Functionalities</vt:lpstr>
      <vt:lpstr>Entity-Relationship Diagram (ERD)</vt:lpstr>
      <vt:lpstr>Class Diagram (UML)</vt:lpstr>
      <vt:lpstr>Use Case Diagram</vt:lpstr>
      <vt:lpstr>Activity Diagram</vt:lpstr>
      <vt:lpstr>Sequence Diagram</vt:lpstr>
      <vt:lpstr>Level 0 DFD</vt:lpstr>
      <vt:lpstr>Level 1 DFD</vt:lpstr>
      <vt:lpstr>Level 2 DFD</vt:lpstr>
      <vt:lpstr>Data Dictionary: core_users</vt:lpstr>
      <vt:lpstr>Data Dictionary: jobs_jobposting</vt:lpstr>
      <vt:lpstr>Data Dictionary: jobs_application</vt:lpstr>
      <vt:lpstr>Data Dictionary: jobs_interviewresult</vt:lpstr>
      <vt:lpstr>Data Dictionary: jobs_codingchallenge</vt:lpstr>
      <vt:lpstr>Data Dictionary: jobs_notification</vt:lpstr>
      <vt:lpstr>System Outputs (Screenshots)</vt:lpstr>
      <vt:lpstr>System Output: Landing Interface</vt:lpstr>
      <vt:lpstr>System Output: Neural Job Listings</vt:lpstr>
      <vt:lpstr>System Output: Candidate Registration</vt:lpstr>
      <vt:lpstr>System Output: Admin Dashboard</vt:lpstr>
      <vt:lpstr>System Output: AI Interview Room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LALWANI</cp:lastModifiedBy>
  <cp:revision>3</cp:revision>
  <dcterms:created xsi:type="dcterms:W3CDTF">2013-01-27T09:14:16Z</dcterms:created>
  <dcterms:modified xsi:type="dcterms:W3CDTF">2026-03-23T09:25:31Z</dcterms:modified>
  <cp:category/>
</cp:coreProperties>
</file>