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SMARTRECRUIT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2FF"/>
                </a:solidFill>
              </a:rPr>
              <a:t>AI RECRUITMENT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54680"/>
            <a:ext cx="54864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 Next-Generation Talent Acquisition Ecosystem
Powered by Google Gemini · Multi-lingual RAG · Real-time AI Interviews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Post Graduate Dept. of Computer Science &amp; Technology
Sardar Patel University · 2024–2026  |  IR Info Tech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0352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FF"/>
                </a:solidFill>
              </a:rPr>
              <a:t>⏳ Time-to-Hire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Average 42 days globally. 70% spent manually screening resumes.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FF"/>
                </a:solidFill>
              </a:rPr>
              <a:t>⚖️ Hiring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Unconscious bias in manual screening leads to diverse-talent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30352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FF"/>
                </a:solidFill>
              </a:rPr>
              <a:t>📉 Poor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Hundreds of applicants per role; HR teams are overwhelmed.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749039"/>
            <a:ext cx="530352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2FF"/>
                </a:solidFill>
              </a:rPr>
              <a:t>🤖 No AI in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3434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Most HR tools lack real AI — they use keyword matching, not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SmartRecruit: The Complete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Resume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Multi-lingual RAG + Semantic 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 Assessments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AI-generated Aptitude + Practical MCQs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Interview (R3)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Voice, Code, Sentiment, Face Proctoring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49039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5020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Botanist HR (R4)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Behavioral STAR-method AI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3749039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89120" y="3749039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95020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5262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Hiring funnel, retention prediction, bias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749039"/>
            <a:ext cx="3566160" cy="1828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3749039"/>
            <a:ext cx="356616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95020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Offer &amp; Onboard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262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PDF generation, salary negotiation AI,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4-Round AI Hiring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560320" cy="420624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25603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2FF"/>
                </a:solidFill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Aptitude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AI-generated MCQs
Timed | Anti-cheat
Pass: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560320" cy="420624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1463040"/>
            <a:ext cx="25603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Practical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Domain-specific MCQs
Code submission
Pass: 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2560320" cy="420624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088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Interview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Voice + Code + Camera
Sentiment analysis
Pass: 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2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463040"/>
            <a:ext cx="2560320" cy="420624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46304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HR 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Botanist STAR engine
Multi-lingual voice
Recruiter 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Python 3.11 · Django 4.x · Django REST Framework · JWT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AI/ML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470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Google Gemini 1.5 Flash · Groq (LLaMA3) · HuggingFace (Mistral-7B)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NLP/Embeddings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27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text-embedding-004 · SentenceTransformers · langdetect · spaCy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5176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27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Django Channels · Redis · WebSockets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07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Bootstrap 5 · Vanilla JS · Chart.js · Monaco Editor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93192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Authentication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07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django-allauth · Azure AD · Okta SAML · bcrypt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12079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8756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SQLite (dev) · PostgreSQL (prod) · Django 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212079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303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68756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WhiteNoise · Gunicorn · Nginx · PWA Service Worker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Engine: 3-Tier Graceful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Zero-downtime: If Gemini hits quota, traffic auto-routes to Groq → Hugging 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566160" cy="384048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56616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2FF"/>
                </a:solidFill>
              </a:rP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Google Gemini 1.5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High-context AI
Resume parsing, JD generation,
Interview evaluation, Architecture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2FF"/>
                </a:solidFill>
              </a:rPr>
              <a:t>↓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566160" cy="384048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2029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FALLBACK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Groq API (LLaMA3-8B)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Ultra-low latency
Voice assistant, Chat,
typing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4747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2FF"/>
                </a:solidFill>
              </a:rPr>
              <a:t>↓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566160" cy="384048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56616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029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FALLBACK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HuggingFace Mistral-7B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9718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Ultimate offline backup
All tasks via
HF Inference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33 use cases across 3 actors: Candidate, Recruiter, Admin</a:t>
            </a:r>
          </a:p>
        </p:txBody>
      </p:sp>
      <p:pic>
        <p:nvPicPr>
          <p:cNvPr id="8" name="Picture 7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387219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Flow Diagram — Level 0 (Context)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System boundary with all 6 external entities</a:t>
            </a:r>
          </a:p>
        </p:txBody>
      </p:sp>
      <p:pic>
        <p:nvPicPr>
          <p:cNvPr id="8" name="Picture 7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204724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Flow Diagram — Level 1 (Processes)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7 major sub-processes and 7 data stores</a:t>
            </a:r>
          </a:p>
        </p:txBody>
      </p:sp>
      <p:pic>
        <p:nvPicPr>
          <p:cNvPr id="8" name="Picture 7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439135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DFD Level 2 — Resume Intelligence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From PDF upload → multilingual detect → embed → score → shortlist/reject</a:t>
            </a:r>
          </a:p>
        </p:txBody>
      </p:sp>
      <p:pic>
        <p:nvPicPr>
          <p:cNvPr id="8" name="Picture 7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142463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Activity Diagram — Full Hiring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4-round elimination with all decision gates and email triggers</a:t>
            </a:r>
          </a:p>
        </p:txBody>
      </p:sp>
      <p:pic>
        <p:nvPicPr>
          <p:cNvPr id="8" name="Picture 7" descr="activ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3892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Class Diagram — Core Data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9 core classes with attributes, methods, and multiplicities</a:t>
            </a:r>
          </a:p>
        </p:txBody>
      </p:sp>
      <p:pic>
        <p:nvPicPr>
          <p:cNvPr id="8" name="Picture 7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28381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Sequence Diagram — End-to-End Hiring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Apply → Parse → Assess → Interview → Offer → Onboard — with async email &amp; AI calls</a:t>
            </a:r>
          </a:p>
        </p:txBody>
      </p:sp>
      <p:pic>
        <p:nvPicPr>
          <p:cNvPr id="8" name="Picture 7" descr="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1083670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Database Design: 35+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[core]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Custom auth model with role flags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JobPosting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Full JD with round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Candidate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Profile + AI-enriched 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4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22-status pipeline state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83464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R1/R2 results + JSON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83464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383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session data + code + scores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5196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Offer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361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Salary, joining date, PDF link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25196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SentimentLog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361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Per-frame emotion, proctoring flags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25196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Notification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43616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800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In-app bell notifications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66928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NegotiationSession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6080" y="5779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217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AI salary negotiation chat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566928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CodingChallenge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5779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217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XP, test cases, multi-language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669280"/>
            <a:ext cx="3566160" cy="11887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OnboardingRoadmap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57790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[jobs]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6217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30-60-90 day AI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🔐 JWT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15-min expiry access tokens + refresh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🛡️ CSRF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Built-in Django middleware on all 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💉 SQL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ORM only — zero raw SQL strings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74320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🔒 HTTPS 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HSTS max-age 1 year + SSL redirect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🎭 Blind Hiring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Toggle masks candidate name/photo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📸 Proctoring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Face detection, tab-switch, flag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03519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394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⛓️ Blockchain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SHA-256 credential verification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03519"/>
            <a:ext cx="5394960" cy="10515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3949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📁 File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8521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MIME + extension whitelist, 5 MB cap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UI: Landing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Premium glassmorphism design with Dark / Light theme switching</a:t>
            </a:r>
          </a:p>
        </p:txBody>
      </p:sp>
      <p:pic>
        <p:nvPicPr>
          <p:cNvPr id="8" name="Picture 7" descr="screenshot_landing.png"/>
          <p:cNvPicPr>
            <a:picLocks noChangeAspect="1"/>
          </p:cNvPicPr>
          <p:nvPr/>
        </p:nvPicPr>
        <p:blipFill>
          <a:blip r:embed="rId2"/>
          <a:srcRect b="44836"/>
          <a:stretch>
            <a:fillRect/>
          </a:stretch>
        </p:blipFill>
        <p:spPr>
          <a:xfrm>
            <a:off x="2875660" y="1936496"/>
            <a:ext cx="7203060" cy="411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UI: Neural Job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AI match scores, advanced filters, pagination — candidate-facing job board</a:t>
            </a:r>
          </a:p>
        </p:txBody>
      </p:sp>
      <p:pic>
        <p:nvPicPr>
          <p:cNvPr id="8" name="Picture 7" descr="screenshot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UI: Candidate Registration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0FFA36-2534-1D09-1F66-05C2D94A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0" y="1554480"/>
            <a:ext cx="9567544" cy="51794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0 Django Errors — python manage.py check — 0 issues silenced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35+ Data Models — Complete hiring pipeline state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3-Engine AI — Gemini → Groq → HuggingFace graceful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Multi-lingual — 30+ languages via multilingual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Real-time — WebSocket proctoring, live interview,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PWA Ready — Offline cache, install prompt, service 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2627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SSO Enterprise — Azure AD + Okta SAML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2627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Blockchain — Credential tamper-proof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Dark + Light — Full dual-theme CSS system (4000+ lines)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Auto Emails — Branded HTML emails via async threading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LinkedIn / Naukri / Indeed auto job syndication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3D face liveness detection (anti-spoofing proctoring)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RL-based question difficulty adaptation per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Multi-tenant SaaS white-labelling for enterprises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Predictive HR analytics with regression ML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▸  GDPR right-to-erasure automation and data anonymization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2FF"/>
                </a:solidFill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0432"/>
            <a:ext cx="12188952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SmartRecruit successfully demonstrates that Artificial Intelligence can be applied end-to-end across the complete talent acquisition lifecycle — from resume parsing to onboarding roadmap generation.
The platform reduces time-to-shortlist from days to seconds, eliminates human bias from the screening process, and delivers a world-class, data-driven experience to both candidates and recruiters.
With a three-tier zero-downtime AI engine, 4-round automated evaluation pipeline, and enterprise-grade security — SmartRecruit is production-ready.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2FF"/>
                </a:solidFill>
              </a:rPr>
              <a:t>SmartRecruit AI Recruitment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45720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1031</Words>
  <Application>Microsoft Office PowerPoint</Application>
  <PresentationFormat>Custom</PresentationFormat>
  <Paragraphs>194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LALWANI</cp:lastModifiedBy>
  <cp:revision>2</cp:revision>
  <dcterms:created xsi:type="dcterms:W3CDTF">2013-01-27T09:14:16Z</dcterms:created>
  <dcterms:modified xsi:type="dcterms:W3CDTF">2026-03-25T06:10:17Z</dcterms:modified>
  <cp:category/>
</cp:coreProperties>
</file>