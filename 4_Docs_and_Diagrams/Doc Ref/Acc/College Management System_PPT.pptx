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9.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72D07D0-BF53-4444-8951-4DF58BB40A56}" type="datetimeFigureOut">
              <a:rPr lang="en-IN" smtClean="0"/>
              <a:t>02-03-2024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95383940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2D07D0-BF53-4444-8951-4DF58BB40A56}" type="datetimeFigureOut">
              <a:rPr lang="en-IN" smtClean="0"/>
              <a:t>02-03-2024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312971622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72D07D0-BF53-4444-8951-4DF58BB40A56}" type="datetimeFigureOut">
              <a:rPr lang="en-IN" smtClean="0"/>
              <a:t>02-03-2024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26654718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72D07D0-BF53-4444-8951-4DF58BB40A56}" type="datetimeFigureOut">
              <a:rPr lang="en-IN" smtClean="0"/>
              <a:t>02-03-2024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21097012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72D07D0-BF53-4444-8951-4DF58BB40A56}" type="datetimeFigureOut">
              <a:rPr lang="en-IN" smtClean="0"/>
              <a:t>02-03-2024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50962674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72D07D0-BF53-4444-8951-4DF58BB40A56}" type="datetimeFigureOut">
              <a:rPr lang="en-IN" smtClean="0"/>
              <a:t>02-03-2024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305920132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2D07D0-BF53-4444-8951-4DF58BB40A56}" type="datetimeFigureOut">
              <a:rPr lang="en-IN" smtClean="0"/>
              <a:t>02-03-2024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3112660093"/>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2D07D0-BF53-4444-8951-4DF58BB40A56}" type="datetimeFigureOut">
              <a:rPr lang="en-IN" smtClean="0"/>
              <a:t>02-03-2024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42949679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2D07D0-BF53-4444-8951-4DF58BB40A56}" type="datetimeFigureOut">
              <a:rPr lang="en-IN" smtClean="0"/>
              <a:t>02-03-2024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185385111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2D07D0-BF53-4444-8951-4DF58BB40A56}" type="datetimeFigureOut">
              <a:rPr lang="en-IN" smtClean="0"/>
              <a:t>02-03-2024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186193001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2D07D0-BF53-4444-8951-4DF58BB40A56}" type="datetimeFigureOut">
              <a:rPr lang="en-IN" smtClean="0"/>
              <a:t>02-03-2024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152D4-4C75-44D7-85BE-3D17AF948B75}" type="slidenum">
              <a:rPr lang="en-IN" smtClean="0"/>
              <a:t>‹#›</a:t>
            </a:fld>
            <a:endParaRPr lang="en-IN"/>
          </a:p>
        </p:txBody>
      </p:sp>
    </p:spTree>
    <p:extLst>
      <p:ext uri="{BB962C8B-B14F-4D97-AF65-F5344CB8AC3E}">
        <p14:creationId xmlns:p14="http://schemas.microsoft.com/office/powerpoint/2010/main" val="4128649663"/>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2D07D0-BF53-4444-8951-4DF58BB40A56}" type="datetimeFigureOut">
              <a:rPr lang="en-IN" smtClean="0"/>
              <a:t>02-03-2024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2152D4-4C75-44D7-85BE-3D17AF948B75}" type="slidenum">
              <a:rPr lang="en-IN" smtClean="0"/>
              <a:t>‹#›</a:t>
            </a:fld>
            <a:endParaRPr lang="en-IN"/>
          </a:p>
        </p:txBody>
      </p:sp>
    </p:spTree>
    <p:extLst>
      <p:ext uri="{BB962C8B-B14F-4D97-AF65-F5344CB8AC3E}">
        <p14:creationId xmlns:p14="http://schemas.microsoft.com/office/powerpoint/2010/main" val="1012585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8" Type="http://schemas.openxmlformats.org/officeDocument/2006/relationships/hyperlink" Target="https://www.youtube.com/watch?v=jtpAMdIirpk&amp;list=PL0LgduUtAhwoPqd0S8d-DfY4WLsrfQRW-&amp;index=7" TargetMode="External"/><Relationship Id="rId3" Type="http://schemas.openxmlformats.org/officeDocument/2006/relationships/hyperlink" Target="http://www.acc.ac.in/" TargetMode="External"/><Relationship Id="rId7" Type="http://schemas.openxmlformats.org/officeDocument/2006/relationships/hyperlink" Target="https://www.youtube.com/watch?v=Ko3gOyWcuyk&amp;list=PL0LgduUtAhwoPqd0S8d-DfY4WLsrfQRW-&amp;index=5" TargetMode="External"/><Relationship Id="rId2" Type="http://schemas.openxmlformats.org/officeDocument/2006/relationships/hyperlink" Target="http://www.google.com/" TargetMode="External"/><Relationship Id="rId1" Type="http://schemas.openxmlformats.org/officeDocument/2006/relationships/slideLayout" Target="../slideLayouts/slideLayout7.xml"/><Relationship Id="rId6" Type="http://schemas.openxmlformats.org/officeDocument/2006/relationships/hyperlink" Target="https://www.youtube.com/watch?v=-fkdrgFiaeI&amp;list=PL0LgduUtAhwoPqd0S8d-DfY4WLsrfQRW-&amp;index=3&amp;t=5s" TargetMode="External"/><Relationship Id="rId11" Type="http://schemas.openxmlformats.org/officeDocument/2006/relationships/hyperlink" Target="https://www.youtube.com/watch?v=O2iHmut4xb8&amp;list=PL0LgduUtAhwoPqd0S8d-DfY4WLsrfQRW-&amp;index=33" TargetMode="External"/><Relationship Id="rId5" Type="http://schemas.openxmlformats.org/officeDocument/2006/relationships/hyperlink" Target="https://www.youtube.com/@HaritiStudyHubEasyLearn/streams" TargetMode="External"/><Relationship Id="rId10" Type="http://schemas.openxmlformats.org/officeDocument/2006/relationships/hyperlink" Target="https://www.youtube.com/watch?v=5pwK2cNdumc&amp;list=PL0LgduUtAhwoPqd0S8d-DfY4WLsrfQRW-&amp;index=38" TargetMode="External"/><Relationship Id="rId4" Type="http://schemas.openxmlformats.org/officeDocument/2006/relationships/hyperlink" Target="http://www.w3schools.com/" TargetMode="External"/><Relationship Id="rId9" Type="http://schemas.openxmlformats.org/officeDocument/2006/relationships/hyperlink" Target="https://www.youtube.com/watch?v=dm9T2kDCiOk&amp;list=PL0LgduUtAhwoPqd0S8d-DfY4WLsrfQRW-&amp;index=26" TargetMode="External"/></Relationships>
</file>

<file path=ppt/slides/_rels/slide9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extBox 2"/>
          <p:cNvSpPr txBox="1"/>
          <p:nvPr/>
        </p:nvSpPr>
        <p:spPr>
          <a:xfrm>
            <a:off x="0" y="883395"/>
            <a:ext cx="12192000" cy="707886"/>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pPr algn="ctr"/>
            <a:r>
              <a:rPr lang="cs-CZ" sz="4000" dirty="0">
                <a:ln w="0"/>
                <a:solidFill>
                  <a:schemeClr val="bg1"/>
                </a:solidFill>
                <a:effectLst>
                  <a:glow rad="101600">
                    <a:srgbClr val="FF0000">
                      <a:alpha val="60000"/>
                    </a:srgbClr>
                  </a:glow>
                  <a:outerShdw blurRad="38100" dist="19050" dir="2700000" algn="tl" rotWithShape="0">
                    <a:schemeClr val="dk1">
                      <a:alpha val="40000"/>
                    </a:schemeClr>
                  </a:outerShdw>
                </a:effectLst>
                <a:latin typeface="Algerian" panose="04020705040A02060702" pitchFamily="82" charset="0"/>
                <a:cs typeface="Arial" panose="020B0604020202020204" pitchFamily="34" charset="0"/>
              </a:rPr>
              <a:t>College Management System </a:t>
            </a:r>
            <a:endParaRPr lang="en-US" sz="4000" dirty="0">
              <a:ln w="0"/>
              <a:solidFill>
                <a:schemeClr val="bg1"/>
              </a:solidFill>
              <a:effectLst>
                <a:glow rad="101600">
                  <a:srgbClr val="FF0000">
                    <a:alpha val="60000"/>
                  </a:srgbClr>
                </a:glow>
                <a:outerShdw blurRad="38100" dist="19050" dir="2700000" algn="tl" rotWithShape="0">
                  <a:schemeClr val="dk1">
                    <a:alpha val="40000"/>
                  </a:schemeClr>
                </a:outerShdw>
              </a:effectLst>
              <a:latin typeface="Algerian" panose="04020705040A02060702" pitchFamily="82" charset="0"/>
              <a:cs typeface="Arial" panose="020B0604020202020204" pitchFamily="34" charset="0"/>
            </a:endParaRPr>
          </a:p>
        </p:txBody>
      </p:sp>
      <p:sp>
        <p:nvSpPr>
          <p:cNvPr id="6" name="Subtitle 2"/>
          <p:cNvSpPr txBox="1">
            <a:spLocks/>
          </p:cNvSpPr>
          <p:nvPr/>
        </p:nvSpPr>
        <p:spPr>
          <a:xfrm>
            <a:off x="1135570" y="1591281"/>
            <a:ext cx="9485538" cy="3364886"/>
          </a:xfrm>
          <a:prstGeom prst="rect">
            <a:avLst/>
          </a:prstGeom>
        </p:spPr>
        <p:txBody>
          <a:bodyPr>
            <a:normAutofit fontScale="92500" lnSpcReduction="10000"/>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algn="ctr"/>
            <a:endParaRPr lang="cs-CZ" sz="3500" dirty="0">
              <a:effectLst>
                <a:glow rad="101600">
                  <a:srgbClr val="FF0000">
                    <a:alpha val="60000"/>
                  </a:srgbClr>
                </a:glow>
              </a:effectLst>
              <a:latin typeface="Algerian" panose="04020705040A02060702" pitchFamily="82" charset="0"/>
            </a:endParaRPr>
          </a:p>
          <a:p>
            <a:pPr algn="ctr">
              <a:buFont typeface="Wingdings" panose="05000000000000000000" pitchFamily="2" charset="2"/>
              <a:buChar char="Ø"/>
            </a:pPr>
            <a:r>
              <a:rPr lang="cs-CZ"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Name : </a:t>
            </a:r>
            <a:r>
              <a:rPr lang="en-IN"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Rajesh  Lalwani</a:t>
            </a:r>
            <a:endParaRPr lang="en-US"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endParaRPr>
          </a:p>
          <a:p>
            <a:pPr algn="ctr">
              <a:buFont typeface="Wingdings" panose="05000000000000000000" pitchFamily="2" charset="2"/>
              <a:buChar char="Ø"/>
            </a:pPr>
            <a:r>
              <a:rPr lang="cs-CZ"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Roll No : </a:t>
            </a:r>
            <a:r>
              <a:rPr lang="en-US"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108</a:t>
            </a:r>
          </a:p>
          <a:p>
            <a:pPr algn="ctr">
              <a:buFont typeface="Wingdings" panose="05000000000000000000" pitchFamily="2" charset="2"/>
              <a:buChar char="Ø"/>
            </a:pPr>
            <a:r>
              <a:rPr lang="en-IN"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Exam No: </a:t>
            </a:r>
          </a:p>
          <a:p>
            <a:pPr algn="ctr">
              <a:buFont typeface="Wingdings" panose="05000000000000000000" pitchFamily="2" charset="2"/>
              <a:buChar char="Ø"/>
            </a:pPr>
            <a:r>
              <a:rPr lang="cs-CZ"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 Sem : </a:t>
            </a:r>
            <a:r>
              <a:rPr lang="en-IN" sz="3500" b="1" dirty="0" smtClean="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6</a:t>
            </a:r>
            <a:endParaRPr lang="en-US"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endParaRPr>
          </a:p>
          <a:p>
            <a:pPr algn="ctr">
              <a:buFont typeface="Wingdings" panose="05000000000000000000" pitchFamily="2" charset="2"/>
              <a:buChar char="Ø"/>
            </a:pPr>
            <a:r>
              <a:rPr lang="cs-CZ"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Project </a:t>
            </a:r>
            <a:r>
              <a:rPr lang="en-US"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G</a:t>
            </a:r>
            <a:r>
              <a:rPr lang="cs-CZ"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uide </a:t>
            </a:r>
            <a:r>
              <a:rPr lang="en-US"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Name </a:t>
            </a:r>
            <a:r>
              <a:rPr lang="cs-CZ"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 </a:t>
            </a:r>
            <a:r>
              <a:rPr lang="en-IN" sz="3500" b="1" dirty="0" smtClean="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Ms</a:t>
            </a:r>
            <a:r>
              <a:rPr lang="en-IN"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 </a:t>
            </a:r>
            <a:r>
              <a:rPr lang="en-IN" sz="3500" b="1" dirty="0" err="1" smtClean="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Fiza</a:t>
            </a:r>
            <a:r>
              <a:rPr lang="en-IN" sz="3500" b="1" dirty="0" smtClean="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 </a:t>
            </a:r>
            <a:r>
              <a:rPr lang="en-IN" sz="3500" b="1" dirty="0" err="1" smtClean="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rPr>
              <a:t>Vhora</a:t>
            </a:r>
            <a:endParaRPr lang="en-IN" sz="3500" b="1" dirty="0">
              <a:ln w="9525">
                <a:solidFill>
                  <a:schemeClr val="accent1">
                    <a:lumMod val="75000"/>
                  </a:schemeClr>
                </a:solidFill>
                <a:prstDash val="solid"/>
              </a:ln>
              <a:solidFill>
                <a:schemeClr val="bg1"/>
              </a:solidFill>
              <a:effectLst>
                <a:glow rad="101600">
                  <a:srgbClr val="FF0000">
                    <a:alpha val="60000"/>
                  </a:srgbClr>
                </a:glow>
                <a:outerShdw blurRad="12700" dist="38100" dir="2700000" algn="tl" rotWithShape="0">
                  <a:schemeClr val="bg1">
                    <a:lumMod val="50000"/>
                  </a:schemeClr>
                </a:outerShdw>
              </a:effectLst>
              <a:latin typeface="Pristina" panose="03060402040406080204" pitchFamily="66" charset="0"/>
            </a:endParaRPr>
          </a:p>
        </p:txBody>
      </p:sp>
    </p:spTree>
    <p:extLst>
      <p:ext uri="{BB962C8B-B14F-4D97-AF65-F5344CB8AC3E}">
        <p14:creationId xmlns:p14="http://schemas.microsoft.com/office/powerpoint/2010/main" val="70536973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95604" y="500043"/>
            <a:ext cx="5572164" cy="800219"/>
          </a:xfrm>
          <a:prstGeom prst="rect">
            <a:avLst/>
          </a:prstGeom>
          <a:noFill/>
        </p:spPr>
        <p:txBody>
          <a:bodyPr wrap="square" rtlCol="0">
            <a:spAutoFit/>
          </a:bodyPr>
          <a:lstStyle/>
          <a:p>
            <a:pPr algn="ctr"/>
            <a:r>
              <a:rPr lang="en-US" sz="2800" b="1" u="sng" dirty="0">
                <a:solidFill>
                  <a:schemeClr val="bg1"/>
                </a:solidFill>
                <a:effectLst>
                  <a:glow rad="228600">
                    <a:schemeClr val="accent5">
                      <a:satMod val="175000"/>
                      <a:alpha val="40000"/>
                    </a:schemeClr>
                  </a:glow>
                </a:effectLst>
              </a:rPr>
              <a:t>Introduction</a:t>
            </a:r>
            <a:endParaRPr lang="en-US" sz="2800" b="1" dirty="0">
              <a:solidFill>
                <a:schemeClr val="bg1"/>
              </a:solidFill>
              <a:effectLst>
                <a:glow rad="228600">
                  <a:schemeClr val="accent5">
                    <a:satMod val="175000"/>
                    <a:alpha val="40000"/>
                  </a:schemeClr>
                </a:glow>
              </a:effectLst>
            </a:endParaRPr>
          </a:p>
          <a:p>
            <a:pPr algn="ctr"/>
            <a:endParaRPr lang="en-US" dirty="0">
              <a:solidFill>
                <a:schemeClr val="bg1"/>
              </a:solidFill>
              <a:effectLst>
                <a:glow rad="228600">
                  <a:schemeClr val="accent5">
                    <a:satMod val="175000"/>
                    <a:alpha val="40000"/>
                  </a:schemeClr>
                </a:glow>
              </a:effectLst>
            </a:endParaRPr>
          </a:p>
        </p:txBody>
      </p:sp>
      <p:sp>
        <p:nvSpPr>
          <p:cNvPr id="5" name="Rectangle 4"/>
          <p:cNvSpPr/>
          <p:nvPr/>
        </p:nvSpPr>
        <p:spPr>
          <a:xfrm>
            <a:off x="29526" y="1401381"/>
            <a:ext cx="11704320" cy="4978286"/>
          </a:xfrm>
          <a:prstGeom prst="rect">
            <a:avLst/>
          </a:prstGeom>
          <a:ln>
            <a:solidFill>
              <a:schemeClr val="accent1">
                <a:lumMod val="20000"/>
                <a:lumOff val="80000"/>
              </a:schemeClr>
            </a:solidFill>
          </a:ln>
        </p:spPr>
        <p:txBody>
          <a:bodyPr wrap="square">
            <a:spAutoFit/>
          </a:bodyPr>
          <a:lstStyle/>
          <a:p>
            <a:pPr marL="342900" lvl="0" indent="-342900" algn="just">
              <a:lnSpc>
                <a:spcPct val="150000"/>
              </a:lnSpc>
              <a:spcAft>
                <a:spcPts val="1920"/>
              </a:spcAft>
              <a:buFont typeface="Wingdings" panose="05000000000000000000" pitchFamily="2" charset="2"/>
              <a:buChar char=""/>
            </a:pPr>
            <a:r>
              <a:rPr lang="en-IN" sz="2000" dirty="0" smtClean="0">
                <a:solidFill>
                  <a:schemeClr val="bg2"/>
                </a:solidFill>
                <a:effectLst>
                  <a:glow rad="228600">
                    <a:schemeClr val="accent5">
                      <a:satMod val="175000"/>
                      <a:alpha val="40000"/>
                    </a:schemeClr>
                  </a:glow>
                </a:effectLst>
              </a:rPr>
              <a:t>A College Management System project allows Colleges and Universities to keep track of their enrolment, current students, keep record of old students, allows admin user to Remove Students and other activities related to tertiary education tasks</a:t>
            </a:r>
          </a:p>
          <a:p>
            <a:pPr marL="342900" lvl="0" indent="-342900" algn="just">
              <a:lnSpc>
                <a:spcPct val="150000"/>
              </a:lnSpc>
              <a:spcAft>
                <a:spcPts val="1920"/>
              </a:spcAft>
              <a:buFont typeface="Wingdings" panose="05000000000000000000" pitchFamily="2" charset="2"/>
              <a:buChar char=""/>
            </a:pPr>
            <a:r>
              <a:rPr lang="en-IN" sz="2000" spc="95" dirty="0" smtClean="0">
                <a:solidFill>
                  <a:schemeClr val="bg1"/>
                </a:solidFill>
                <a:effectLst>
                  <a:glow rad="228600">
                    <a:schemeClr val="accent5">
                      <a:satMod val="175000"/>
                      <a:alpha val="40000"/>
                    </a:schemeClr>
                  </a:glow>
                </a:effectLst>
                <a:latin typeface="Arial" panose="020B0604020202020204" pitchFamily="34" charset="0"/>
                <a:ea typeface="Times New Roman" panose="02020603050405020304" pitchFamily="18" charset="0"/>
              </a:rPr>
              <a:t>College Management System is an automated software that provides a more productive way of College Management.</a:t>
            </a:r>
            <a:endParaRPr lang="en-IN" sz="2000" dirty="0" smtClean="0">
              <a:solidFill>
                <a:schemeClr val="bg1"/>
              </a:solidFill>
              <a:effectLst>
                <a:glow rad="228600">
                  <a:schemeClr val="accent5">
                    <a:satMod val="175000"/>
                    <a:alpha val="40000"/>
                  </a:schemeClr>
                </a:glow>
              </a:effectLst>
              <a:latin typeface="Times New Roman" panose="02020603050405020304" pitchFamily="18" charset="0"/>
              <a:ea typeface="Times New Roman" panose="02020603050405020304" pitchFamily="18" charset="0"/>
            </a:endParaRPr>
          </a:p>
          <a:p>
            <a:pPr marL="342900" lvl="0" indent="-342900" algn="just">
              <a:lnSpc>
                <a:spcPct val="150000"/>
              </a:lnSpc>
              <a:spcAft>
                <a:spcPts val="1920"/>
              </a:spcAft>
              <a:buFont typeface="Wingdings" panose="05000000000000000000" pitchFamily="2" charset="2"/>
              <a:buChar char=""/>
            </a:pPr>
            <a:r>
              <a:rPr lang="en-IN" sz="2000" spc="95" dirty="0" smtClean="0">
                <a:solidFill>
                  <a:schemeClr val="bg1"/>
                </a:solidFill>
                <a:effectLst>
                  <a:glow rad="228600">
                    <a:schemeClr val="accent5">
                      <a:satMod val="175000"/>
                      <a:alpha val="40000"/>
                    </a:schemeClr>
                  </a:glow>
                </a:effectLst>
                <a:latin typeface="Arial" panose="020B0604020202020204" pitchFamily="34" charset="0"/>
                <a:ea typeface="Times New Roman" panose="02020603050405020304" pitchFamily="18" charset="0"/>
              </a:rPr>
              <a:t> This College Management System project report is used to discuss the details needed for the system development.</a:t>
            </a:r>
          </a:p>
          <a:p>
            <a:pPr marL="342900" lvl="0" indent="-342900" algn="just">
              <a:lnSpc>
                <a:spcPct val="150000"/>
              </a:lnSpc>
              <a:spcAft>
                <a:spcPts val="1920"/>
              </a:spcAft>
              <a:buFont typeface="Wingdings" panose="05000000000000000000" pitchFamily="2" charset="2"/>
              <a:buChar char=""/>
            </a:pPr>
            <a:r>
              <a:rPr lang="en-IN" sz="2000" dirty="0" smtClean="0">
                <a:solidFill>
                  <a:schemeClr val="bg2"/>
                </a:solidFill>
                <a:effectLst>
                  <a:glow rad="228600">
                    <a:schemeClr val="accent5">
                      <a:satMod val="175000"/>
                      <a:alpha val="40000"/>
                    </a:schemeClr>
                  </a:glow>
                </a:effectLst>
              </a:rPr>
              <a:t>The project report on College Management System includes the project description, proposal and more which completes the whole documentation.</a:t>
            </a:r>
            <a:endParaRPr lang="en-IN" sz="2000" dirty="0">
              <a:solidFill>
                <a:schemeClr val="bg2"/>
              </a:solidFill>
              <a:effectLst>
                <a:glow rad="228600">
                  <a:schemeClr val="accent5">
                    <a:satMod val="175000"/>
                    <a:alpha val="40000"/>
                  </a:schemeClr>
                </a:glow>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6716552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95604" y="195242"/>
            <a:ext cx="5572164"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Scope Of  Work </a:t>
            </a:r>
            <a:endParaRPr lang="en-US" b="1" u="sng" dirty="0">
              <a:solidFill>
                <a:schemeClr val="bg1"/>
              </a:solidFill>
              <a:effectLst>
                <a:glow rad="228600">
                  <a:schemeClr val="accent5">
                    <a:satMod val="175000"/>
                    <a:alpha val="40000"/>
                  </a:schemeClr>
                </a:glow>
              </a:effectLst>
            </a:endParaRPr>
          </a:p>
        </p:txBody>
      </p:sp>
      <p:sp>
        <p:nvSpPr>
          <p:cNvPr id="4" name="Rectangle 3"/>
          <p:cNvSpPr/>
          <p:nvPr/>
        </p:nvSpPr>
        <p:spPr>
          <a:xfrm>
            <a:off x="248529" y="1274218"/>
            <a:ext cx="11672537" cy="4708981"/>
          </a:xfrm>
          <a:prstGeom prst="rect">
            <a:avLst/>
          </a:prstGeom>
        </p:spPr>
        <p:txBody>
          <a:bodyPr wrap="square">
            <a:spAutoFit/>
          </a:bodyPr>
          <a:lstStyle/>
          <a:p>
            <a:pPr lvl="0">
              <a:buFont typeface="Wingdings" pitchFamily="2" charset="2"/>
              <a:buChar char="Ø"/>
            </a:pPr>
            <a:r>
              <a:rPr lang="en-IN" sz="2000" dirty="0" smtClean="0">
                <a:solidFill>
                  <a:schemeClr val="bg2"/>
                </a:solidFill>
                <a:effectLst>
                  <a:glow rad="228600">
                    <a:schemeClr val="accent5">
                      <a:satMod val="175000"/>
                      <a:alpha val="40000"/>
                    </a:schemeClr>
                  </a:glow>
                </a:effectLst>
              </a:rPr>
              <a:t>In College Information Through this service one can access the complete information about the college     campus such as courses available, admission procedure, placements, college events, achievements etc.</a:t>
            </a:r>
            <a:endParaRPr lang="en-US" sz="2000" dirty="0" smtClean="0">
              <a:solidFill>
                <a:schemeClr val="bg2"/>
              </a:solidFill>
              <a:effectLst>
                <a:glow rad="228600">
                  <a:schemeClr val="accent5">
                    <a:satMod val="175000"/>
                    <a:alpha val="40000"/>
                  </a:schemeClr>
                </a:glow>
              </a:effectLst>
            </a:endParaRPr>
          </a:p>
          <a:p>
            <a:endParaRPr lang="en-US" sz="2000" dirty="0" smtClean="0">
              <a:solidFill>
                <a:schemeClr val="bg2"/>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2"/>
                </a:solidFill>
                <a:effectLst>
                  <a:glow rad="228600">
                    <a:schemeClr val="accent5">
                      <a:satMod val="175000"/>
                      <a:alpha val="40000"/>
                    </a:schemeClr>
                  </a:glow>
                </a:effectLst>
              </a:rPr>
              <a:t>This project deals with the various functioning in College management process.</a:t>
            </a:r>
            <a:endParaRPr lang="en-US" sz="2000" dirty="0" smtClean="0">
              <a:solidFill>
                <a:schemeClr val="bg2"/>
              </a:solidFill>
              <a:effectLst>
                <a:glow rad="228600">
                  <a:schemeClr val="accent5">
                    <a:satMod val="175000"/>
                    <a:alpha val="40000"/>
                  </a:schemeClr>
                </a:glow>
              </a:effectLst>
            </a:endParaRPr>
          </a:p>
          <a:p>
            <a:endParaRPr lang="en-US" sz="2000" dirty="0" smtClean="0">
              <a:solidFill>
                <a:schemeClr val="bg2"/>
              </a:solidFill>
              <a:effectLst>
                <a:glow rad="228600">
                  <a:schemeClr val="accent5">
                    <a:satMod val="175000"/>
                    <a:alpha val="40000"/>
                  </a:schemeClr>
                </a:glow>
              </a:effectLst>
            </a:endParaRPr>
          </a:p>
          <a:p>
            <a:endParaRPr lang="en-US" sz="2000" dirty="0" smtClean="0">
              <a:solidFill>
                <a:schemeClr val="bg2"/>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2"/>
                </a:solidFill>
                <a:effectLst>
                  <a:glow rad="228600">
                    <a:schemeClr val="accent5">
                      <a:satMod val="175000"/>
                      <a:alpha val="40000"/>
                    </a:schemeClr>
                  </a:glow>
                </a:effectLst>
              </a:rPr>
              <a:t>Admin can access and manage all the Data of Guest and Student users such as Managing Student Details, Admission Applications, Managing Students’ Feed Back, Managing Guests’ Feed Back, Managing Students’ Feed Back, Managing Guests’ Feed Back, and so on.</a:t>
            </a:r>
            <a:endParaRPr lang="en-US" sz="2000" dirty="0" smtClean="0">
              <a:solidFill>
                <a:schemeClr val="bg2"/>
              </a:solidFill>
              <a:effectLst>
                <a:glow rad="228600">
                  <a:schemeClr val="accent5">
                    <a:satMod val="175000"/>
                    <a:alpha val="40000"/>
                  </a:schemeClr>
                </a:glow>
              </a:effectLst>
            </a:endParaRPr>
          </a:p>
          <a:p>
            <a:endParaRPr lang="en-US" sz="2000" dirty="0" smtClean="0">
              <a:solidFill>
                <a:schemeClr val="bg2"/>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2"/>
                </a:solidFill>
                <a:effectLst>
                  <a:glow rad="228600">
                    <a:schemeClr val="accent5">
                      <a:satMod val="175000"/>
                      <a:alpha val="40000"/>
                    </a:schemeClr>
                  </a:glow>
                </a:effectLst>
              </a:rPr>
              <a:t>Student users can Access Student’s(only his/her)own Data (View Student’s Personal Information View Student’s Academic Information),Give Feed Back, can go through Contact US Form after logging in as Student.</a:t>
            </a:r>
            <a:endParaRPr lang="en-US" sz="2000" dirty="0" smtClean="0">
              <a:solidFill>
                <a:schemeClr val="bg2"/>
              </a:solidFill>
              <a:effectLst>
                <a:glow rad="228600">
                  <a:schemeClr val="accent5">
                    <a:satMod val="175000"/>
                    <a:alpha val="40000"/>
                  </a:schemeClr>
                </a:glow>
              </a:effectLst>
            </a:endParaRPr>
          </a:p>
          <a:p>
            <a:endParaRPr lang="en-US" sz="2000" dirty="0" smtClean="0">
              <a:solidFill>
                <a:schemeClr val="bg2"/>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2"/>
                </a:solidFill>
                <a:effectLst>
                  <a:glow rad="228600">
                    <a:schemeClr val="accent5">
                      <a:satMod val="175000"/>
                      <a:alpha val="40000"/>
                    </a:schemeClr>
                  </a:glow>
                </a:effectLst>
              </a:rPr>
              <a:t>Guest users can Apply for Admission, Give Feed Back about the college, use Contact US form for interacting with College / Admin, View Home Page, View About US Forms.</a:t>
            </a:r>
            <a:endParaRPr lang="en-US" sz="2000" dirty="0">
              <a:solidFill>
                <a:schemeClr val="bg2"/>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2486805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809720" y="357167"/>
            <a:ext cx="8572560" cy="861774"/>
          </a:xfrm>
          <a:prstGeom prst="rect">
            <a:avLst/>
          </a:prstGeom>
          <a:noFill/>
        </p:spPr>
        <p:txBody>
          <a:bodyPr wrap="square" rtlCol="0">
            <a:spAutoFit/>
          </a:bodyPr>
          <a:lstStyle/>
          <a:p>
            <a:pPr algn="ctr"/>
            <a:r>
              <a:rPr lang="en-US" sz="2800" b="1" u="sng" dirty="0">
                <a:solidFill>
                  <a:schemeClr val="bg1"/>
                </a:solidFill>
                <a:effectLst>
                  <a:glow rad="228600">
                    <a:schemeClr val="accent5">
                      <a:satMod val="175000"/>
                      <a:alpha val="40000"/>
                    </a:schemeClr>
                  </a:glow>
                </a:effectLst>
              </a:rPr>
              <a:t>An Existing System</a:t>
            </a:r>
            <a:endParaRPr lang="en-US" sz="2200" dirty="0">
              <a:solidFill>
                <a:schemeClr val="bg1"/>
              </a:solidFill>
              <a:effectLst>
                <a:glow rad="228600">
                  <a:schemeClr val="accent5">
                    <a:satMod val="175000"/>
                    <a:alpha val="40000"/>
                  </a:schemeClr>
                </a:glow>
              </a:effectLst>
            </a:endParaRPr>
          </a:p>
          <a:p>
            <a:endParaRPr lang="en-US" sz="2200" dirty="0">
              <a:solidFill>
                <a:schemeClr val="bg1"/>
              </a:solidFill>
              <a:effectLst>
                <a:glow rad="228600">
                  <a:schemeClr val="accent5">
                    <a:satMod val="175000"/>
                    <a:alpha val="40000"/>
                  </a:schemeClr>
                </a:glow>
              </a:effectLst>
            </a:endParaRPr>
          </a:p>
        </p:txBody>
      </p:sp>
      <p:sp>
        <p:nvSpPr>
          <p:cNvPr id="2" name="Rectangle 1"/>
          <p:cNvSpPr/>
          <p:nvPr/>
        </p:nvSpPr>
        <p:spPr>
          <a:xfrm>
            <a:off x="235131" y="1312267"/>
            <a:ext cx="11234058" cy="3609001"/>
          </a:xfrm>
          <a:prstGeom prst="rect">
            <a:avLst/>
          </a:prstGeom>
        </p:spPr>
        <p:txBody>
          <a:bodyPr wrap="square">
            <a:spAutoFit/>
          </a:bodyPr>
          <a:lstStyle/>
          <a:p>
            <a:pPr marL="342900" lvl="0" indent="-342900" algn="just">
              <a:lnSpc>
                <a:spcPct val="115000"/>
              </a:lnSpc>
              <a:spcAft>
                <a:spcPts val="0"/>
              </a:spcAft>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In the existing system all the works are done manually. Students have to fill up admission form on paper and all the records are maintained on paper file.</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0"/>
              </a:spcAft>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 </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 Let us take an example initially colleges appoint many employees to maintain the record of the student, teachers, other staff, employees' salaries, and student's fees.</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0"/>
              </a:spcAft>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 </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15000"/>
              </a:lnSpc>
              <a:buSzPts val="1150"/>
              <a:buFont typeface="Wingdings" panose="05000000000000000000" pitchFamily="2" charset="2"/>
              <a:buChar char="ü"/>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It was limited to a single system. </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15000"/>
              </a:lnSpc>
              <a:buSzPts val="1150"/>
              <a:buFont typeface="Wingdings" panose="05000000000000000000" pitchFamily="2" charset="2"/>
              <a:buChar char="ü"/>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It was less user-friendly.</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15000"/>
              </a:lnSpc>
              <a:buSzPts val="1150"/>
              <a:buFont typeface="Wingdings" panose="05000000000000000000" pitchFamily="2" charset="2"/>
              <a:buChar char="ü"/>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 It requires more no of employees need to work. </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gn="just">
              <a:lnSpc>
                <a:spcPct val="115000"/>
              </a:lnSpc>
              <a:spcAft>
                <a:spcPts val="1000"/>
              </a:spcAft>
              <a:buSzPts val="1150"/>
              <a:buFont typeface="Wingdings" panose="05000000000000000000" pitchFamily="2" charset="2"/>
              <a:buChar char="ü"/>
            </a:pPr>
            <a:r>
              <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It was time consuming process.</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229321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5760" y="500043"/>
            <a:ext cx="11678194" cy="4308872"/>
          </a:xfrm>
          <a:prstGeom prst="rect">
            <a:avLst/>
          </a:prstGeom>
          <a:noFill/>
        </p:spPr>
        <p:txBody>
          <a:bodyPr wrap="square" rtlCol="0">
            <a:spAutoFit/>
          </a:bodyPr>
          <a:lstStyle/>
          <a:p>
            <a:pPr algn="ctr"/>
            <a:r>
              <a:rPr lang="en-US" sz="2800" b="1" u="sng" dirty="0">
                <a:solidFill>
                  <a:schemeClr val="bg1"/>
                </a:solidFill>
                <a:effectLst>
                  <a:glow rad="228600">
                    <a:schemeClr val="accent5">
                      <a:satMod val="175000"/>
                      <a:alpha val="40000"/>
                    </a:schemeClr>
                  </a:glow>
                </a:effectLst>
              </a:rPr>
              <a:t>Need Of Proposed System</a:t>
            </a:r>
            <a:endParaRPr lang="en-US" sz="2800" dirty="0">
              <a:solidFill>
                <a:schemeClr val="bg1"/>
              </a:solidFill>
              <a:effectLst>
                <a:glow rad="228600">
                  <a:schemeClr val="accent5">
                    <a:satMod val="175000"/>
                    <a:alpha val="40000"/>
                  </a:schemeClr>
                </a:glow>
              </a:effectLst>
            </a:endParaRPr>
          </a:p>
          <a:p>
            <a:pPr algn="just"/>
            <a:r>
              <a:rPr lang="en-US" sz="2400" dirty="0">
                <a:solidFill>
                  <a:schemeClr val="bg1"/>
                </a:solidFill>
                <a:effectLst>
                  <a:glow rad="228600">
                    <a:schemeClr val="accent5">
                      <a:satMod val="175000"/>
                      <a:alpha val="40000"/>
                    </a:schemeClr>
                  </a:glow>
                </a:effectLst>
              </a:rPr>
              <a:t> </a:t>
            </a:r>
          </a:p>
          <a:p>
            <a:pPr algn="just"/>
            <a:endParaRPr lang="en-US" sz="2400" dirty="0">
              <a:solidFill>
                <a:schemeClr val="bg1"/>
              </a:solidFill>
              <a:effectLst>
                <a:glow rad="228600">
                  <a:schemeClr val="accent5">
                    <a:satMod val="175000"/>
                    <a:alpha val="40000"/>
                  </a:schemeClr>
                </a:glow>
              </a:effectLst>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This is a web-related application that permits us to approach entire knowledge regarding the college, employees, students, faculties etc.</a:t>
            </a:r>
            <a:r>
              <a:rPr lang="en-IN"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r>
              <a:rPr lang="en-IN"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This application is also called as College management system. It offers an actual trip of the college campus.</a:t>
            </a:r>
            <a:r>
              <a:rPr lang="en-IN"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In order to solve these problems, a new system has been created, that attempts to operate the whole procedure considering the database integration approach.</a:t>
            </a:r>
          </a:p>
          <a:p>
            <a:r>
              <a:rPr lang="en-US" sz="2000" dirty="0">
                <a:solidFill>
                  <a:schemeClr val="bg1"/>
                </a:solidFill>
                <a:effectLst>
                  <a:glow rad="228600">
                    <a:schemeClr val="accent5">
                      <a:satMod val="175000"/>
                      <a:alpha val="40000"/>
                    </a:schemeClr>
                  </a:glow>
                </a:effectLst>
              </a:rPr>
              <a:t> </a:t>
            </a:r>
          </a:p>
          <a:p>
            <a:endParaRPr lang="en-US"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279376567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724644"/>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Feasibility Study</a:t>
            </a:r>
            <a:r>
              <a:rPr lang="en-US" sz="2400" dirty="0">
                <a:solidFill>
                  <a:schemeClr val="bg1"/>
                </a:solidFill>
                <a:effectLst>
                  <a:glow rad="228600">
                    <a:schemeClr val="accent5">
                      <a:satMod val="175000"/>
                      <a:alpha val="40000"/>
                    </a:schemeClr>
                  </a:glow>
                </a:effectLst>
              </a:rPr>
              <a:t> </a:t>
            </a:r>
          </a:p>
          <a:p>
            <a:pPr algn="ctr"/>
            <a:endParaRPr lang="en-US" sz="2400" dirty="0">
              <a:solidFill>
                <a:schemeClr val="bg1"/>
              </a:solidFill>
              <a:effectLst>
                <a:glow rad="228600">
                  <a:schemeClr val="accent5">
                    <a:satMod val="175000"/>
                    <a:alpha val="40000"/>
                  </a:schemeClr>
                </a:glow>
              </a:effectLst>
            </a:endParaRPr>
          </a:p>
          <a:p>
            <a:pPr>
              <a:buFont typeface="Wingdings" pitchFamily="2" charset="2"/>
              <a:buChar char="Ø"/>
            </a:pPr>
            <a:r>
              <a:rPr lang="en-IN" sz="2800" dirty="0">
                <a:solidFill>
                  <a:schemeClr val="bg1"/>
                </a:solidFill>
                <a:effectLst>
                  <a:glow rad="228600">
                    <a:schemeClr val="accent5">
                      <a:satMod val="175000"/>
                      <a:alpha val="40000"/>
                    </a:schemeClr>
                  </a:glow>
                </a:effectLst>
              </a:rPr>
              <a:t> </a:t>
            </a:r>
            <a:r>
              <a:rPr lang="en-IN" sz="2200" dirty="0">
                <a:solidFill>
                  <a:schemeClr val="bg1"/>
                </a:solidFill>
                <a:effectLst>
                  <a:glow rad="228600">
                    <a:schemeClr val="accent5">
                      <a:satMod val="175000"/>
                      <a:alpha val="40000"/>
                    </a:schemeClr>
                  </a:glow>
                </a:effectLst>
              </a:rPr>
              <a:t>Types Of Feasibility Study :</a:t>
            </a:r>
          </a:p>
          <a:p>
            <a:pPr>
              <a:buNone/>
            </a:pPr>
            <a:endParaRPr lang="en-IN" sz="2800" u="sng" dirty="0">
              <a:solidFill>
                <a:schemeClr val="bg1"/>
              </a:solidFill>
              <a:effectLst>
                <a:glow rad="228600">
                  <a:schemeClr val="accent5">
                    <a:satMod val="175000"/>
                    <a:alpha val="40000"/>
                  </a:schemeClr>
                </a:glow>
              </a:effectLst>
            </a:endParaRPr>
          </a:p>
          <a:p>
            <a:pPr marL="1257300" lvl="2"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rPr>
              <a:t>Operational feasibility</a:t>
            </a:r>
          </a:p>
          <a:p>
            <a:pPr lvl="2"/>
            <a:endParaRPr lang="en-IN" sz="2000" dirty="0">
              <a:solidFill>
                <a:schemeClr val="bg1"/>
              </a:solidFill>
              <a:effectLst>
                <a:glow rad="228600">
                  <a:schemeClr val="accent5">
                    <a:satMod val="175000"/>
                    <a:alpha val="40000"/>
                  </a:schemeClr>
                </a:glow>
              </a:effectLst>
            </a:endParaRPr>
          </a:p>
          <a:p>
            <a:pPr marL="1257300" lvl="2"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rPr>
              <a:t>Technical Feasibility</a:t>
            </a:r>
          </a:p>
          <a:p>
            <a:pPr lvl="2"/>
            <a:endParaRPr lang="en-IN" sz="2000" dirty="0">
              <a:solidFill>
                <a:schemeClr val="bg1"/>
              </a:solidFill>
              <a:effectLst>
                <a:glow rad="228600">
                  <a:schemeClr val="accent5">
                    <a:satMod val="175000"/>
                    <a:alpha val="40000"/>
                  </a:schemeClr>
                </a:glow>
              </a:effectLst>
            </a:endParaRPr>
          </a:p>
          <a:p>
            <a:pPr marL="1257300" lvl="2"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rPr>
              <a:t>Legal/Ethical Feasibility Study</a:t>
            </a:r>
          </a:p>
          <a:p>
            <a:pPr lvl="2"/>
            <a:endParaRPr lang="en-IN" sz="2000" dirty="0">
              <a:solidFill>
                <a:schemeClr val="bg1"/>
              </a:solidFill>
              <a:effectLst>
                <a:glow rad="228600">
                  <a:schemeClr val="accent5">
                    <a:satMod val="175000"/>
                    <a:alpha val="40000"/>
                  </a:schemeClr>
                </a:glow>
              </a:effectLst>
            </a:endParaRPr>
          </a:p>
          <a:p>
            <a:pPr marL="1257300" lvl="2"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rPr>
              <a:t>Schedule Feasibility Study</a:t>
            </a:r>
          </a:p>
          <a:p>
            <a:pPr lvl="2"/>
            <a:endParaRPr lang="en-IN" sz="2000" dirty="0">
              <a:solidFill>
                <a:schemeClr val="bg1"/>
              </a:solidFill>
              <a:effectLst>
                <a:glow rad="228600">
                  <a:schemeClr val="accent5">
                    <a:satMod val="175000"/>
                    <a:alpha val="40000"/>
                  </a:schemeClr>
                </a:glow>
              </a:effectLst>
            </a:endParaRPr>
          </a:p>
          <a:p>
            <a:pPr marL="1257300" lvl="2"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rPr>
              <a:t>Resource Feasibility Study</a:t>
            </a:r>
          </a:p>
          <a:p>
            <a:pPr lvl="2"/>
            <a:endParaRPr lang="en-IN" sz="2000" dirty="0">
              <a:solidFill>
                <a:schemeClr val="bg1"/>
              </a:solidFill>
              <a:effectLst>
                <a:glow rad="228600">
                  <a:schemeClr val="accent5">
                    <a:satMod val="175000"/>
                    <a:alpha val="40000"/>
                  </a:schemeClr>
                </a:glow>
              </a:effectLst>
            </a:endParaRPr>
          </a:p>
          <a:p>
            <a:pPr marL="1257300" lvl="2"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rPr>
              <a:t>Cultural Feasibility Study</a:t>
            </a:r>
          </a:p>
          <a:p>
            <a:r>
              <a:rPr lang="en-US" sz="2000" dirty="0">
                <a:solidFill>
                  <a:schemeClr val="bg1"/>
                </a:solidFill>
                <a:effectLst>
                  <a:glow rad="228600">
                    <a:schemeClr val="accent5">
                      <a:satMod val="175000"/>
                      <a:alpha val="40000"/>
                    </a:schemeClr>
                  </a:glow>
                </a:effectLst>
              </a:rPr>
              <a:t> </a:t>
            </a:r>
          </a:p>
          <a:p>
            <a:endParaRPr lang="en-US"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4973579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2880" y="500042"/>
            <a:ext cx="11408898" cy="6771084"/>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Feasibility Study</a:t>
            </a:r>
            <a:r>
              <a:rPr lang="en-US" sz="2400" dirty="0">
                <a:solidFill>
                  <a:schemeClr val="bg1"/>
                </a:solidFill>
                <a:effectLst>
                  <a:glow rad="228600">
                    <a:schemeClr val="accent5">
                      <a:satMod val="175000"/>
                      <a:alpha val="40000"/>
                    </a:schemeClr>
                  </a:glow>
                </a:effectLst>
              </a:rPr>
              <a:t> </a:t>
            </a:r>
          </a:p>
          <a:p>
            <a:pPr algn="ctr"/>
            <a:endParaRPr lang="en-US" sz="2400" dirty="0">
              <a:solidFill>
                <a:schemeClr val="bg1"/>
              </a:solidFill>
              <a:effectLst>
                <a:glow rad="228600">
                  <a:schemeClr val="accent5">
                    <a:satMod val="175000"/>
                    <a:alpha val="40000"/>
                  </a:schemeClr>
                </a:glow>
              </a:effectLst>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Operational Feasibility Study:</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The current system is manual. Thus processing large amount of data becomes a cumbersome activity.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Reports that are generated are difficult to prepare manually and are also error prone. Operationally the Proposed system is feasibility because there are sufficient supports for project from management.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It will be running smoother and faster that of existing system. </a:t>
            </a:r>
          </a:p>
          <a:p>
            <a:pPr lvl="0"/>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Technical Feasibility Study:</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Generally, new system brings new technology into an organization.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The proposed system requires technology and equipment, which can be obtained.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the operating system has the technical capacity to hold the data required to use the proposed system.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The present equipment technology assures technical guarantee of accuracy, reliability and ease of access.</a:t>
            </a:r>
          </a:p>
          <a:p>
            <a:pPr lvl="1" algn="ctr"/>
            <a:endParaRPr lang="en-US" sz="2400" dirty="0">
              <a:solidFill>
                <a:schemeClr val="bg1"/>
              </a:solidFill>
              <a:effectLst>
                <a:glow rad="228600">
                  <a:schemeClr val="accent5">
                    <a:satMod val="175000"/>
                    <a:alpha val="40000"/>
                  </a:schemeClr>
                </a:glow>
              </a:effectLst>
            </a:endParaRPr>
          </a:p>
          <a:p>
            <a:endParaRPr lang="en-US"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94014698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2880" y="500042"/>
            <a:ext cx="11408898" cy="5478423"/>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Feasibility Study</a:t>
            </a:r>
            <a:r>
              <a:rPr lang="en-US" sz="2400" dirty="0">
                <a:solidFill>
                  <a:schemeClr val="bg1"/>
                </a:solidFill>
                <a:effectLst>
                  <a:glow rad="228600">
                    <a:schemeClr val="accent5">
                      <a:satMod val="175000"/>
                      <a:alpha val="40000"/>
                    </a:schemeClr>
                  </a:glow>
                </a:effectLst>
              </a:rPr>
              <a:t> </a:t>
            </a:r>
          </a:p>
          <a:p>
            <a:pPr algn="ctr"/>
            <a:endParaRPr lang="en-US" sz="2400" dirty="0">
              <a:solidFill>
                <a:schemeClr val="bg1"/>
              </a:solidFill>
              <a:effectLst>
                <a:glow rad="228600">
                  <a:schemeClr val="accent5">
                    <a:satMod val="175000"/>
                    <a:alpha val="40000"/>
                  </a:schemeClr>
                </a:glow>
              </a:effectLst>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Legal/Ethical Feasibility Study:</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Determines whether the proposed system conflicts with legal requirements. </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Schedule Feasibility Study:</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 project will fail if it takes too long to be completed before it is useful.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Typically, this means estimating how long the system will take to develop, and if it can be completed in given time period using some methods like payback period.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Schedule feasibility is a measure of how reasonable the project timetable is.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Given our technical expertise, are the project deadlines reasonable? Some projects are initiated with specific deadlines.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You need to determine whether the deadlines are mandatory or desirable. </a:t>
            </a:r>
          </a:p>
          <a:p>
            <a:pPr lvl="1" algn="ctr"/>
            <a:endParaRPr lang="en-US"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endParaRPr lang="en-US"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2042998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2880" y="500042"/>
            <a:ext cx="11408898" cy="5170646"/>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Feasibility Study</a:t>
            </a:r>
            <a:r>
              <a:rPr lang="en-US" sz="2400" dirty="0">
                <a:solidFill>
                  <a:schemeClr val="bg1"/>
                </a:solidFill>
                <a:effectLst>
                  <a:glow rad="228600">
                    <a:schemeClr val="accent5">
                      <a:satMod val="175000"/>
                      <a:alpha val="40000"/>
                    </a:schemeClr>
                  </a:glow>
                </a:effectLst>
              </a:rPr>
              <a:t> </a:t>
            </a:r>
          </a:p>
          <a:p>
            <a:pPr algn="ctr"/>
            <a:endParaRPr lang="en-US" sz="2400" dirty="0">
              <a:solidFill>
                <a:schemeClr val="bg1"/>
              </a:solidFill>
              <a:effectLst>
                <a:glow rad="228600">
                  <a:schemeClr val="accent5">
                    <a:satMod val="175000"/>
                    <a:alpha val="40000"/>
                  </a:schemeClr>
                </a:glow>
              </a:effectLst>
            </a:endParaRP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Resource Feasibility Study:</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This involves questions such as how much time is available to build the new system, when it can be built, whether it interferes with normal business operations, type and amount of resources required, dependencies.</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342900" lvl="0" indent="-342900">
              <a:buFont typeface="Wingdings" panose="05000000000000000000" pitchFamily="2" charset="2"/>
              <a:buChar char="Ø"/>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Cultural Feasibility Study:</a:t>
            </a:r>
          </a:p>
          <a:p>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In this stage, the project's alternatives are evaluated for their impact on the local and generated culture. </a:t>
            </a:r>
          </a:p>
          <a:p>
            <a:pPr marL="800100" lvl="1" indent="-342900">
              <a:buFont typeface="Wingdings" panose="05000000000000000000" pitchFamily="2" charset="2"/>
              <a:buChar char="§"/>
            </a:pPr>
            <a:r>
              <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For example, environmental factors need to be considered and these factors are to be well known. Further an enterprise's own culture can clash with the results of the project. </a:t>
            </a:r>
          </a:p>
          <a:p>
            <a:pPr marL="1257300" lvl="2" indent="-342900" algn="ctr">
              <a:buFont typeface="Wingdings" panose="05000000000000000000" pitchFamily="2" charset="2"/>
              <a:buChar char="§"/>
            </a:pPr>
            <a:endParaRPr lang="en-US"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a:p>
            <a:endParaRPr lang="en-US"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12193840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1107996"/>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System Features</a:t>
            </a:r>
            <a:endParaRPr lang="en-US" sz="2800" b="1" u="sng" dirty="0">
              <a:solidFill>
                <a:schemeClr val="bg1"/>
              </a:solidFill>
              <a:effectLst>
                <a:glow rad="228600">
                  <a:schemeClr val="accent5">
                    <a:satMod val="175000"/>
                    <a:alpha val="40000"/>
                  </a:schemeClr>
                </a:glow>
              </a:effectLst>
            </a:endParaRPr>
          </a:p>
          <a:p>
            <a:r>
              <a:rPr lang="en-US" sz="2000" dirty="0">
                <a:solidFill>
                  <a:schemeClr val="bg1"/>
                </a:solidFill>
                <a:effectLst>
                  <a:glow rad="228600">
                    <a:schemeClr val="accent5">
                      <a:satMod val="175000"/>
                      <a:alpha val="40000"/>
                    </a:schemeClr>
                  </a:glow>
                </a:effectLst>
              </a:rPr>
              <a:t> </a:t>
            </a:r>
          </a:p>
          <a:p>
            <a:endParaRPr lang="en-US" dirty="0">
              <a:solidFill>
                <a:schemeClr val="bg1"/>
              </a:solidFill>
              <a:effectLst>
                <a:glow rad="228600">
                  <a:schemeClr val="accent5">
                    <a:satMod val="175000"/>
                    <a:alpha val="40000"/>
                  </a:schemeClr>
                </a:glow>
              </a:effectLst>
            </a:endParaRPr>
          </a:p>
        </p:txBody>
      </p:sp>
      <p:sp>
        <p:nvSpPr>
          <p:cNvPr id="4" name="Rectangle 3"/>
          <p:cNvSpPr/>
          <p:nvPr/>
        </p:nvSpPr>
        <p:spPr>
          <a:xfrm>
            <a:off x="287382" y="1196573"/>
            <a:ext cx="11469189" cy="5632311"/>
          </a:xfrm>
          <a:prstGeom prst="rect">
            <a:avLst/>
          </a:prstGeom>
        </p:spPr>
        <p:txBody>
          <a:bodyPr wrap="square">
            <a:spAutoFit/>
          </a:bodyPr>
          <a:lstStyle/>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This College Management System is a must-have for every educational institute that wants to scale higher heights and want to be well known for academic excellence.</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But with the inception of college ERP software, these have been greatly reduced and it has made provision for better academic performance with its mind-blowing features.</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Student Admission Management.</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Student Authentication.</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Student Data </a:t>
            </a:r>
            <a:r>
              <a:rPr lang="en-IN" dirty="0" err="1" smtClean="0">
                <a:solidFill>
                  <a:schemeClr val="bg2"/>
                </a:solidFill>
                <a:effectLst>
                  <a:glow rad="228600">
                    <a:schemeClr val="accent5">
                      <a:satMod val="175000"/>
                      <a:alpha val="40000"/>
                    </a:schemeClr>
                  </a:glow>
                </a:effectLst>
                <a:latin typeface="Arial" pitchFamily="34" charset="0"/>
                <a:cs typeface="Arial" pitchFamily="34" charset="0"/>
              </a:rPr>
              <a:t>Updation</a:t>
            </a:r>
            <a:r>
              <a:rPr lang="en-IN" dirty="0" smtClean="0">
                <a:solidFill>
                  <a:schemeClr val="bg2"/>
                </a:solidFill>
                <a:effectLst>
                  <a:glow rad="228600">
                    <a:schemeClr val="accent5">
                      <a:satMod val="175000"/>
                      <a:alpha val="40000"/>
                    </a:schemeClr>
                  </a:glow>
                </a:effectLst>
                <a:latin typeface="Arial" pitchFamily="34" charset="0"/>
                <a:cs typeface="Arial" pitchFamily="34" charset="0"/>
              </a:rPr>
              <a:t>.</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Student Data Deletion.</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Student Feedbacks Management.</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Student Contact US Management.</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Guest Feedbacks Management.</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Guest Contact US Management.</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Guests can Apply for Admission in the college.</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Guests can Give Feedbacks.</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Guests can interact with College / Admin using Contact US forms.</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Admin can View Current and Removed students’ Details.</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lvl="0">
              <a:buFont typeface="Wingdings" pitchFamily="2" charset="2"/>
              <a:buChar char="Ø"/>
            </a:pPr>
            <a:r>
              <a:rPr lang="en-IN" dirty="0" smtClean="0">
                <a:solidFill>
                  <a:schemeClr val="bg2"/>
                </a:solidFill>
                <a:effectLst>
                  <a:glow rad="228600">
                    <a:schemeClr val="accent5">
                      <a:satMod val="175000"/>
                      <a:alpha val="40000"/>
                    </a:schemeClr>
                  </a:glow>
                </a:effectLst>
                <a:latin typeface="Arial" pitchFamily="34" charset="0"/>
                <a:cs typeface="Arial" pitchFamily="34" charset="0"/>
              </a:rPr>
              <a:t>And so on.</a:t>
            </a:r>
            <a:endParaRPr lang="en-US" dirty="0" smtClean="0">
              <a:solidFill>
                <a:schemeClr val="bg2"/>
              </a:solidFill>
              <a:effectLst>
                <a:glow rad="228600">
                  <a:schemeClr val="accent5">
                    <a:satMod val="175000"/>
                    <a:alpha val="40000"/>
                  </a:schemeClr>
                </a:glow>
              </a:effectLst>
              <a:latin typeface="Arial" pitchFamily="34" charset="0"/>
              <a:cs typeface="Arial" pitchFamily="34" charset="0"/>
            </a:endParaRPr>
          </a:p>
          <a:p>
            <a:pPr>
              <a:buFont typeface="Wingdings" pitchFamily="2" charset="2"/>
              <a:buChar char="Ø"/>
            </a:pPr>
            <a:endParaRPr lang="en-US" dirty="0">
              <a:solidFill>
                <a:schemeClr val="bg2"/>
              </a:solidFill>
              <a:effectLst>
                <a:glow rad="228600">
                  <a:schemeClr val="accent5">
                    <a:satMod val="175000"/>
                    <a:alpha val="40000"/>
                  </a:schemeClr>
                </a:glow>
              </a:effectLst>
              <a:latin typeface="Arial" pitchFamily="34" charset="0"/>
              <a:cs typeface="Arial" pitchFamily="34" charset="0"/>
            </a:endParaRPr>
          </a:p>
        </p:txBody>
      </p:sp>
    </p:spTree>
    <p:extLst>
      <p:ext uri="{BB962C8B-B14F-4D97-AF65-F5344CB8AC3E}">
        <p14:creationId xmlns:p14="http://schemas.microsoft.com/office/powerpoint/2010/main" val="3441757793"/>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Hardware &amp; Software Requirements</a:t>
            </a:r>
            <a:endParaRPr lang="en-US" b="1" u="sng" dirty="0">
              <a:solidFill>
                <a:schemeClr val="bg1"/>
              </a:solidFill>
              <a:effectLst>
                <a:glow rad="228600">
                  <a:schemeClr val="accent5">
                    <a:satMod val="175000"/>
                    <a:alpha val="40000"/>
                  </a:schemeClr>
                </a:glow>
              </a:effectLst>
            </a:endParaRPr>
          </a:p>
        </p:txBody>
      </p:sp>
      <p:sp>
        <p:nvSpPr>
          <p:cNvPr id="9" name="Rectangle 8"/>
          <p:cNvSpPr/>
          <p:nvPr/>
        </p:nvSpPr>
        <p:spPr>
          <a:xfrm>
            <a:off x="1435359" y="1924985"/>
            <a:ext cx="3102131" cy="369332"/>
          </a:xfrm>
          <a:prstGeom prst="rect">
            <a:avLst/>
          </a:prstGeom>
        </p:spPr>
        <p:txBody>
          <a:bodyPr wrap="none">
            <a:spAutoFit/>
          </a:bodyPr>
          <a:lstStyle/>
          <a:p>
            <a:pPr marL="285750" indent="-285750">
              <a:buFont typeface="Wingdings" panose="05000000000000000000" pitchFamily="2" charset="2"/>
              <a:buChar char="Ø"/>
            </a:pPr>
            <a:r>
              <a:rPr lang="en-IN"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rPr>
              <a:t>Hardware Requirements :</a:t>
            </a:r>
            <a:endParaRPr lang="en-IN" dirty="0">
              <a:solidFill>
                <a:schemeClr val="bg1"/>
              </a:solidFill>
              <a:effectLst>
                <a:glow rad="228600">
                  <a:schemeClr val="accent5">
                    <a:satMod val="175000"/>
                    <a:alpha val="40000"/>
                  </a:schemeClr>
                </a:glow>
              </a:effectLst>
            </a:endParaRPr>
          </a:p>
        </p:txBody>
      </p:sp>
      <p:graphicFrame>
        <p:nvGraphicFramePr>
          <p:cNvPr id="10" name="Table 9"/>
          <p:cNvGraphicFramePr>
            <a:graphicFrameLocks noGrp="1"/>
          </p:cNvGraphicFramePr>
          <p:nvPr>
            <p:extLst/>
          </p:nvPr>
        </p:nvGraphicFramePr>
        <p:xfrm>
          <a:off x="2904239" y="2659394"/>
          <a:ext cx="6026332" cy="3148825"/>
        </p:xfrm>
        <a:graphic>
          <a:graphicData uri="http://schemas.openxmlformats.org/drawingml/2006/table">
            <a:tbl>
              <a:tblPr firstRow="1" firstCol="1" bandRow="1">
                <a:tableStyleId>{5C22544A-7EE6-4342-B048-85BDC9FD1C3A}</a:tableStyleId>
              </a:tblPr>
              <a:tblGrid>
                <a:gridCol w="2969623">
                  <a:extLst>
                    <a:ext uri="{9D8B030D-6E8A-4147-A177-3AD203B41FA5}">
                      <a16:colId xmlns:a16="http://schemas.microsoft.com/office/drawing/2014/main" val="1207417747"/>
                    </a:ext>
                  </a:extLst>
                </a:gridCol>
                <a:gridCol w="3056709">
                  <a:extLst>
                    <a:ext uri="{9D8B030D-6E8A-4147-A177-3AD203B41FA5}">
                      <a16:colId xmlns:a16="http://schemas.microsoft.com/office/drawing/2014/main" val="4175038583"/>
                    </a:ext>
                  </a:extLst>
                </a:gridCol>
              </a:tblGrid>
              <a:tr h="612233">
                <a:tc>
                  <a:txBody>
                    <a:bodyPr/>
                    <a:lstStyle/>
                    <a:p>
                      <a:pPr marL="22860" algn="ctr">
                        <a:lnSpc>
                          <a:spcPct val="107000"/>
                        </a:lnSpc>
                        <a:spcAft>
                          <a:spcPts val="0"/>
                        </a:spcAft>
                      </a:pPr>
                      <a:r>
                        <a:rPr lang="en-IN" sz="2000" dirty="0">
                          <a:effectLst/>
                        </a:rPr>
                        <a:t>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22225" marT="41275" marB="0"/>
                </a:tc>
                <a:tc>
                  <a:txBody>
                    <a:bodyPr/>
                    <a:lstStyle/>
                    <a:p>
                      <a:pPr marL="24130" algn="ctr">
                        <a:lnSpc>
                          <a:spcPct val="107000"/>
                        </a:lnSpc>
                        <a:spcAft>
                          <a:spcPts val="0"/>
                        </a:spcAft>
                      </a:pPr>
                      <a:r>
                        <a:rPr lang="en-IN" sz="2000" dirty="0">
                          <a:effectLst/>
                        </a:rPr>
                        <a:t>Minimum Values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22225" marT="41275" marB="0"/>
                </a:tc>
                <a:extLst>
                  <a:ext uri="{0D108BD9-81ED-4DB2-BD59-A6C34878D82A}">
                    <a16:rowId xmlns:a16="http://schemas.microsoft.com/office/drawing/2014/main" val="3515428182"/>
                  </a:ext>
                </a:extLst>
              </a:tr>
              <a:tr h="615406">
                <a:tc>
                  <a:txBody>
                    <a:bodyPr/>
                    <a:lstStyle/>
                    <a:p>
                      <a:pPr marL="25400" algn="ctr">
                        <a:lnSpc>
                          <a:spcPct val="107000"/>
                        </a:lnSpc>
                        <a:spcAft>
                          <a:spcPts val="0"/>
                        </a:spcAft>
                      </a:pPr>
                      <a:r>
                        <a:rPr lang="en-IN" sz="2000" b="0" dirty="0">
                          <a:solidFill>
                            <a:schemeClr val="accent1">
                              <a:lumMod val="75000"/>
                            </a:schemeClr>
                          </a:solidFill>
                          <a:effectLst/>
                          <a:latin typeface="+mn-lt"/>
                          <a:ea typeface="Times New Roman" panose="02020603050405020304" pitchFamily="18" charset="0"/>
                          <a:cs typeface="Times New Roman" panose="02020603050405020304" pitchFamily="18" charset="0"/>
                        </a:rPr>
                        <a:t>Processor</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solidFill>
                      <a:srgbClr val="D2DEEF"/>
                    </a:solidFill>
                  </a:tcPr>
                </a:tc>
                <a:tc>
                  <a:txBody>
                    <a:bodyPr/>
                    <a:lstStyle/>
                    <a:p>
                      <a:pPr marL="24130" algn="ctr">
                        <a:lnSpc>
                          <a:spcPct val="107000"/>
                        </a:lnSpc>
                        <a:spcAft>
                          <a:spcPts val="0"/>
                        </a:spcAft>
                      </a:pPr>
                      <a:r>
                        <a:rPr lang="en-IN" sz="2000" b="0" dirty="0">
                          <a:solidFill>
                            <a:schemeClr val="accent1">
                              <a:lumMod val="75000"/>
                            </a:schemeClr>
                          </a:solidFill>
                          <a:effectLst/>
                          <a:latin typeface="+mn-lt"/>
                          <a:ea typeface="Times New Roman" panose="02020603050405020304" pitchFamily="18" charset="0"/>
                          <a:cs typeface="Times New Roman" panose="02020603050405020304" pitchFamily="18" charset="0"/>
                        </a:rPr>
                        <a:t>Intel(R) Core(TM) i5-6400 or Higher</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tc>
                <a:extLst>
                  <a:ext uri="{0D108BD9-81ED-4DB2-BD59-A6C34878D82A}">
                    <a16:rowId xmlns:a16="http://schemas.microsoft.com/office/drawing/2014/main" val="2597228602"/>
                  </a:ext>
                </a:extLst>
              </a:tr>
              <a:tr h="612233">
                <a:tc>
                  <a:txBody>
                    <a:bodyPr/>
                    <a:lstStyle/>
                    <a:p>
                      <a:pPr marL="25400" algn="ctr">
                        <a:lnSpc>
                          <a:spcPct val="107000"/>
                        </a:lnSpc>
                        <a:spcAft>
                          <a:spcPts val="0"/>
                        </a:spcAft>
                      </a:pPr>
                      <a:r>
                        <a:rPr lang="en-IN" sz="2000" b="0" dirty="0">
                          <a:solidFill>
                            <a:schemeClr val="accent1">
                              <a:lumMod val="75000"/>
                            </a:schemeClr>
                          </a:solidFill>
                          <a:effectLst/>
                          <a:latin typeface="+mn-lt"/>
                          <a:ea typeface="Times New Roman" panose="02020603050405020304" pitchFamily="18" charset="0"/>
                          <a:cs typeface="Times New Roman" panose="02020603050405020304" pitchFamily="18" charset="0"/>
                        </a:rPr>
                        <a:t>CPU </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solidFill>
                      <a:srgbClr val="EAEFF7"/>
                    </a:solidFill>
                  </a:tcPr>
                </a:tc>
                <a:tc>
                  <a:txBody>
                    <a:bodyPr/>
                    <a:lstStyle/>
                    <a:p>
                      <a:pPr marL="24130" algn="ctr">
                        <a:lnSpc>
                          <a:spcPct val="107000"/>
                        </a:lnSpc>
                        <a:spcAft>
                          <a:spcPts val="0"/>
                        </a:spcAft>
                      </a:pPr>
                      <a:r>
                        <a:rPr lang="en-IN" sz="2000" b="0" dirty="0">
                          <a:solidFill>
                            <a:schemeClr val="accent1">
                              <a:lumMod val="75000"/>
                            </a:schemeClr>
                          </a:solidFill>
                          <a:effectLst/>
                          <a:latin typeface="+mn-lt"/>
                          <a:ea typeface="Times New Roman" panose="02020603050405020304" pitchFamily="18" charset="0"/>
                          <a:cs typeface="Times New Roman" panose="02020603050405020304" pitchFamily="18" charset="0"/>
                        </a:rPr>
                        <a:t>2.70 GHz or Higher</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solidFill>
                      <a:srgbClr val="EAEFF7"/>
                    </a:solidFill>
                  </a:tcPr>
                </a:tc>
                <a:extLst>
                  <a:ext uri="{0D108BD9-81ED-4DB2-BD59-A6C34878D82A}">
                    <a16:rowId xmlns:a16="http://schemas.microsoft.com/office/drawing/2014/main" val="2057472055"/>
                  </a:ext>
                </a:extLst>
              </a:tr>
              <a:tr h="615406">
                <a:tc>
                  <a:txBody>
                    <a:bodyPr/>
                    <a:lstStyle/>
                    <a:p>
                      <a:pPr marL="25400" algn="ctr">
                        <a:lnSpc>
                          <a:spcPct val="107000"/>
                        </a:lnSpc>
                        <a:spcAft>
                          <a:spcPts val="0"/>
                        </a:spcAft>
                      </a:pPr>
                      <a:r>
                        <a:rPr lang="en-IN" sz="2000" b="0" dirty="0">
                          <a:solidFill>
                            <a:schemeClr val="accent1">
                              <a:lumMod val="75000"/>
                            </a:schemeClr>
                          </a:solidFill>
                          <a:effectLst/>
                          <a:latin typeface="+mn-lt"/>
                          <a:ea typeface="Times New Roman" panose="02020603050405020304" pitchFamily="18" charset="0"/>
                          <a:cs typeface="Times New Roman" panose="02020603050405020304" pitchFamily="18" charset="0"/>
                        </a:rPr>
                        <a:t>RAM </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solidFill>
                      <a:srgbClr val="D2DEEF"/>
                    </a:solidFill>
                  </a:tcPr>
                </a:tc>
                <a:tc>
                  <a:txBody>
                    <a:bodyPr/>
                    <a:lstStyle/>
                    <a:p>
                      <a:pPr marL="24765" algn="ctr">
                        <a:lnSpc>
                          <a:spcPct val="107000"/>
                        </a:lnSpc>
                        <a:spcAft>
                          <a:spcPts val="0"/>
                        </a:spcAft>
                      </a:pPr>
                      <a:r>
                        <a:rPr lang="en-IN" sz="2000" b="0" dirty="0">
                          <a:solidFill>
                            <a:schemeClr val="accent1">
                              <a:lumMod val="75000"/>
                            </a:schemeClr>
                          </a:solidFill>
                          <a:effectLst/>
                          <a:latin typeface="+mn-lt"/>
                          <a:ea typeface="Times New Roman" panose="02020603050405020304" pitchFamily="18" charset="0"/>
                          <a:cs typeface="Times New Roman" panose="02020603050405020304" pitchFamily="18" charset="0"/>
                        </a:rPr>
                        <a:t>8 GB or More </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tc>
                <a:extLst>
                  <a:ext uri="{0D108BD9-81ED-4DB2-BD59-A6C34878D82A}">
                    <a16:rowId xmlns:a16="http://schemas.microsoft.com/office/drawing/2014/main" val="1486142076"/>
                  </a:ext>
                </a:extLst>
              </a:tr>
              <a:tr h="615406">
                <a:tc>
                  <a:txBody>
                    <a:bodyPr/>
                    <a:lstStyle/>
                    <a:p>
                      <a:pPr marL="25400" algn="ctr">
                        <a:lnSpc>
                          <a:spcPct val="107000"/>
                        </a:lnSpc>
                        <a:spcAft>
                          <a:spcPts val="0"/>
                        </a:spcAft>
                      </a:pPr>
                      <a:r>
                        <a:rPr lang="en-US" sz="2000" b="0" dirty="0">
                          <a:solidFill>
                            <a:schemeClr val="accent1">
                              <a:lumMod val="75000"/>
                            </a:schemeClr>
                          </a:solidFill>
                          <a:effectLst/>
                          <a:latin typeface="+mn-lt"/>
                          <a:ea typeface="Calibri" panose="020F0502020204030204" pitchFamily="34" charset="0"/>
                          <a:cs typeface="Times New Roman" panose="02020603050405020304" pitchFamily="18" charset="0"/>
                        </a:rPr>
                        <a:t>Hard</a:t>
                      </a:r>
                      <a:r>
                        <a:rPr lang="en-US" sz="2000" b="0" baseline="0" dirty="0">
                          <a:solidFill>
                            <a:schemeClr val="accent1">
                              <a:lumMod val="75000"/>
                            </a:schemeClr>
                          </a:solidFill>
                          <a:effectLst/>
                          <a:latin typeface="+mn-lt"/>
                          <a:ea typeface="Calibri" panose="020F0502020204030204" pitchFamily="34" charset="0"/>
                          <a:cs typeface="Times New Roman" panose="02020603050405020304" pitchFamily="18" charset="0"/>
                        </a:rPr>
                        <a:t> Disk</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solidFill>
                      <a:srgbClr val="D2DEEF"/>
                    </a:solidFill>
                  </a:tcPr>
                </a:tc>
                <a:tc>
                  <a:txBody>
                    <a:bodyPr/>
                    <a:lstStyle/>
                    <a:p>
                      <a:pPr marL="24765" algn="ctr">
                        <a:lnSpc>
                          <a:spcPct val="107000"/>
                        </a:lnSpc>
                        <a:spcAft>
                          <a:spcPts val="0"/>
                        </a:spcAft>
                      </a:pPr>
                      <a:r>
                        <a:rPr lang="en-IN" sz="2000" b="0" kern="1200" dirty="0">
                          <a:solidFill>
                            <a:schemeClr val="accent1">
                              <a:lumMod val="75000"/>
                            </a:schemeClr>
                          </a:solidFill>
                          <a:effectLst/>
                          <a:latin typeface="+mn-lt"/>
                          <a:ea typeface="+mn-ea"/>
                          <a:cs typeface="+mn-cs"/>
                        </a:rPr>
                        <a:t>256 GB or More</a:t>
                      </a:r>
                      <a:endParaRPr lang="en-IN" sz="2000" b="0" dirty="0">
                        <a:solidFill>
                          <a:schemeClr val="accent1">
                            <a:lumMod val="75000"/>
                          </a:schemeClr>
                        </a:solidFill>
                        <a:effectLst/>
                        <a:latin typeface="+mn-lt"/>
                        <a:ea typeface="Calibri" panose="020F0502020204030204" pitchFamily="34" charset="0"/>
                        <a:cs typeface="Times New Roman" panose="02020603050405020304" pitchFamily="18" charset="0"/>
                      </a:endParaRPr>
                    </a:p>
                  </a:txBody>
                  <a:tcPr marL="0" marR="22225" marT="41275" marB="0"/>
                </a:tc>
                <a:extLst>
                  <a:ext uri="{0D108BD9-81ED-4DB2-BD59-A6C34878D82A}">
                    <a16:rowId xmlns:a16="http://schemas.microsoft.com/office/drawing/2014/main" val="1950283421"/>
                  </a:ext>
                </a:extLst>
              </a:tr>
            </a:tbl>
          </a:graphicData>
        </a:graphic>
      </p:graphicFrame>
    </p:spTree>
    <p:extLst>
      <p:ext uri="{BB962C8B-B14F-4D97-AF65-F5344CB8AC3E}">
        <p14:creationId xmlns:p14="http://schemas.microsoft.com/office/powerpoint/2010/main" val="391509065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Hardware &amp; Software Requirements</a:t>
            </a:r>
            <a:endParaRPr lang="en-US" b="1" u="sng" dirty="0">
              <a:solidFill>
                <a:schemeClr val="bg1"/>
              </a:solidFill>
              <a:effectLst>
                <a:glow rad="228600">
                  <a:schemeClr val="accent5">
                    <a:satMod val="175000"/>
                    <a:alpha val="40000"/>
                  </a:schemeClr>
                </a:glow>
              </a:effectLst>
            </a:endParaRPr>
          </a:p>
        </p:txBody>
      </p:sp>
      <p:sp>
        <p:nvSpPr>
          <p:cNvPr id="9" name="Rectangle 8"/>
          <p:cNvSpPr/>
          <p:nvPr/>
        </p:nvSpPr>
        <p:spPr>
          <a:xfrm>
            <a:off x="1435359" y="1924985"/>
            <a:ext cx="3012363" cy="369332"/>
          </a:xfrm>
          <a:prstGeom prst="rect">
            <a:avLst/>
          </a:prstGeom>
        </p:spPr>
        <p:txBody>
          <a:bodyPr wrap="none">
            <a:spAutoFit/>
          </a:bodyPr>
          <a:lstStyle/>
          <a:p>
            <a:pPr marL="285750" indent="-285750">
              <a:buFont typeface="Wingdings" panose="05000000000000000000" pitchFamily="2" charset="2"/>
              <a:buChar char="Ø"/>
            </a:pPr>
            <a:r>
              <a:rPr lang="en-IN"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rPr>
              <a:t>Software Requirements :</a:t>
            </a:r>
            <a:endParaRPr lang="en-IN" dirty="0">
              <a:solidFill>
                <a:schemeClr val="bg1"/>
              </a:solidFill>
              <a:effectLst>
                <a:glow rad="228600">
                  <a:schemeClr val="accent5">
                    <a:satMod val="175000"/>
                    <a:alpha val="40000"/>
                  </a:schemeClr>
                </a:glow>
              </a:effectLst>
            </a:endParaRPr>
          </a:p>
        </p:txBody>
      </p:sp>
      <p:graphicFrame>
        <p:nvGraphicFramePr>
          <p:cNvPr id="2" name="Table 1"/>
          <p:cNvGraphicFramePr>
            <a:graphicFrameLocks noGrp="1"/>
          </p:cNvGraphicFramePr>
          <p:nvPr>
            <p:extLst/>
          </p:nvPr>
        </p:nvGraphicFramePr>
        <p:xfrm>
          <a:off x="2250357" y="2630264"/>
          <a:ext cx="8093793" cy="3642620"/>
        </p:xfrm>
        <a:graphic>
          <a:graphicData uri="http://schemas.openxmlformats.org/drawingml/2006/table">
            <a:tbl>
              <a:tblPr firstRow="1" firstCol="1" bandRow="1">
                <a:tableStyleId>{5C22544A-7EE6-4342-B048-85BDC9FD1C3A}</a:tableStyleId>
              </a:tblPr>
              <a:tblGrid>
                <a:gridCol w="3659812">
                  <a:extLst>
                    <a:ext uri="{9D8B030D-6E8A-4147-A177-3AD203B41FA5}">
                      <a16:colId xmlns:a16="http://schemas.microsoft.com/office/drawing/2014/main" val="4150575075"/>
                    </a:ext>
                  </a:extLst>
                </a:gridCol>
                <a:gridCol w="4433981">
                  <a:extLst>
                    <a:ext uri="{9D8B030D-6E8A-4147-A177-3AD203B41FA5}">
                      <a16:colId xmlns:a16="http://schemas.microsoft.com/office/drawing/2014/main" val="1150903159"/>
                    </a:ext>
                  </a:extLst>
                </a:gridCol>
              </a:tblGrid>
              <a:tr h="414026">
                <a:tc>
                  <a:txBody>
                    <a:bodyPr/>
                    <a:lstStyle/>
                    <a:p>
                      <a:pPr marL="22860" algn="ctr">
                        <a:lnSpc>
                          <a:spcPct val="107000"/>
                        </a:lnSpc>
                        <a:spcAft>
                          <a:spcPts val="0"/>
                        </a:spcAft>
                      </a:pPr>
                      <a:r>
                        <a:rPr lang="en-IN" sz="2000" dirty="0">
                          <a:effectLst/>
                        </a:rPr>
                        <a:t>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22225" marT="41275" marB="0"/>
                </a:tc>
                <a:tc>
                  <a:txBody>
                    <a:bodyPr/>
                    <a:lstStyle/>
                    <a:p>
                      <a:pPr marL="24130" algn="ctr">
                        <a:lnSpc>
                          <a:spcPct val="107000"/>
                        </a:lnSpc>
                        <a:spcAft>
                          <a:spcPts val="0"/>
                        </a:spcAft>
                      </a:pPr>
                      <a:r>
                        <a:rPr lang="en-IN" sz="2000" dirty="0">
                          <a:effectLst/>
                        </a:rPr>
                        <a:t>Minimum Values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22225" marT="41275" marB="0"/>
                </a:tc>
                <a:extLst>
                  <a:ext uri="{0D108BD9-81ED-4DB2-BD59-A6C34878D82A}">
                    <a16:rowId xmlns:a16="http://schemas.microsoft.com/office/drawing/2014/main" val="3710487449"/>
                  </a:ext>
                </a:extLst>
              </a:tr>
              <a:tr h="328975">
                <a:tc>
                  <a:txBody>
                    <a:bodyPr/>
                    <a:lstStyle/>
                    <a:p>
                      <a:pPr marL="40005" algn="ctr">
                        <a:lnSpc>
                          <a:spcPct val="107000"/>
                        </a:lnSpc>
                        <a:spcAft>
                          <a:spcPts val="0"/>
                        </a:spcAft>
                      </a:pPr>
                      <a:r>
                        <a:rPr lang="en-IN" sz="2000" b="0">
                          <a:solidFill>
                            <a:srgbClr val="0070C0"/>
                          </a:solidFill>
                          <a:effectLst/>
                        </a:rPr>
                        <a:t>Front-End </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D2DEEF"/>
                    </a:solidFill>
                  </a:tcPr>
                </a:tc>
                <a:tc>
                  <a:txBody>
                    <a:bodyPr/>
                    <a:lstStyle/>
                    <a:p>
                      <a:pPr marL="36830" marR="0" indent="0" algn="ctr" defTabSz="914400" rtl="0" eaLnBrk="1" fontAlgn="auto" latinLnBrk="0" hangingPunct="1">
                        <a:lnSpc>
                          <a:spcPct val="107000"/>
                        </a:lnSpc>
                        <a:spcBef>
                          <a:spcPts val="0"/>
                        </a:spcBef>
                        <a:spcAft>
                          <a:spcPts val="0"/>
                        </a:spcAft>
                        <a:buClrTx/>
                        <a:buSzTx/>
                        <a:buFontTx/>
                        <a:buNone/>
                        <a:tabLst/>
                        <a:defRPr/>
                      </a:pPr>
                      <a:r>
                        <a:rPr lang="en-IN" sz="2000" b="0" dirty="0">
                          <a:solidFill>
                            <a:srgbClr val="0070C0"/>
                          </a:solidFill>
                          <a:effectLst/>
                        </a:rPr>
                        <a:t>ASP. Net (</a:t>
                      </a:r>
                      <a:r>
                        <a:rPr lang="en-IN" sz="2000" b="0" baseline="0" dirty="0">
                          <a:solidFill>
                            <a:srgbClr val="0070C0"/>
                          </a:solidFill>
                          <a:effectLst/>
                        </a:rPr>
                        <a:t> </a:t>
                      </a:r>
                      <a:r>
                        <a:rPr lang="en-IN" sz="2000" b="0" dirty="0">
                          <a:solidFill>
                            <a:srgbClr val="0070C0"/>
                          </a:solidFill>
                          <a:effectLst/>
                        </a:rPr>
                        <a:t>HTML, CSS, Java Script </a:t>
                      </a:r>
                      <a:r>
                        <a:rPr lang="en-IN" sz="2000" b="0" dirty="0" smtClean="0">
                          <a:solidFill>
                            <a:srgbClr val="0070C0"/>
                          </a:solidFill>
                          <a:effectLst/>
                        </a:rPr>
                        <a:t>, C#)</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tc>
                <a:extLst>
                  <a:ext uri="{0D108BD9-81ED-4DB2-BD59-A6C34878D82A}">
                    <a16:rowId xmlns:a16="http://schemas.microsoft.com/office/drawing/2014/main" val="4170835479"/>
                  </a:ext>
                </a:extLst>
              </a:tr>
              <a:tr h="328975">
                <a:tc>
                  <a:txBody>
                    <a:bodyPr/>
                    <a:lstStyle/>
                    <a:p>
                      <a:pPr marL="40005" algn="ctr">
                        <a:lnSpc>
                          <a:spcPct val="107000"/>
                        </a:lnSpc>
                        <a:spcAft>
                          <a:spcPts val="0"/>
                        </a:spcAft>
                      </a:pPr>
                      <a:r>
                        <a:rPr lang="en-IN" sz="2000" b="0" dirty="0">
                          <a:solidFill>
                            <a:srgbClr val="0070C0"/>
                          </a:solidFill>
                          <a:effectLst/>
                        </a:rPr>
                        <a:t>Back-End </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tc>
                  <a:txBody>
                    <a:bodyPr/>
                    <a:lstStyle/>
                    <a:p>
                      <a:pPr marL="36830" algn="ctr">
                        <a:lnSpc>
                          <a:spcPct val="107000"/>
                        </a:lnSpc>
                        <a:spcAft>
                          <a:spcPts val="0"/>
                        </a:spcAft>
                      </a:pPr>
                      <a:r>
                        <a:rPr lang="en-IN" sz="2000" kern="1200" dirty="0" smtClean="0">
                          <a:solidFill>
                            <a:schemeClr val="accent1">
                              <a:lumMod val="75000"/>
                            </a:schemeClr>
                          </a:solidFill>
                          <a:latin typeface="+mn-lt"/>
                          <a:ea typeface="+mn-ea"/>
                          <a:cs typeface="+mn-cs"/>
                        </a:rPr>
                        <a:t>My SQL Server</a:t>
                      </a:r>
                      <a:endParaRPr lang="en-IN" sz="2000" b="0" dirty="0">
                        <a:solidFill>
                          <a:schemeClr val="accent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extLst>
                  <a:ext uri="{0D108BD9-81ED-4DB2-BD59-A6C34878D82A}">
                    <a16:rowId xmlns:a16="http://schemas.microsoft.com/office/drawing/2014/main" val="594109126"/>
                  </a:ext>
                </a:extLst>
              </a:tr>
              <a:tr h="328975">
                <a:tc>
                  <a:txBody>
                    <a:bodyPr/>
                    <a:lstStyle/>
                    <a:p>
                      <a:pPr marL="40005" algn="ctr">
                        <a:lnSpc>
                          <a:spcPct val="107000"/>
                        </a:lnSpc>
                        <a:spcAft>
                          <a:spcPts val="0"/>
                        </a:spcAft>
                      </a:pPr>
                      <a:r>
                        <a:rPr lang="en-US"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Server</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tc>
                  <a:txBody>
                    <a:bodyPr/>
                    <a:lstStyle/>
                    <a:p>
                      <a:pPr marL="36830" marR="0" indent="0" algn="ctr" defTabSz="914400" rtl="0" eaLnBrk="1" fontAlgn="auto" latinLnBrk="0" hangingPunct="1">
                        <a:lnSpc>
                          <a:spcPct val="107000"/>
                        </a:lnSpc>
                        <a:spcBef>
                          <a:spcPts val="0"/>
                        </a:spcBef>
                        <a:spcAft>
                          <a:spcPts val="0"/>
                        </a:spcAft>
                        <a:buClrTx/>
                        <a:buSzTx/>
                        <a:buFontTx/>
                        <a:buNone/>
                        <a:tabLst/>
                        <a:defRPr/>
                      </a:pPr>
                      <a:r>
                        <a:rPr lang="en-IN" sz="2000" b="0" dirty="0">
                          <a:solidFill>
                            <a:srgbClr val="0070C0"/>
                          </a:solidFill>
                          <a:effectLst/>
                        </a:rPr>
                        <a:t>SQL  Server</a:t>
                      </a:r>
                      <a:r>
                        <a:rPr lang="en-IN" sz="2000" b="0" baseline="0" dirty="0">
                          <a:solidFill>
                            <a:srgbClr val="0070C0"/>
                          </a:solidFill>
                          <a:effectLst/>
                          <a:latin typeface="Calibri" panose="020F0502020204030204" pitchFamily="34" charset="0"/>
                          <a:cs typeface="Times New Roman" panose="02020603050405020304" pitchFamily="18" charset="0"/>
                        </a:rPr>
                        <a:t> 2008 or Higher</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extLst>
                  <a:ext uri="{0D108BD9-81ED-4DB2-BD59-A6C34878D82A}">
                    <a16:rowId xmlns:a16="http://schemas.microsoft.com/office/drawing/2014/main" val="3864097946"/>
                  </a:ext>
                </a:extLst>
              </a:tr>
              <a:tr h="328975">
                <a:tc>
                  <a:txBody>
                    <a:bodyPr/>
                    <a:lstStyle/>
                    <a:p>
                      <a:pPr marL="40005" algn="ctr">
                        <a:lnSpc>
                          <a:spcPct val="107000"/>
                        </a:lnSpc>
                        <a:spcAft>
                          <a:spcPts val="0"/>
                        </a:spcAft>
                      </a:pPr>
                      <a:r>
                        <a:rPr lang="en-US"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Database</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tc>
                  <a:txBody>
                    <a:bodyPr/>
                    <a:lstStyle/>
                    <a:p>
                      <a:pPr marL="36830" marR="0" indent="0" algn="ctr" defTabSz="914400" rtl="0" eaLnBrk="1" fontAlgn="auto" latinLnBrk="0" hangingPunct="1">
                        <a:lnSpc>
                          <a:spcPct val="107000"/>
                        </a:lnSpc>
                        <a:spcBef>
                          <a:spcPts val="0"/>
                        </a:spcBef>
                        <a:spcAft>
                          <a:spcPts val="0"/>
                        </a:spcAft>
                        <a:buClrTx/>
                        <a:buSzTx/>
                        <a:buFontTx/>
                        <a:buNone/>
                        <a:tabLst/>
                        <a:defRPr/>
                      </a:pPr>
                      <a:r>
                        <a:rPr lang="en-US"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My</a:t>
                      </a:r>
                      <a:r>
                        <a:rPr lang="en-US" sz="2000" b="0" baseline="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Sql</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extLst>
                  <a:ext uri="{0D108BD9-81ED-4DB2-BD59-A6C34878D82A}">
                    <a16:rowId xmlns:a16="http://schemas.microsoft.com/office/drawing/2014/main" val="2140900421"/>
                  </a:ext>
                </a:extLst>
              </a:tr>
              <a:tr h="585156">
                <a:tc>
                  <a:txBody>
                    <a:bodyPr/>
                    <a:lstStyle/>
                    <a:p>
                      <a:pPr marL="38100" algn="ctr">
                        <a:lnSpc>
                          <a:spcPct val="107000"/>
                        </a:lnSpc>
                        <a:spcAft>
                          <a:spcPts val="0"/>
                        </a:spcAft>
                      </a:pPr>
                      <a:r>
                        <a:rPr lang="en-US" sz="2000" b="0">
                          <a:solidFill>
                            <a:srgbClr val="0070C0"/>
                          </a:solidFill>
                          <a:effectLst/>
                          <a:latin typeface="+mn-lt"/>
                          <a:ea typeface="+mn-ea"/>
                          <a:cs typeface="+mn-cs"/>
                        </a:rPr>
                        <a:t>Office</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D2DEEF"/>
                    </a:solidFill>
                  </a:tcPr>
                </a:tc>
                <a:tc>
                  <a:txBody>
                    <a:bodyPr/>
                    <a:lstStyle/>
                    <a:p>
                      <a:pPr marL="36830" algn="ctr">
                        <a:lnSpc>
                          <a:spcPct val="107000"/>
                        </a:lnSpc>
                        <a:spcAft>
                          <a:spcPts val="0"/>
                        </a:spcAft>
                      </a:pPr>
                      <a:r>
                        <a:rPr lang="en-IN" sz="2000" b="0" dirty="0">
                          <a:solidFill>
                            <a:srgbClr val="0070C0"/>
                          </a:solidFill>
                          <a:effectLst/>
                        </a:rPr>
                        <a:t>MS Office 2016(MS Word, MS Power Point) or Higher</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tc>
                <a:extLst>
                  <a:ext uri="{0D108BD9-81ED-4DB2-BD59-A6C34878D82A}">
                    <a16:rowId xmlns:a16="http://schemas.microsoft.com/office/drawing/2014/main" val="2768236857"/>
                  </a:ext>
                </a:extLst>
              </a:tr>
              <a:tr h="328975">
                <a:tc>
                  <a:txBody>
                    <a:bodyPr/>
                    <a:lstStyle/>
                    <a:p>
                      <a:pPr marL="38100" algn="ctr">
                        <a:lnSpc>
                          <a:spcPct val="107000"/>
                        </a:lnSpc>
                        <a:spcAft>
                          <a:spcPts val="0"/>
                        </a:spcAft>
                      </a:pPr>
                      <a:r>
                        <a:rPr lang="en-IN" sz="2000" b="0">
                          <a:solidFill>
                            <a:srgbClr val="0070C0"/>
                          </a:solidFill>
                          <a:effectLst/>
                        </a:rPr>
                        <a:t>Software</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tc>
                  <a:txBody>
                    <a:bodyPr/>
                    <a:lstStyle/>
                    <a:p>
                      <a:pPr marL="36830" algn="ctr">
                        <a:lnSpc>
                          <a:spcPct val="107000"/>
                        </a:lnSpc>
                        <a:spcAft>
                          <a:spcPts val="0"/>
                        </a:spcAft>
                      </a:pPr>
                      <a:r>
                        <a:rPr lang="en-IN" sz="2000" b="0" dirty="0">
                          <a:solidFill>
                            <a:srgbClr val="0070C0"/>
                          </a:solidFill>
                          <a:effectLst/>
                        </a:rPr>
                        <a:t>Visual Studio 2010 or Higher</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EAEFF7"/>
                    </a:solidFill>
                  </a:tcPr>
                </a:tc>
                <a:extLst>
                  <a:ext uri="{0D108BD9-81ED-4DB2-BD59-A6C34878D82A}">
                    <a16:rowId xmlns:a16="http://schemas.microsoft.com/office/drawing/2014/main" val="2609016601"/>
                  </a:ext>
                </a:extLst>
              </a:tr>
              <a:tr h="585156">
                <a:tc>
                  <a:txBody>
                    <a:bodyPr/>
                    <a:lstStyle/>
                    <a:p>
                      <a:pPr marL="38100" algn="ctr">
                        <a:lnSpc>
                          <a:spcPct val="107000"/>
                        </a:lnSpc>
                        <a:spcAft>
                          <a:spcPts val="0"/>
                        </a:spcAft>
                      </a:pPr>
                      <a:r>
                        <a:rPr lang="en-IN" sz="2000" b="0">
                          <a:solidFill>
                            <a:srgbClr val="0070C0"/>
                          </a:solidFill>
                          <a:effectLst/>
                        </a:rPr>
                        <a:t>Operating System</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solidFill>
                      <a:srgbClr val="D2DEEF"/>
                    </a:solidFill>
                  </a:tcPr>
                </a:tc>
                <a:tc>
                  <a:txBody>
                    <a:bodyPr/>
                    <a:lstStyle/>
                    <a:p>
                      <a:pPr marL="36830" algn="ctr">
                        <a:lnSpc>
                          <a:spcPct val="107000"/>
                        </a:lnSpc>
                        <a:spcAft>
                          <a:spcPts val="0"/>
                        </a:spcAft>
                      </a:pPr>
                      <a:r>
                        <a:rPr lang="en-IN" sz="2000" b="0" dirty="0">
                          <a:solidFill>
                            <a:srgbClr val="0070C0"/>
                          </a:solidFill>
                          <a:effectLst/>
                        </a:rPr>
                        <a:t>Windows 10 Home Basic-E Series, 13 Processor or Higher</a:t>
                      </a:r>
                      <a:endParaRPr lang="en-IN" sz="2000" b="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36195" marT="41910" marB="0"/>
                </a:tc>
                <a:extLst>
                  <a:ext uri="{0D108BD9-81ED-4DB2-BD59-A6C34878D82A}">
                    <a16:rowId xmlns:a16="http://schemas.microsoft.com/office/drawing/2014/main" val="1112714045"/>
                  </a:ext>
                </a:extLst>
              </a:tr>
            </a:tbl>
          </a:graphicData>
        </a:graphic>
      </p:graphicFrame>
    </p:spTree>
    <p:extLst>
      <p:ext uri="{BB962C8B-B14F-4D97-AF65-F5344CB8AC3E}">
        <p14:creationId xmlns:p14="http://schemas.microsoft.com/office/powerpoint/2010/main" val="153165826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Data Flow Diagram (DFD)</a:t>
            </a:r>
            <a:endParaRPr lang="en-US" b="1" u="sng" dirty="0">
              <a:solidFill>
                <a:schemeClr val="bg1"/>
              </a:solidFill>
              <a:effectLst>
                <a:glow rad="228600">
                  <a:schemeClr val="accent5">
                    <a:satMod val="175000"/>
                    <a:alpha val="40000"/>
                  </a:schemeClr>
                </a:glow>
              </a:effectLst>
            </a:endParaRPr>
          </a:p>
        </p:txBody>
      </p:sp>
      <p:sp>
        <p:nvSpPr>
          <p:cNvPr id="2" name="Rectangle 1"/>
          <p:cNvSpPr/>
          <p:nvPr/>
        </p:nvSpPr>
        <p:spPr>
          <a:xfrm>
            <a:off x="1775520" y="1997839"/>
            <a:ext cx="8035256" cy="1938992"/>
          </a:xfrm>
          <a:prstGeom prst="rect">
            <a:avLst/>
          </a:prstGeom>
        </p:spPr>
        <p:txBody>
          <a:bodyPr wrap="square">
            <a:spAutoFit/>
          </a:bodyPr>
          <a:lstStyle/>
          <a:p>
            <a:pPr lvl="0">
              <a:buFont typeface="Wingdings" pitchFamily="2" charset="2"/>
              <a:buChar char="Ø"/>
            </a:pPr>
            <a:r>
              <a:rPr lang="en-US" sz="2000" dirty="0">
                <a:solidFill>
                  <a:schemeClr val="bg1"/>
                </a:solidFill>
                <a:effectLst>
                  <a:glow rad="228600">
                    <a:schemeClr val="accent5">
                      <a:satMod val="175000"/>
                      <a:alpha val="40000"/>
                    </a:schemeClr>
                  </a:glow>
                </a:effectLst>
              </a:rPr>
              <a:t>Data Flow Diagram is a graphical presentation for defining inputs, processes and outputs. </a:t>
            </a:r>
          </a:p>
          <a:p>
            <a:r>
              <a:rPr lang="en-US" sz="2000" dirty="0">
                <a:solidFill>
                  <a:schemeClr val="bg1"/>
                </a:solidFill>
                <a:effectLst>
                  <a:glow rad="228600">
                    <a:schemeClr val="accent5">
                      <a:satMod val="175000"/>
                      <a:alpha val="40000"/>
                    </a:schemeClr>
                  </a:glow>
                </a:effectLst>
              </a:rPr>
              <a:t> </a:t>
            </a:r>
          </a:p>
          <a:p>
            <a:pPr lvl="0">
              <a:buFont typeface="Wingdings" pitchFamily="2" charset="2"/>
              <a:buChar char="Ø"/>
            </a:pPr>
            <a:r>
              <a:rPr lang="en-US" sz="2000" dirty="0">
                <a:solidFill>
                  <a:schemeClr val="bg1"/>
                </a:solidFill>
                <a:effectLst>
                  <a:glow rad="228600">
                    <a:schemeClr val="accent5">
                      <a:satMod val="175000"/>
                      <a:alpha val="40000"/>
                    </a:schemeClr>
                  </a:glow>
                </a:effectLst>
              </a:rPr>
              <a:t>Data flow diagram is a graphical tool used to describe and analyses the movement of data through a system-manual or automated-including the Processes stores the data, and delays in the system. </a:t>
            </a:r>
          </a:p>
        </p:txBody>
      </p:sp>
    </p:spTree>
    <p:extLst>
      <p:ext uri="{BB962C8B-B14F-4D97-AF65-F5344CB8AC3E}">
        <p14:creationId xmlns:p14="http://schemas.microsoft.com/office/powerpoint/2010/main" val="103898142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Data Flow Diagram (DFD)</a:t>
            </a:r>
            <a:endParaRPr lang="en-US" b="1" u="sng" dirty="0">
              <a:solidFill>
                <a:schemeClr val="bg1"/>
              </a:solidFill>
              <a:effectLst>
                <a:glow rad="228600">
                  <a:schemeClr val="accent5">
                    <a:satMod val="175000"/>
                    <a:alpha val="40000"/>
                  </a:schemeClr>
                </a:glow>
              </a:effectLst>
            </a:endParaRPr>
          </a:p>
        </p:txBody>
      </p:sp>
      <p:sp>
        <p:nvSpPr>
          <p:cNvPr id="4" name="Rectangle 3"/>
          <p:cNvSpPr/>
          <p:nvPr/>
        </p:nvSpPr>
        <p:spPr>
          <a:xfrm>
            <a:off x="1847528" y="1844825"/>
            <a:ext cx="8568952" cy="3082895"/>
          </a:xfrm>
          <a:prstGeom prst="rect">
            <a:avLst/>
          </a:prstGeom>
        </p:spPr>
        <p:txBody>
          <a:bodyPr wrap="square">
            <a:spAutoFit/>
          </a:bodyPr>
          <a:lstStyle/>
          <a:p>
            <a:pPr marL="342900" indent="-342900">
              <a:lnSpc>
                <a:spcPct val="115000"/>
              </a:lnSpc>
              <a:spcAft>
                <a:spcPts val="1000"/>
              </a:spcAft>
              <a:buFont typeface="Wingdings" panose="05000000000000000000" pitchFamily="2" charset="2"/>
              <a:buChar char=""/>
            </a:pPr>
            <a:r>
              <a:rPr lang="en-US" sz="2000" b="1"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Shruti"/>
              </a:rPr>
              <a:t>Rules of DFDs : </a:t>
            </a:r>
            <a:endParaRPr lang="en-IN" kern="100" dirty="0">
              <a:solidFill>
                <a:schemeClr val="bg1"/>
              </a:solidFill>
              <a:effectLst>
                <a:glow rad="228600">
                  <a:schemeClr val="accent5">
                    <a:satMod val="175000"/>
                    <a:alpha val="40000"/>
                  </a:schemeClr>
                </a:glow>
              </a:effectLst>
              <a:latin typeface="Times New Roman" panose="02020603050405020304" pitchFamily="18" charset="0"/>
              <a:ea typeface="Calibri" panose="020F0502020204030204" pitchFamily="34" charset="0"/>
            </a:endParaRPr>
          </a:p>
          <a:p>
            <a:pPr marL="914400" lvl="1" indent="-457200">
              <a:lnSpc>
                <a:spcPct val="115000"/>
              </a:lnSpc>
              <a:spcAft>
                <a:spcPts val="1000"/>
              </a:spcAft>
              <a:buFont typeface="+mj-lt"/>
              <a:buAutoNum type="arabicPeriod"/>
            </a:pPr>
            <a:r>
              <a:rPr lang="en-US" sz="2000" dirty="0">
                <a:solidFill>
                  <a:schemeClr val="bg1"/>
                </a:solidFill>
                <a:effectLst>
                  <a:glow rad="228600">
                    <a:schemeClr val="accent5">
                      <a:satMod val="175000"/>
                      <a:alpha val="40000"/>
                    </a:schemeClr>
                  </a:glow>
                </a:effectLst>
                <a:ea typeface="Calibri" panose="020F0502020204030204" pitchFamily="34" charset="0"/>
                <a:cs typeface="Shruti"/>
              </a:rPr>
              <a:t>Processes should be named and numbered for easy references. </a:t>
            </a:r>
            <a:endParaRPr lang="en-IN" sz="2000" dirty="0">
              <a:solidFill>
                <a:schemeClr val="bg1"/>
              </a:solidFill>
              <a:effectLst>
                <a:glow rad="228600">
                  <a:schemeClr val="accent5">
                    <a:satMod val="175000"/>
                    <a:alpha val="40000"/>
                  </a:schemeClr>
                </a:glow>
              </a:effectLst>
              <a:ea typeface="Calibri" panose="020F0502020204030204" pitchFamily="34" charset="0"/>
              <a:cs typeface="Shruti"/>
            </a:endParaRPr>
          </a:p>
          <a:p>
            <a:pPr marL="914400" lvl="1" indent="-457200">
              <a:lnSpc>
                <a:spcPct val="115000"/>
              </a:lnSpc>
              <a:spcAft>
                <a:spcPts val="1000"/>
              </a:spcAft>
              <a:buFont typeface="+mj-lt"/>
              <a:buAutoNum type="arabicPeriod"/>
            </a:pPr>
            <a:r>
              <a:rPr lang="en-US" sz="2000" dirty="0">
                <a:solidFill>
                  <a:schemeClr val="bg1"/>
                </a:solidFill>
                <a:effectLst>
                  <a:glow rad="228600">
                    <a:schemeClr val="accent5">
                      <a:satMod val="175000"/>
                      <a:alpha val="40000"/>
                    </a:schemeClr>
                  </a:glow>
                </a:effectLst>
                <a:ea typeface="Calibri" panose="020F0502020204030204" pitchFamily="34" charset="0"/>
                <a:cs typeface="Shruti"/>
              </a:rPr>
              <a:t>The direction of flow from top to bottom and from left to right. </a:t>
            </a:r>
            <a:endParaRPr lang="en-IN" sz="2000" dirty="0">
              <a:solidFill>
                <a:schemeClr val="bg1"/>
              </a:solidFill>
              <a:effectLst>
                <a:glow rad="228600">
                  <a:schemeClr val="accent5">
                    <a:satMod val="175000"/>
                    <a:alpha val="40000"/>
                  </a:schemeClr>
                </a:glow>
              </a:effectLst>
              <a:ea typeface="Calibri" panose="020F0502020204030204" pitchFamily="34" charset="0"/>
              <a:cs typeface="Shruti"/>
            </a:endParaRPr>
          </a:p>
          <a:p>
            <a:pPr marL="914400" lvl="1" indent="-457200">
              <a:lnSpc>
                <a:spcPct val="115000"/>
              </a:lnSpc>
              <a:spcAft>
                <a:spcPts val="1000"/>
              </a:spcAft>
              <a:buFont typeface="+mj-lt"/>
              <a:buAutoNum type="arabicPeriod"/>
            </a:pPr>
            <a:r>
              <a:rPr lang="en-US" sz="2000" dirty="0">
                <a:solidFill>
                  <a:schemeClr val="bg1"/>
                </a:solidFill>
                <a:effectLst>
                  <a:glow rad="228600">
                    <a:schemeClr val="accent5">
                      <a:satMod val="175000"/>
                      <a:alpha val="40000"/>
                    </a:schemeClr>
                  </a:glow>
                </a:effectLst>
                <a:ea typeface="Calibri" panose="020F0502020204030204" pitchFamily="34" charset="0"/>
                <a:cs typeface="Shruti"/>
              </a:rPr>
              <a:t>Data traditionally flow from the source (Upper Left Corner) to the destination (Lower Right Corner) although they may flow back to the source. </a:t>
            </a:r>
            <a:endParaRPr lang="en-IN" sz="2000" dirty="0">
              <a:solidFill>
                <a:schemeClr val="bg1"/>
              </a:solidFill>
              <a:effectLst>
                <a:glow rad="228600">
                  <a:schemeClr val="accent5">
                    <a:satMod val="175000"/>
                    <a:alpha val="40000"/>
                  </a:schemeClr>
                </a:glow>
              </a:effectLst>
              <a:ea typeface="Calibri" panose="020F0502020204030204" pitchFamily="34" charset="0"/>
              <a:cs typeface="Shruti"/>
            </a:endParaRPr>
          </a:p>
          <a:p>
            <a:pPr marL="914400" lvl="1" indent="-457200">
              <a:lnSpc>
                <a:spcPct val="115000"/>
              </a:lnSpc>
              <a:spcAft>
                <a:spcPts val="1000"/>
              </a:spcAft>
              <a:buFont typeface="+mj-lt"/>
              <a:buAutoNum type="arabicPeriod"/>
            </a:pPr>
            <a:r>
              <a:rPr lang="en-US" sz="2000" dirty="0">
                <a:solidFill>
                  <a:schemeClr val="bg1"/>
                </a:solidFill>
                <a:effectLst>
                  <a:glow rad="228600">
                    <a:schemeClr val="accent5">
                      <a:satMod val="175000"/>
                      <a:alpha val="40000"/>
                    </a:schemeClr>
                  </a:glow>
                </a:effectLst>
                <a:ea typeface="Calibri" panose="020F0502020204030204" pitchFamily="34" charset="0"/>
                <a:cs typeface="Shruti"/>
              </a:rPr>
              <a:t>When a process is exploded into lower level details, they are numbered.</a:t>
            </a:r>
            <a:endParaRPr lang="en-IN" sz="2000" dirty="0">
              <a:solidFill>
                <a:schemeClr val="bg1"/>
              </a:solidFill>
              <a:effectLst>
                <a:glow rad="228600">
                  <a:schemeClr val="accent5">
                    <a:satMod val="175000"/>
                    <a:alpha val="40000"/>
                  </a:schemeClr>
                </a:glow>
              </a:effectLst>
              <a:ea typeface="Calibri" panose="020F0502020204030204" pitchFamily="34" charset="0"/>
              <a:cs typeface="Shruti"/>
            </a:endParaRPr>
          </a:p>
        </p:txBody>
      </p:sp>
    </p:spTree>
    <p:extLst>
      <p:ext uri="{BB962C8B-B14F-4D97-AF65-F5344CB8AC3E}">
        <p14:creationId xmlns:p14="http://schemas.microsoft.com/office/powerpoint/2010/main" val="340756037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Data Flow Diagram (DFD)</a:t>
            </a:r>
            <a:endParaRPr lang="en-US" b="1" u="sng" dirty="0">
              <a:solidFill>
                <a:schemeClr val="bg1"/>
              </a:solidFill>
              <a:effectLst>
                <a:glow rad="228600">
                  <a:schemeClr val="accent5">
                    <a:satMod val="175000"/>
                    <a:alpha val="40000"/>
                  </a:schemeClr>
                </a:glow>
              </a:effectLst>
            </a:endParaRPr>
          </a:p>
        </p:txBody>
      </p:sp>
      <p:sp>
        <p:nvSpPr>
          <p:cNvPr id="20" name="Rectangle 19"/>
          <p:cNvSpPr/>
          <p:nvPr/>
        </p:nvSpPr>
        <p:spPr>
          <a:xfrm>
            <a:off x="1703513" y="1556792"/>
            <a:ext cx="3922869" cy="456663"/>
          </a:xfrm>
          <a:prstGeom prst="rect">
            <a:avLst/>
          </a:prstGeom>
        </p:spPr>
        <p:txBody>
          <a:bodyPr wrap="none">
            <a:spAutoFit/>
          </a:bodyPr>
          <a:lstStyle/>
          <a:p>
            <a:pPr marL="342900" indent="-342900">
              <a:lnSpc>
                <a:spcPct val="115000"/>
              </a:lnSpc>
              <a:spcAft>
                <a:spcPts val="1000"/>
              </a:spcAft>
              <a:buFont typeface="Wingdings" panose="05000000000000000000" pitchFamily="2" charset="2"/>
              <a:buChar char=""/>
            </a:pPr>
            <a:r>
              <a:rPr lang="en-US" sz="2200" b="1"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Shruti"/>
              </a:rPr>
              <a:t>Symbols used in DFDs :  </a:t>
            </a:r>
            <a:endParaRPr lang="en-IN" sz="22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Shruti"/>
            </a:endParaRPr>
          </a:p>
        </p:txBody>
      </p:sp>
      <p:sp>
        <p:nvSpPr>
          <p:cNvPr id="21" name="Rectangle 18"/>
          <p:cNvSpPr>
            <a:spLocks noChangeArrowheads="1"/>
          </p:cNvSpPr>
          <p:nvPr/>
        </p:nvSpPr>
        <p:spPr bwMode="auto">
          <a:xfrm>
            <a:off x="1847529" y="2476546"/>
            <a:ext cx="600997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dirty="0">
                <a:solidFill>
                  <a:schemeClr val="bg1"/>
                </a:solidFill>
                <a:effectLst>
                  <a:glow rad="228600">
                    <a:schemeClr val="accent5">
                      <a:satMod val="175000"/>
                      <a:alpha val="40000"/>
                    </a:schemeClr>
                  </a:glow>
                </a:effectLst>
                <a:ea typeface="Times New Roman" panose="02020603050405020304" pitchFamily="18" charset="0"/>
                <a:cs typeface="Arial" panose="020B0604020202020204" pitchFamily="34" charset="0"/>
              </a:rPr>
              <a:t>1. </a:t>
            </a:r>
            <a:r>
              <a:rPr lang="en-US" altLang="zh-CN" sz="2000" b="1" dirty="0">
                <a:solidFill>
                  <a:schemeClr val="bg1"/>
                </a:solidFill>
                <a:effectLst>
                  <a:glow rad="228600">
                    <a:schemeClr val="accent5">
                      <a:satMod val="175000"/>
                      <a:alpha val="40000"/>
                    </a:schemeClr>
                  </a:glow>
                </a:effectLst>
                <a:ea typeface="Times New Roman" panose="02020603050405020304" pitchFamily="18" charset="0"/>
                <a:cs typeface="Arial" panose="020B0604020202020204" pitchFamily="34" charset="0"/>
              </a:rPr>
              <a:t>Process: - </a:t>
            </a:r>
            <a:r>
              <a:rPr lang="en-US" altLang="zh-CN" sz="2000" dirty="0">
                <a:solidFill>
                  <a:schemeClr val="bg1"/>
                </a:solidFill>
                <a:effectLst>
                  <a:glow rad="228600">
                    <a:schemeClr val="accent5">
                      <a:satMod val="175000"/>
                      <a:alpha val="40000"/>
                    </a:schemeClr>
                  </a:glow>
                </a:effectLst>
                <a:ea typeface="Times New Roman" panose="02020603050405020304" pitchFamily="18" charset="0"/>
                <a:cs typeface="Arial" panose="020B0604020202020204" pitchFamily="34" charset="0"/>
              </a:rPr>
              <a:t>Here flow of data is transformed. </a:t>
            </a:r>
            <a:endParaRPr lang="en-US" altLang="zh-CN" sz="2000" dirty="0">
              <a:solidFill>
                <a:schemeClr val="bg1"/>
              </a:solidFill>
              <a:effectLst>
                <a:glow rad="228600">
                  <a:schemeClr val="accent5">
                    <a:satMod val="175000"/>
                    <a:alpha val="40000"/>
                  </a:schemeClr>
                </a:glow>
              </a:effectLst>
            </a:endParaRPr>
          </a:p>
          <a:p>
            <a:r>
              <a:rPr lang="en-US" altLang="zh-CN" sz="2000" dirty="0">
                <a:solidFill>
                  <a:schemeClr val="bg1"/>
                </a:solidFill>
                <a:effectLst>
                  <a:glow rad="228600">
                    <a:schemeClr val="accent5">
                      <a:satMod val="175000"/>
                      <a:alpha val="40000"/>
                    </a:schemeClr>
                  </a:glow>
                </a:effectLst>
                <a:ea typeface="Calibri" panose="020F0502020204030204" pitchFamily="34" charset="0"/>
                <a:cs typeface="Arial" panose="020B0604020202020204" pitchFamily="34" charset="0"/>
              </a:rPr>
              <a:t>E.g. Update leave Summary File.</a:t>
            </a:r>
            <a:endParaRPr lang="en-US" altLang="zh-CN" sz="2000" dirty="0">
              <a:solidFill>
                <a:schemeClr val="bg1"/>
              </a:solidFill>
              <a:effectLst>
                <a:glow rad="228600">
                  <a:schemeClr val="accent5">
                    <a:satMod val="175000"/>
                    <a:alpha val="40000"/>
                  </a:schemeClr>
                </a:glow>
              </a:effectLst>
            </a:endParaRPr>
          </a:p>
          <a:p>
            <a:endParaRPr lang="en-US" altLang="zh-CN" sz="2000" dirty="0"/>
          </a:p>
        </p:txBody>
      </p:sp>
      <p:sp>
        <p:nvSpPr>
          <p:cNvPr id="23" name="Rectangle 19"/>
          <p:cNvSpPr>
            <a:spLocks noChangeArrowheads="1"/>
          </p:cNvSpPr>
          <p:nvPr/>
        </p:nvSpPr>
        <p:spPr bwMode="auto">
          <a:xfrm>
            <a:off x="1847529" y="325691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Oval 20"/>
          <p:cNvSpPr>
            <a:spLocks noChangeArrowheads="1"/>
          </p:cNvSpPr>
          <p:nvPr/>
        </p:nvSpPr>
        <p:spPr bwMode="auto">
          <a:xfrm>
            <a:off x="5198268" y="3749382"/>
            <a:ext cx="1438275" cy="1314450"/>
          </a:xfrm>
          <a:prstGeom prst="ellipse">
            <a:avLst/>
          </a:prstGeom>
          <a:no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4376039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Data Flow Diagram (DFD)</a:t>
            </a:r>
            <a:endParaRPr lang="en-US" b="1" u="sng" dirty="0">
              <a:solidFill>
                <a:schemeClr val="bg1"/>
              </a:solidFill>
              <a:effectLst>
                <a:glow rad="228600">
                  <a:schemeClr val="accent5">
                    <a:satMod val="175000"/>
                    <a:alpha val="40000"/>
                  </a:schemeClr>
                </a:glow>
              </a:effectLst>
            </a:endParaRPr>
          </a:p>
        </p:txBody>
      </p:sp>
      <p:sp>
        <p:nvSpPr>
          <p:cNvPr id="20" name="Rectangle 19"/>
          <p:cNvSpPr/>
          <p:nvPr/>
        </p:nvSpPr>
        <p:spPr>
          <a:xfrm>
            <a:off x="1703513" y="1556792"/>
            <a:ext cx="3922869" cy="456663"/>
          </a:xfrm>
          <a:prstGeom prst="rect">
            <a:avLst/>
          </a:prstGeom>
        </p:spPr>
        <p:txBody>
          <a:bodyPr wrap="none">
            <a:spAutoFit/>
          </a:bodyPr>
          <a:lstStyle/>
          <a:p>
            <a:pPr marL="342900" indent="-342900">
              <a:lnSpc>
                <a:spcPct val="115000"/>
              </a:lnSpc>
              <a:spcAft>
                <a:spcPts val="1000"/>
              </a:spcAft>
              <a:buFont typeface="Wingdings" panose="05000000000000000000" pitchFamily="2" charset="2"/>
              <a:buChar char=""/>
            </a:pPr>
            <a:r>
              <a:rPr lang="en-US" sz="2200" b="1"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Shruti"/>
              </a:rPr>
              <a:t>Symbols used in DFDs :  </a:t>
            </a:r>
            <a:endParaRPr lang="en-IN" sz="22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Shruti"/>
            </a:endParaRPr>
          </a:p>
        </p:txBody>
      </p:sp>
      <p:sp>
        <p:nvSpPr>
          <p:cNvPr id="23" name="Rectangle 19"/>
          <p:cNvSpPr>
            <a:spLocks noChangeArrowheads="1"/>
          </p:cNvSpPr>
          <p:nvPr/>
        </p:nvSpPr>
        <p:spPr bwMode="auto">
          <a:xfrm>
            <a:off x="1847529" y="325691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2"/>
          <p:cNvSpPr>
            <a:spLocks noChangeArrowheads="1"/>
          </p:cNvSpPr>
          <p:nvPr/>
        </p:nvSpPr>
        <p:spPr bwMode="auto">
          <a:xfrm>
            <a:off x="2135560" y="2296227"/>
            <a:ext cx="820891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zh-CN" sz="2000" b="1" dirty="0">
                <a:solidFill>
                  <a:schemeClr val="bg1"/>
                </a:solidFill>
                <a:effectLst>
                  <a:glow rad="228600">
                    <a:schemeClr val="accent5">
                      <a:satMod val="175000"/>
                      <a:alpha val="40000"/>
                    </a:schemeClr>
                  </a:glow>
                </a:effectLst>
                <a:latin typeface="Arial" panose="020B0604020202020204" pitchFamily="34" charset="0"/>
                <a:ea typeface="Times New Roman" panose="02020603050405020304" pitchFamily="18" charset="0"/>
                <a:cs typeface="Arial" panose="020B0604020202020204" pitchFamily="34" charset="0"/>
              </a:rPr>
              <a:t>2. External Entity: - </a:t>
            </a:r>
            <a:r>
              <a:rPr lang="en-US" altLang="zh-CN" sz="2000" dirty="0">
                <a:solidFill>
                  <a:schemeClr val="bg1"/>
                </a:solidFill>
                <a:effectLst>
                  <a:glow rad="228600">
                    <a:schemeClr val="accent5">
                      <a:satMod val="175000"/>
                      <a:alpha val="40000"/>
                    </a:schemeClr>
                  </a:glow>
                </a:effectLst>
                <a:latin typeface="Arial" panose="020B0604020202020204" pitchFamily="34" charset="0"/>
                <a:ea typeface="Times New Roman" panose="02020603050405020304" pitchFamily="18" charset="0"/>
                <a:cs typeface="Arial" panose="020B0604020202020204" pitchFamily="34" charset="0"/>
              </a:rPr>
              <a:t>A source or destination of data which is external to the system. </a:t>
            </a:r>
            <a:endParaRPr lang="en-US" altLang="zh-CN" sz="2000" dirty="0">
              <a:solidFill>
                <a:schemeClr val="bg1"/>
              </a:solidFill>
              <a:effectLst>
                <a:glow rad="228600">
                  <a:schemeClr val="accent5">
                    <a:satMod val="175000"/>
                    <a:alpha val="40000"/>
                  </a:schemeClr>
                </a:glow>
              </a:effectLst>
            </a:endParaRPr>
          </a:p>
          <a:p>
            <a:pPr eaLnBrk="0" fontAlgn="base" hangingPunct="0">
              <a:spcBef>
                <a:spcPct val="0"/>
              </a:spcBef>
              <a:spcAft>
                <a:spcPct val="0"/>
              </a:spcAft>
            </a:pPr>
            <a:r>
              <a:rPr lang="en-US" altLang="zh-C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E.g. Employee, Patient, etc.</a:t>
            </a:r>
            <a:endParaRPr lang="en-US" altLang="zh-CN" sz="2000" dirty="0">
              <a:solidFill>
                <a:schemeClr val="bg1"/>
              </a:solidFill>
              <a:effectLst>
                <a:glow rad="228600">
                  <a:schemeClr val="accent5">
                    <a:satMod val="175000"/>
                    <a:alpha val="40000"/>
                  </a:schemeClr>
                </a:glow>
              </a:effectLst>
            </a:endParaRPr>
          </a:p>
          <a:p>
            <a:pPr eaLnBrk="0" fontAlgn="base" hangingPunct="0">
              <a:spcBef>
                <a:spcPct val="0"/>
              </a:spcBef>
              <a:spcAft>
                <a:spcPct val="0"/>
              </a:spcAft>
            </a:pPr>
            <a:endParaRPr lang="en-US" altLang="zh-CN" sz="2000" dirty="0">
              <a:latin typeface="Arial" panose="020B0604020202020204" pitchFamily="34" charset="0"/>
            </a:endParaRPr>
          </a:p>
        </p:txBody>
      </p:sp>
      <p:sp>
        <p:nvSpPr>
          <p:cNvPr id="4" name="Rectangle 1"/>
          <p:cNvSpPr>
            <a:spLocks noChangeArrowheads="1"/>
          </p:cNvSpPr>
          <p:nvPr/>
        </p:nvSpPr>
        <p:spPr bwMode="auto">
          <a:xfrm>
            <a:off x="4778656" y="4203747"/>
            <a:ext cx="1695450" cy="809625"/>
          </a:xfrm>
          <a:prstGeom prst="rect">
            <a:avLst/>
          </a:prstGeom>
          <a:no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 name="Rectangle 3"/>
          <p:cNvSpPr>
            <a:spLocks noChangeArrowheads="1"/>
          </p:cNvSpPr>
          <p:nvPr/>
        </p:nvSpPr>
        <p:spPr bwMode="auto">
          <a:xfrm>
            <a:off x="1524001" y="50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28245885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Data Flow Diagram (DFD)</a:t>
            </a:r>
            <a:endParaRPr lang="en-US" b="1" u="sng" dirty="0">
              <a:solidFill>
                <a:schemeClr val="bg1"/>
              </a:solidFill>
              <a:effectLst>
                <a:glow rad="228600">
                  <a:schemeClr val="accent5">
                    <a:satMod val="175000"/>
                    <a:alpha val="40000"/>
                  </a:schemeClr>
                </a:glow>
              </a:effectLst>
            </a:endParaRPr>
          </a:p>
        </p:txBody>
      </p:sp>
      <p:sp>
        <p:nvSpPr>
          <p:cNvPr id="20" name="Rectangle 19"/>
          <p:cNvSpPr/>
          <p:nvPr/>
        </p:nvSpPr>
        <p:spPr>
          <a:xfrm>
            <a:off x="1703513" y="1556792"/>
            <a:ext cx="3922869" cy="456663"/>
          </a:xfrm>
          <a:prstGeom prst="rect">
            <a:avLst/>
          </a:prstGeom>
        </p:spPr>
        <p:txBody>
          <a:bodyPr wrap="none">
            <a:spAutoFit/>
          </a:bodyPr>
          <a:lstStyle/>
          <a:p>
            <a:pPr marL="342900" indent="-342900">
              <a:lnSpc>
                <a:spcPct val="115000"/>
              </a:lnSpc>
              <a:spcAft>
                <a:spcPts val="1000"/>
              </a:spcAft>
              <a:buFont typeface="Wingdings" panose="05000000000000000000" pitchFamily="2" charset="2"/>
              <a:buChar char=""/>
            </a:pPr>
            <a:r>
              <a:rPr lang="en-US" sz="2200" b="1"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Shruti"/>
              </a:rPr>
              <a:t>Symbols used in DFDs :  </a:t>
            </a:r>
            <a:endParaRPr lang="en-IN" sz="22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Shruti"/>
            </a:endParaRPr>
          </a:p>
        </p:txBody>
      </p:sp>
      <p:sp>
        <p:nvSpPr>
          <p:cNvPr id="23" name="Rectangle 19"/>
          <p:cNvSpPr>
            <a:spLocks noChangeArrowheads="1"/>
          </p:cNvSpPr>
          <p:nvPr/>
        </p:nvSpPr>
        <p:spPr bwMode="auto">
          <a:xfrm>
            <a:off x="1847529" y="325691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p:cNvSpPr>
            <a:spLocks noChangeArrowheads="1"/>
          </p:cNvSpPr>
          <p:nvPr/>
        </p:nvSpPr>
        <p:spPr bwMode="auto">
          <a:xfrm>
            <a:off x="1524001" y="50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AutoShape 1"/>
          <p:cNvSpPr>
            <a:spLocks noChangeShapeType="1"/>
          </p:cNvSpPr>
          <p:nvPr/>
        </p:nvSpPr>
        <p:spPr bwMode="auto">
          <a:xfrm>
            <a:off x="3902944" y="3477493"/>
            <a:ext cx="0" cy="914400"/>
          </a:xfrm>
          <a:prstGeom prst="straightConnector1">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3"/>
          <p:cNvSpPr>
            <a:spLocks noChangeShapeType="1"/>
          </p:cNvSpPr>
          <p:nvPr/>
        </p:nvSpPr>
        <p:spPr bwMode="auto">
          <a:xfrm>
            <a:off x="4289465" y="3544168"/>
            <a:ext cx="1227208" cy="0"/>
          </a:xfrm>
          <a:prstGeom prst="straightConnector1">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2"/>
          <p:cNvSpPr>
            <a:spLocks noChangeShapeType="1"/>
          </p:cNvSpPr>
          <p:nvPr/>
        </p:nvSpPr>
        <p:spPr bwMode="auto">
          <a:xfrm flipH="1">
            <a:off x="4289465" y="3877543"/>
            <a:ext cx="1227208" cy="0"/>
          </a:xfrm>
          <a:prstGeom prst="straightConnector1">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5"/>
          <p:cNvSpPr>
            <a:spLocks noChangeArrowheads="1"/>
          </p:cNvSpPr>
          <p:nvPr/>
        </p:nvSpPr>
        <p:spPr bwMode="auto">
          <a:xfrm>
            <a:off x="2024035" y="2630433"/>
            <a:ext cx="92801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000" b="1"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3. Data Flow: - </a:t>
            </a:r>
            <a:r>
              <a:rPr lang="en-US" altLang="en-US"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It is packet of data. It may be in the form of document, letter etc. </a:t>
            </a:r>
            <a:endParaRPr lang="en-US" altLang="en-US" sz="2000" dirty="0">
              <a:solidFill>
                <a:schemeClr val="bg1"/>
              </a:solidFill>
              <a:effectLst>
                <a:glow rad="228600">
                  <a:schemeClr val="accent5">
                    <a:satMod val="175000"/>
                    <a:alpha val="40000"/>
                  </a:schemeClr>
                </a:glow>
              </a:effectLst>
            </a:endParaRPr>
          </a:p>
          <a:p>
            <a:pPr eaLnBrk="0" fontAlgn="base" hangingPunct="0">
              <a:spcBef>
                <a:spcPct val="0"/>
              </a:spcBef>
              <a:spcAft>
                <a:spcPct val="0"/>
              </a:spcAft>
            </a:pPr>
            <a:endParaRPr lang="en-US" altLang="en-US" sz="2000" dirty="0">
              <a:latin typeface="Arial" panose="020B0604020202020204" pitchFamily="34" charset="0"/>
            </a:endParaRPr>
          </a:p>
        </p:txBody>
      </p:sp>
      <p:sp>
        <p:nvSpPr>
          <p:cNvPr id="11" name="Rectangle 6"/>
          <p:cNvSpPr>
            <a:spLocks noChangeArrowheads="1"/>
          </p:cNvSpPr>
          <p:nvPr/>
        </p:nvSpPr>
        <p:spPr bwMode="auto">
          <a:xfrm>
            <a:off x="2024035" y="325691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4103" name="AutoShape 7"/>
          <p:cNvCxnSpPr>
            <a:cxnSpLocks noChangeShapeType="1"/>
          </p:cNvCxnSpPr>
          <p:nvPr/>
        </p:nvCxnSpPr>
        <p:spPr bwMode="auto">
          <a:xfrm flipV="1">
            <a:off x="3340646" y="3501008"/>
            <a:ext cx="19050" cy="914400"/>
          </a:xfrm>
          <a:prstGeom prst="straightConnector1">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6588975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4034" y="500042"/>
            <a:ext cx="7786742" cy="523220"/>
          </a:xfrm>
          <a:prstGeom prst="rect">
            <a:avLst/>
          </a:prstGeom>
          <a:noFill/>
        </p:spPr>
        <p:txBody>
          <a:bodyPr wrap="square" rtlCol="0">
            <a:spAutoFit/>
          </a:bodyPr>
          <a:lstStyle/>
          <a:p>
            <a:pPr algn="ctr"/>
            <a:r>
              <a:rPr lang="en-IN" sz="2800" b="1" u="sng" dirty="0">
                <a:solidFill>
                  <a:schemeClr val="bg1"/>
                </a:solidFill>
                <a:effectLst>
                  <a:glow rad="228600">
                    <a:schemeClr val="accent5">
                      <a:satMod val="175000"/>
                      <a:alpha val="40000"/>
                    </a:schemeClr>
                  </a:glow>
                </a:effectLst>
              </a:rPr>
              <a:t>Data Flow Diagram (DFD)</a:t>
            </a:r>
            <a:endParaRPr lang="en-US" b="1" u="sng" dirty="0">
              <a:solidFill>
                <a:schemeClr val="bg1"/>
              </a:solidFill>
              <a:effectLst>
                <a:glow rad="228600">
                  <a:schemeClr val="accent5">
                    <a:satMod val="175000"/>
                    <a:alpha val="40000"/>
                  </a:schemeClr>
                </a:glow>
              </a:effectLst>
            </a:endParaRPr>
          </a:p>
        </p:txBody>
      </p:sp>
      <p:sp>
        <p:nvSpPr>
          <p:cNvPr id="20" name="Rectangle 19"/>
          <p:cNvSpPr/>
          <p:nvPr/>
        </p:nvSpPr>
        <p:spPr>
          <a:xfrm>
            <a:off x="1703513" y="1556792"/>
            <a:ext cx="3922869" cy="456663"/>
          </a:xfrm>
          <a:prstGeom prst="rect">
            <a:avLst/>
          </a:prstGeom>
        </p:spPr>
        <p:txBody>
          <a:bodyPr wrap="none">
            <a:spAutoFit/>
          </a:bodyPr>
          <a:lstStyle/>
          <a:p>
            <a:pPr marL="342900" indent="-342900">
              <a:lnSpc>
                <a:spcPct val="115000"/>
              </a:lnSpc>
              <a:spcAft>
                <a:spcPts val="1000"/>
              </a:spcAft>
              <a:buFont typeface="Wingdings" panose="05000000000000000000" pitchFamily="2" charset="2"/>
              <a:buChar char=""/>
            </a:pPr>
            <a:r>
              <a:rPr lang="en-US" sz="2200" b="1"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Shruti"/>
              </a:rPr>
              <a:t>Symbols used in DFDs :  </a:t>
            </a:r>
            <a:endParaRPr lang="en-IN" sz="22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Shruti"/>
            </a:endParaRPr>
          </a:p>
        </p:txBody>
      </p:sp>
      <p:sp>
        <p:nvSpPr>
          <p:cNvPr id="23" name="Rectangle 19"/>
          <p:cNvSpPr>
            <a:spLocks noChangeArrowheads="1"/>
          </p:cNvSpPr>
          <p:nvPr/>
        </p:nvSpPr>
        <p:spPr bwMode="auto">
          <a:xfrm>
            <a:off x="1847529" y="325691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p:cNvSpPr>
            <a:spLocks noChangeArrowheads="1"/>
          </p:cNvSpPr>
          <p:nvPr/>
        </p:nvSpPr>
        <p:spPr bwMode="auto">
          <a:xfrm>
            <a:off x="1524001" y="50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AutoShape 1"/>
          <p:cNvSpPr>
            <a:spLocks noChangeShapeType="1"/>
          </p:cNvSpPr>
          <p:nvPr/>
        </p:nvSpPr>
        <p:spPr bwMode="auto">
          <a:xfrm>
            <a:off x="3283279" y="5430214"/>
            <a:ext cx="2468364" cy="0"/>
          </a:xfrm>
          <a:prstGeom prst="straightConnector1">
            <a:avLst/>
          </a:prstGeom>
          <a:noFill/>
          <a:ln w="9525">
            <a:solidFill>
              <a:schemeClr val="bg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effectLst>
                <a:glow rad="228600">
                  <a:schemeClr val="accent5">
                    <a:satMod val="175000"/>
                    <a:alpha val="40000"/>
                  </a:schemeClr>
                </a:glow>
              </a:effectLst>
            </a:endParaRPr>
          </a:p>
        </p:txBody>
      </p:sp>
      <p:sp>
        <p:nvSpPr>
          <p:cNvPr id="12" name="Rectangle 4"/>
          <p:cNvSpPr>
            <a:spLocks noChangeArrowheads="1"/>
          </p:cNvSpPr>
          <p:nvPr/>
        </p:nvSpPr>
        <p:spPr bwMode="auto">
          <a:xfrm>
            <a:off x="1873394" y="325691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6"/>
          <p:cNvSpPr/>
          <p:nvPr/>
        </p:nvSpPr>
        <p:spPr>
          <a:xfrm>
            <a:off x="2024034" y="2610579"/>
            <a:ext cx="8549176" cy="646331"/>
          </a:xfrm>
          <a:prstGeom prst="rect">
            <a:avLst/>
          </a:prstGeom>
        </p:spPr>
        <p:txBody>
          <a:bodyPr wrap="square">
            <a:spAutoFit/>
          </a:bodyPr>
          <a:lstStyle/>
          <a:p>
            <a:pPr eaLnBrk="0" fontAlgn="base" hangingPunct="0">
              <a:spcBef>
                <a:spcPct val="0"/>
              </a:spcBef>
              <a:spcAft>
                <a:spcPct val="0"/>
              </a:spcAft>
            </a:pPr>
            <a:r>
              <a:rPr lang="en-US" altLang="zh-CN" b="1" dirty="0">
                <a:solidFill>
                  <a:schemeClr val="bg1"/>
                </a:solidFill>
                <a:effectLst>
                  <a:glow rad="228600">
                    <a:schemeClr val="accent5">
                      <a:satMod val="175000"/>
                      <a:alpha val="40000"/>
                    </a:schemeClr>
                  </a:glow>
                </a:effectLst>
                <a:latin typeface="Arial" panose="020B0604020202020204" pitchFamily="34" charset="0"/>
                <a:ea typeface="Times New Roman" panose="02020603050405020304" pitchFamily="18" charset="0"/>
                <a:cs typeface="Arial" panose="020B0604020202020204" pitchFamily="34" charset="0"/>
              </a:rPr>
              <a:t>4. Data Store: - </a:t>
            </a:r>
            <a:r>
              <a:rPr lang="en-US" altLang="zh-CN" dirty="0">
                <a:solidFill>
                  <a:schemeClr val="bg1"/>
                </a:solidFill>
                <a:effectLst>
                  <a:glow rad="228600">
                    <a:schemeClr val="accent5">
                      <a:satMod val="175000"/>
                      <a:alpha val="40000"/>
                    </a:schemeClr>
                  </a:glow>
                </a:effectLst>
                <a:latin typeface="Arial" panose="020B0604020202020204" pitchFamily="34" charset="0"/>
                <a:ea typeface="Times New Roman" panose="02020603050405020304" pitchFamily="18" charset="0"/>
                <a:cs typeface="Arial" panose="020B0604020202020204" pitchFamily="34" charset="0"/>
              </a:rPr>
              <a:t>Any store data but with no reference to the physical method of storing. </a:t>
            </a:r>
            <a:endParaRPr lang="en-US" altLang="zh-CN" dirty="0">
              <a:solidFill>
                <a:schemeClr val="bg1"/>
              </a:solidFill>
              <a:effectLst>
                <a:glow rad="228600">
                  <a:schemeClr val="accent5">
                    <a:satMod val="175000"/>
                    <a:alpha val="40000"/>
                  </a:schemeClr>
                </a:glow>
              </a:effectLst>
            </a:endParaRPr>
          </a:p>
        </p:txBody>
      </p:sp>
      <p:sp>
        <p:nvSpPr>
          <p:cNvPr id="17" name="AutoShape 1"/>
          <p:cNvSpPr>
            <a:spLocks noChangeShapeType="1"/>
          </p:cNvSpPr>
          <p:nvPr/>
        </p:nvSpPr>
        <p:spPr bwMode="auto">
          <a:xfrm>
            <a:off x="3291986" y="4420019"/>
            <a:ext cx="2468364" cy="0"/>
          </a:xfrm>
          <a:prstGeom prst="straightConnector1">
            <a:avLst/>
          </a:prstGeom>
          <a:noFill/>
          <a:ln w="9525">
            <a:solidFill>
              <a:schemeClr val="bg1"/>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effectLst>
                <a:glow rad="228600">
                  <a:schemeClr val="accent5">
                    <a:satMod val="175000"/>
                    <a:alpha val="40000"/>
                  </a:schemeClr>
                </a:glow>
              </a:effectLst>
            </a:endParaRPr>
          </a:p>
        </p:txBody>
      </p:sp>
      <p:cxnSp>
        <p:nvCxnSpPr>
          <p:cNvPr id="15" name="Straight Connector 14"/>
          <p:cNvCxnSpPr/>
          <p:nvPr/>
        </p:nvCxnSpPr>
        <p:spPr>
          <a:xfrm>
            <a:off x="3291986" y="4420019"/>
            <a:ext cx="0" cy="10101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15710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3626" y="548680"/>
            <a:ext cx="3602269" cy="523220"/>
          </a:xfrm>
          <a:prstGeom prst="rect">
            <a:avLst/>
          </a:prstGeom>
        </p:spPr>
        <p:txBody>
          <a:bodyPr wrap="none">
            <a:spAutoFit/>
          </a:bodyPr>
          <a:lstStyle/>
          <a:p>
            <a:pPr lvl="0" algn="ctr" fontAlgn="base">
              <a:spcBef>
                <a:spcPct val="0"/>
              </a:spcBef>
              <a:spcAft>
                <a:spcPct val="0"/>
              </a:spcAft>
            </a:pPr>
            <a:r>
              <a:rPr lang="en-US" sz="2800" b="1" u="sng" dirty="0">
                <a:solidFill>
                  <a:schemeClr val="bg1"/>
                </a:solidFill>
                <a:effectLst>
                  <a:glow rad="228600">
                    <a:schemeClr val="accent5">
                      <a:satMod val="175000"/>
                      <a:alpha val="40000"/>
                    </a:schemeClr>
                  </a:glow>
                </a:effectLst>
                <a:latin typeface="Arial" pitchFamily="34" charset="0"/>
                <a:ea typeface="Calibri" pitchFamily="34" charset="0"/>
                <a:cs typeface="Arial" pitchFamily="34" charset="0"/>
              </a:rPr>
              <a:t>Context Level DFD</a:t>
            </a:r>
            <a:r>
              <a:rPr lang="en-US" sz="2800" b="1" dirty="0">
                <a:solidFill>
                  <a:schemeClr val="bg1"/>
                </a:solidFill>
                <a:effectLst>
                  <a:glow rad="228600">
                    <a:schemeClr val="accent5">
                      <a:satMod val="175000"/>
                      <a:alpha val="40000"/>
                    </a:schemeClr>
                  </a:glow>
                </a:effectLst>
                <a:latin typeface="Arial" pitchFamily="34" charset="0"/>
                <a:ea typeface="Calibri" pitchFamily="34" charset="0"/>
                <a:cs typeface="Arial" pitchFamily="34" charset="0"/>
              </a:rPr>
              <a:t> :</a:t>
            </a:r>
            <a:endParaRPr lang="en-US" sz="2800" dirty="0">
              <a:solidFill>
                <a:schemeClr val="bg1"/>
              </a:solidFill>
              <a:effectLst>
                <a:glow rad="228600">
                  <a:schemeClr val="accent5">
                    <a:satMod val="175000"/>
                    <a:alpha val="40000"/>
                  </a:schemeClr>
                </a:glow>
              </a:effectLst>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2487613" y="1714501"/>
            <a:ext cx="6985000" cy="4426009"/>
          </a:xfrm>
          <a:prstGeom prst="rect">
            <a:avLst/>
          </a:prstGeom>
          <a:noFill/>
          <a:ln w="9525">
            <a:noFill/>
            <a:miter lim="800000"/>
            <a:headEnd/>
            <a:tailEnd/>
          </a:ln>
          <a:effectLst/>
        </p:spPr>
      </p:pic>
    </p:spTree>
    <p:extLst>
      <p:ext uri="{BB962C8B-B14F-4D97-AF65-F5344CB8AC3E}">
        <p14:creationId xmlns:p14="http://schemas.microsoft.com/office/powerpoint/2010/main" val="123161619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498347"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(Admin) Zero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cxnSp>
        <p:nvCxnSpPr>
          <p:cNvPr id="4" name="Straight Arrow Connector 3"/>
          <p:cNvCxnSpPr/>
          <p:nvPr/>
        </p:nvCxnSpPr>
        <p:spPr>
          <a:xfrm flipH="1">
            <a:off x="6524978" y="1862667"/>
            <a:ext cx="1" cy="3160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050" name="Picture 2"/>
          <p:cNvPicPr>
            <a:picLocks noChangeAspect="1" noChangeArrowheads="1"/>
          </p:cNvPicPr>
          <p:nvPr/>
        </p:nvPicPr>
        <p:blipFill>
          <a:blip r:embed="rId2"/>
          <a:srcRect/>
          <a:stretch>
            <a:fillRect/>
          </a:stretch>
        </p:blipFill>
        <p:spPr bwMode="auto">
          <a:xfrm>
            <a:off x="4192586" y="933450"/>
            <a:ext cx="4265613" cy="5743907"/>
          </a:xfrm>
          <a:prstGeom prst="rect">
            <a:avLst/>
          </a:prstGeom>
          <a:noFill/>
          <a:ln w="9525">
            <a:noFill/>
            <a:miter lim="800000"/>
            <a:headEnd/>
            <a:tailEnd/>
          </a:ln>
          <a:effectLst/>
        </p:spPr>
      </p:pic>
    </p:spTree>
    <p:extLst>
      <p:ext uri="{BB962C8B-B14F-4D97-AF65-F5344CB8AC3E}">
        <p14:creationId xmlns:p14="http://schemas.microsoft.com/office/powerpoint/2010/main" val="304336728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194051"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(Admin)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3025399" y="1292341"/>
            <a:ext cx="1697901" cy="553998"/>
          </a:xfrm>
          <a:prstGeom prst="rect">
            <a:avLst/>
          </a:prstGeom>
        </p:spPr>
        <p:txBody>
          <a:bodyPr wrap="none">
            <a:spAutoFit/>
          </a:bodyPr>
          <a:lstStyle/>
          <a:p>
            <a:pPr marL="285750" indent="-285750">
              <a:lnSpc>
                <a:spcPct val="150000"/>
              </a:lnSpc>
              <a:spcAft>
                <a:spcPts val="800"/>
              </a:spcAft>
              <a:buFont typeface="Wingdings" panose="05000000000000000000" pitchFamily="2" charset="2"/>
              <a:buChar char="Ø"/>
            </a:pPr>
            <a:r>
              <a:rPr lang="en-US"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1.0 </a:t>
            </a:r>
            <a:r>
              <a:rPr lang="en-US"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Login</a:t>
            </a:r>
            <a:r>
              <a:rPr lang="en-US"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 :</a:t>
            </a:r>
            <a:endParaRPr lang="en-IN" sz="16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3074" name="Picture 2"/>
          <p:cNvPicPr>
            <a:picLocks noChangeAspect="1" noChangeArrowheads="1"/>
          </p:cNvPicPr>
          <p:nvPr/>
        </p:nvPicPr>
        <p:blipFill>
          <a:blip r:embed="rId2"/>
          <a:srcRect/>
          <a:stretch>
            <a:fillRect/>
          </a:stretch>
        </p:blipFill>
        <p:spPr bwMode="auto">
          <a:xfrm>
            <a:off x="3144838" y="2233609"/>
            <a:ext cx="6456959" cy="3952875"/>
          </a:xfrm>
          <a:prstGeom prst="rect">
            <a:avLst/>
          </a:prstGeom>
          <a:noFill/>
          <a:ln w="9525">
            <a:noFill/>
            <a:miter lim="800000"/>
            <a:headEnd/>
            <a:tailEnd/>
          </a:ln>
          <a:effectLst/>
        </p:spPr>
      </p:pic>
    </p:spTree>
    <p:extLst>
      <p:ext uri="{BB962C8B-B14F-4D97-AF65-F5344CB8AC3E}">
        <p14:creationId xmlns:p14="http://schemas.microsoft.com/office/powerpoint/2010/main" val="287441201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194051"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(Admin)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2396399" y="1168109"/>
            <a:ext cx="3440494"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2.0 Manage Admission :</a:t>
            </a:r>
            <a:endParaRPr lang="en-IN" sz="2000"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4098" name="Picture 2"/>
          <p:cNvPicPr>
            <a:picLocks noChangeAspect="1" noChangeArrowheads="1"/>
          </p:cNvPicPr>
          <p:nvPr/>
        </p:nvPicPr>
        <p:blipFill>
          <a:blip r:embed="rId2"/>
          <a:srcRect/>
          <a:stretch>
            <a:fillRect/>
          </a:stretch>
        </p:blipFill>
        <p:spPr bwMode="auto">
          <a:xfrm>
            <a:off x="2444750" y="1995488"/>
            <a:ext cx="7948044" cy="4233862"/>
          </a:xfrm>
          <a:prstGeom prst="rect">
            <a:avLst/>
          </a:prstGeom>
          <a:noFill/>
          <a:ln w="9525">
            <a:noFill/>
            <a:miter lim="800000"/>
            <a:headEnd/>
            <a:tailEnd/>
          </a:ln>
          <a:effectLst/>
        </p:spPr>
      </p:pic>
    </p:spTree>
    <p:extLst>
      <p:ext uri="{BB962C8B-B14F-4D97-AF65-F5344CB8AC3E}">
        <p14:creationId xmlns:p14="http://schemas.microsoft.com/office/powerpoint/2010/main" val="373987470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194051"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(Admin)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2430948" y="927730"/>
            <a:ext cx="3094117"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3.0 Manage Student :</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2473812" y="1549430"/>
            <a:ext cx="6835923" cy="5257469"/>
          </a:xfrm>
          <a:prstGeom prst="rect">
            <a:avLst/>
          </a:prstGeom>
        </p:spPr>
      </p:pic>
    </p:spTree>
    <p:extLst>
      <p:ext uri="{BB962C8B-B14F-4D97-AF65-F5344CB8AC3E}">
        <p14:creationId xmlns:p14="http://schemas.microsoft.com/office/powerpoint/2010/main" val="246630298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194051"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(Admin) First Level DFD </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2054535" y="931338"/>
            <a:ext cx="3466013"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4.0 Manage </a:t>
            </a:r>
            <a:r>
              <a:rPr lang="en-US"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Feedbacks </a:t>
            </a: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5122" name="Picture 2"/>
          <p:cNvPicPr>
            <a:picLocks noChangeAspect="1" noChangeArrowheads="1"/>
          </p:cNvPicPr>
          <p:nvPr/>
        </p:nvPicPr>
        <p:blipFill>
          <a:blip r:embed="rId2"/>
          <a:srcRect/>
          <a:stretch>
            <a:fillRect/>
          </a:stretch>
        </p:blipFill>
        <p:spPr bwMode="auto">
          <a:xfrm>
            <a:off x="2154236" y="1866900"/>
            <a:ext cx="7632701" cy="4148896"/>
          </a:xfrm>
          <a:prstGeom prst="rect">
            <a:avLst/>
          </a:prstGeom>
          <a:noFill/>
          <a:ln w="9525">
            <a:noFill/>
            <a:miter lim="800000"/>
            <a:headEnd/>
            <a:tailEnd/>
          </a:ln>
          <a:effectLst/>
        </p:spPr>
      </p:pic>
    </p:spTree>
    <p:extLst>
      <p:ext uri="{BB962C8B-B14F-4D97-AF65-F5344CB8AC3E}">
        <p14:creationId xmlns:p14="http://schemas.microsoft.com/office/powerpoint/2010/main" val="273020934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194051"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(Admin) First Level DFD </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2165593" y="1183341"/>
            <a:ext cx="3522118"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5.0 Manage </a:t>
            </a:r>
            <a:r>
              <a:rPr lang="en-US"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Contact US </a:t>
            </a: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cxnSp>
        <p:nvCxnSpPr>
          <p:cNvPr id="6" name="Straight Arrow Connector 5"/>
          <p:cNvCxnSpPr/>
          <p:nvPr/>
        </p:nvCxnSpPr>
        <p:spPr>
          <a:xfrm>
            <a:off x="6254045" y="2765778"/>
            <a:ext cx="0" cy="2483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6225823" y="4374445"/>
            <a:ext cx="0" cy="2257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6146" name="Picture 2"/>
          <p:cNvPicPr>
            <a:picLocks noChangeAspect="1" noChangeArrowheads="1"/>
          </p:cNvPicPr>
          <p:nvPr/>
        </p:nvPicPr>
        <p:blipFill>
          <a:blip r:embed="rId2"/>
          <a:srcRect/>
          <a:stretch>
            <a:fillRect/>
          </a:stretch>
        </p:blipFill>
        <p:spPr bwMode="auto">
          <a:xfrm>
            <a:off x="2363788" y="2028825"/>
            <a:ext cx="7905750" cy="4000500"/>
          </a:xfrm>
          <a:prstGeom prst="rect">
            <a:avLst/>
          </a:prstGeom>
          <a:noFill/>
          <a:ln w="9525">
            <a:noFill/>
            <a:miter lim="800000"/>
            <a:headEnd/>
            <a:tailEnd/>
          </a:ln>
          <a:effectLst/>
        </p:spPr>
      </p:pic>
    </p:spTree>
    <p:extLst>
      <p:ext uri="{BB962C8B-B14F-4D97-AF65-F5344CB8AC3E}">
        <p14:creationId xmlns:p14="http://schemas.microsoft.com/office/powerpoint/2010/main" val="206257144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400564" cy="523220"/>
          </a:xfrm>
          <a:prstGeom prst="rect">
            <a:avLst/>
          </a:prstGeom>
        </p:spPr>
        <p:txBody>
          <a:bodyPr wrap="none">
            <a:spAutoFit/>
          </a:bodyPr>
          <a:lstStyle/>
          <a:p>
            <a:pPr lvl="0"/>
            <a:r>
              <a:rPr lang="en-US" sz="28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(Guest) </a:t>
            </a:r>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Zero Level DFD </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7170" name="Picture 2"/>
          <p:cNvPicPr>
            <a:picLocks noChangeAspect="1" noChangeArrowheads="1"/>
          </p:cNvPicPr>
          <p:nvPr/>
        </p:nvPicPr>
        <p:blipFill>
          <a:blip r:embed="rId2"/>
          <a:srcRect/>
          <a:stretch>
            <a:fillRect/>
          </a:stretch>
        </p:blipFill>
        <p:spPr bwMode="auto">
          <a:xfrm>
            <a:off x="3287712" y="1238250"/>
            <a:ext cx="6599238" cy="5357176"/>
          </a:xfrm>
          <a:prstGeom prst="rect">
            <a:avLst/>
          </a:prstGeom>
          <a:noFill/>
          <a:ln w="9525">
            <a:noFill/>
            <a:miter lim="800000"/>
            <a:headEnd/>
            <a:tailEnd/>
          </a:ln>
          <a:effectLst/>
        </p:spPr>
      </p:pic>
    </p:spTree>
    <p:extLst>
      <p:ext uri="{BB962C8B-B14F-4D97-AF65-F5344CB8AC3E}">
        <p14:creationId xmlns:p14="http://schemas.microsoft.com/office/powerpoint/2010/main" val="263110588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096267" cy="523220"/>
          </a:xfrm>
          <a:prstGeom prst="rect">
            <a:avLst/>
          </a:prstGeom>
        </p:spPr>
        <p:txBody>
          <a:bodyPr wrap="none">
            <a:spAutoFit/>
          </a:bodyPr>
          <a:lstStyle/>
          <a:p>
            <a:pPr lvl="0"/>
            <a:r>
              <a:rPr lang="en-US" sz="28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(Guest) </a:t>
            </a:r>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First Level DFD </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1480186" y="1257782"/>
            <a:ext cx="3600922" cy="553998"/>
          </a:xfrm>
          <a:prstGeom prst="rect">
            <a:avLst/>
          </a:prstGeom>
        </p:spPr>
        <p:txBody>
          <a:bodyPr wrap="none">
            <a:spAutoFit/>
          </a:bodyPr>
          <a:lstStyle/>
          <a:p>
            <a:pPr marL="342900" indent="-342900">
              <a:lnSpc>
                <a:spcPct val="150000"/>
              </a:lnSpc>
              <a:spcAft>
                <a:spcPts val="800"/>
              </a:spcAft>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1.0 </a:t>
            </a:r>
            <a:r>
              <a:rPr lang="en-US"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Apply for Admission </a:t>
            </a:r>
            <a:r>
              <a:rPr lang="en-US"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8194" name="Picture 2"/>
          <p:cNvPicPr>
            <a:picLocks noChangeAspect="1" noChangeArrowheads="1"/>
          </p:cNvPicPr>
          <p:nvPr/>
        </p:nvPicPr>
        <p:blipFill>
          <a:blip r:embed="rId2"/>
          <a:srcRect/>
          <a:stretch>
            <a:fillRect/>
          </a:stretch>
        </p:blipFill>
        <p:spPr bwMode="auto">
          <a:xfrm>
            <a:off x="1644649" y="2347911"/>
            <a:ext cx="8503387" cy="2881313"/>
          </a:xfrm>
          <a:prstGeom prst="rect">
            <a:avLst/>
          </a:prstGeom>
          <a:noFill/>
          <a:ln w="9525">
            <a:noFill/>
            <a:miter lim="800000"/>
            <a:headEnd/>
            <a:tailEnd/>
          </a:ln>
          <a:effectLst/>
        </p:spPr>
      </p:pic>
    </p:spTree>
    <p:extLst>
      <p:ext uri="{BB962C8B-B14F-4D97-AF65-F5344CB8AC3E}">
        <p14:creationId xmlns:p14="http://schemas.microsoft.com/office/powerpoint/2010/main" val="25760553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5096267" cy="523220"/>
          </a:xfrm>
          <a:prstGeom prst="rect">
            <a:avLst/>
          </a:prstGeom>
        </p:spPr>
        <p:txBody>
          <a:bodyPr wrap="none">
            <a:spAutoFit/>
          </a:bodyPr>
          <a:lstStyle/>
          <a:p>
            <a:pPr lvl="0"/>
            <a:r>
              <a:rPr lang="en-US" sz="28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(Guest) </a:t>
            </a:r>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First Level DFD </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1773024" y="1205666"/>
            <a:ext cx="2922595"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2.0 </a:t>
            </a:r>
            <a:r>
              <a:rPr lang="en-US"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Give Feedback </a:t>
            </a: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9218" name="Picture 2"/>
          <p:cNvPicPr>
            <a:picLocks noChangeAspect="1" noChangeArrowheads="1"/>
          </p:cNvPicPr>
          <p:nvPr/>
        </p:nvPicPr>
        <p:blipFill>
          <a:blip r:embed="rId2"/>
          <a:srcRect/>
          <a:stretch>
            <a:fillRect/>
          </a:stretch>
        </p:blipFill>
        <p:spPr bwMode="auto">
          <a:xfrm>
            <a:off x="1844675" y="2247900"/>
            <a:ext cx="8213566" cy="2681288"/>
          </a:xfrm>
          <a:prstGeom prst="rect">
            <a:avLst/>
          </a:prstGeom>
          <a:noFill/>
          <a:ln w="9525">
            <a:noFill/>
            <a:miter lim="800000"/>
            <a:headEnd/>
            <a:tailEnd/>
          </a:ln>
          <a:effectLst/>
        </p:spPr>
      </p:pic>
    </p:spTree>
    <p:extLst>
      <p:ext uri="{BB962C8B-B14F-4D97-AF65-F5344CB8AC3E}">
        <p14:creationId xmlns:p14="http://schemas.microsoft.com/office/powerpoint/2010/main" val="296362666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400564" cy="523220"/>
          </a:xfrm>
          <a:prstGeom prst="rect">
            <a:avLst/>
          </a:prstGeom>
        </p:spPr>
        <p:txBody>
          <a:bodyPr wrap="none">
            <a:spAutoFit/>
          </a:bodyPr>
          <a:lstStyle/>
          <a:p>
            <a:pPr lvl="0"/>
            <a:r>
              <a:rPr lang="en-US" sz="28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(Guest) </a:t>
            </a:r>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1404420" y="1569937"/>
            <a:ext cx="2496196"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3.0 </a:t>
            </a:r>
            <a:r>
              <a:rPr lang="en-US"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Contact US </a:t>
            </a: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6" name="Picture 3"/>
          <p:cNvPicPr>
            <a:picLocks noChangeAspect="1" noChangeArrowheads="1"/>
          </p:cNvPicPr>
          <p:nvPr/>
        </p:nvPicPr>
        <p:blipFill>
          <a:blip r:embed="rId2"/>
          <a:srcRect/>
          <a:stretch>
            <a:fillRect/>
          </a:stretch>
        </p:blipFill>
        <p:spPr bwMode="auto">
          <a:xfrm>
            <a:off x="1468453" y="2700336"/>
            <a:ext cx="9022144" cy="3014663"/>
          </a:xfrm>
          <a:prstGeom prst="rect">
            <a:avLst/>
          </a:prstGeom>
          <a:noFill/>
          <a:ln w="9525">
            <a:noFill/>
            <a:miter lim="800000"/>
            <a:headEnd/>
            <a:tailEnd/>
          </a:ln>
          <a:effectLst/>
        </p:spPr>
      </p:pic>
    </p:spTree>
    <p:extLst>
      <p:ext uri="{BB962C8B-B14F-4D97-AF65-F5344CB8AC3E}">
        <p14:creationId xmlns:p14="http://schemas.microsoft.com/office/powerpoint/2010/main" val="67961355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719562"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(Student) Zero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27649" name="Picture 1"/>
          <p:cNvPicPr>
            <a:picLocks noChangeAspect="1" noChangeArrowheads="1"/>
          </p:cNvPicPr>
          <p:nvPr/>
        </p:nvPicPr>
        <p:blipFill>
          <a:blip r:embed="rId2"/>
          <a:srcRect/>
          <a:stretch>
            <a:fillRect/>
          </a:stretch>
        </p:blipFill>
        <p:spPr bwMode="auto">
          <a:xfrm>
            <a:off x="4116618" y="1147086"/>
            <a:ext cx="4737100" cy="5392231"/>
          </a:xfrm>
          <a:prstGeom prst="rect">
            <a:avLst/>
          </a:prstGeom>
          <a:noFill/>
          <a:ln w="9525">
            <a:noFill/>
            <a:miter lim="800000"/>
            <a:headEnd/>
            <a:tailEnd/>
          </a:ln>
          <a:effectLst/>
        </p:spPr>
      </p:pic>
    </p:spTree>
    <p:extLst>
      <p:ext uri="{BB962C8B-B14F-4D97-AF65-F5344CB8AC3E}">
        <p14:creationId xmlns:p14="http://schemas.microsoft.com/office/powerpoint/2010/main" val="262872037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719562"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(Student)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1870635" y="1233155"/>
            <a:ext cx="1811714"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1.0 Login</a:t>
            </a:r>
            <a:r>
              <a:rPr lang="en-US"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11266" name="Picture 2"/>
          <p:cNvPicPr>
            <a:picLocks noChangeAspect="1" noChangeArrowheads="1"/>
          </p:cNvPicPr>
          <p:nvPr/>
        </p:nvPicPr>
        <p:blipFill>
          <a:blip r:embed="rId2"/>
          <a:srcRect/>
          <a:stretch>
            <a:fillRect/>
          </a:stretch>
        </p:blipFill>
        <p:spPr bwMode="auto">
          <a:xfrm>
            <a:off x="2563813" y="2162174"/>
            <a:ext cx="7323709" cy="4124325"/>
          </a:xfrm>
          <a:prstGeom prst="rect">
            <a:avLst/>
          </a:prstGeom>
          <a:noFill/>
          <a:ln w="9525">
            <a:noFill/>
            <a:miter lim="800000"/>
            <a:headEnd/>
            <a:tailEnd/>
          </a:ln>
          <a:effectLst/>
        </p:spPr>
      </p:pic>
    </p:spTree>
    <p:extLst>
      <p:ext uri="{BB962C8B-B14F-4D97-AF65-F5344CB8AC3E}">
        <p14:creationId xmlns:p14="http://schemas.microsoft.com/office/powerpoint/2010/main" val="39357580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719562"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(Student)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2446121" y="1173120"/>
            <a:ext cx="3344377" cy="400110"/>
          </a:xfrm>
          <a:prstGeom prst="rect">
            <a:avLst/>
          </a:prstGeom>
        </p:spPr>
        <p:txBody>
          <a:bodyPr wrap="none">
            <a:spAutoFit/>
          </a:bodyPr>
          <a:lstStyle/>
          <a:p>
            <a:pPr marL="342900" indent="-342900">
              <a:buFont typeface="Wingdings" panose="05000000000000000000" pitchFamily="2" charset="2"/>
              <a:buChar char="Ø"/>
            </a:pPr>
            <a:r>
              <a:rPr lang="en-US" sz="20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2.0 View Student Data</a:t>
            </a:r>
            <a:r>
              <a:rPr lang="en-US"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12290" name="Picture 2"/>
          <p:cNvPicPr>
            <a:picLocks noChangeAspect="1" noChangeArrowheads="1"/>
          </p:cNvPicPr>
          <p:nvPr/>
        </p:nvPicPr>
        <p:blipFill>
          <a:blip r:embed="rId2"/>
          <a:srcRect/>
          <a:stretch>
            <a:fillRect/>
          </a:stretch>
        </p:blipFill>
        <p:spPr bwMode="auto">
          <a:xfrm>
            <a:off x="2563813" y="1866900"/>
            <a:ext cx="7044631" cy="4433888"/>
          </a:xfrm>
          <a:prstGeom prst="rect">
            <a:avLst/>
          </a:prstGeom>
          <a:noFill/>
          <a:ln w="9525">
            <a:noFill/>
            <a:miter lim="800000"/>
            <a:headEnd/>
            <a:tailEnd/>
          </a:ln>
          <a:effectLst/>
        </p:spPr>
      </p:pic>
    </p:spTree>
    <p:extLst>
      <p:ext uri="{BB962C8B-B14F-4D97-AF65-F5344CB8AC3E}">
        <p14:creationId xmlns:p14="http://schemas.microsoft.com/office/powerpoint/2010/main" val="322012057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719562"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(Student)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2446121" y="1173120"/>
            <a:ext cx="2922595" cy="400110"/>
          </a:xfrm>
          <a:prstGeom prst="rect">
            <a:avLst/>
          </a:prstGeom>
        </p:spPr>
        <p:txBody>
          <a:bodyPr wrap="none">
            <a:spAutoFit/>
          </a:bodyPr>
          <a:lstStyle/>
          <a:p>
            <a:pPr marL="342900" indent="-342900">
              <a:buFont typeface="Wingdings" panose="05000000000000000000" pitchFamily="2" charset="2"/>
              <a:buChar char="Ø"/>
            </a:pPr>
            <a:r>
              <a:rPr lang="en-US"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3.0 Give Feedback</a:t>
            </a:r>
            <a:r>
              <a:rPr lang="en-US" sz="2000" b="1"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r>
              <a:rPr lang="en-US"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13314" name="Picture 2"/>
          <p:cNvPicPr>
            <a:picLocks noChangeAspect="1" noChangeArrowheads="1"/>
          </p:cNvPicPr>
          <p:nvPr/>
        </p:nvPicPr>
        <p:blipFill>
          <a:blip r:embed="rId2"/>
          <a:srcRect/>
          <a:stretch>
            <a:fillRect/>
          </a:stretch>
        </p:blipFill>
        <p:spPr bwMode="auto">
          <a:xfrm>
            <a:off x="2411413" y="2681288"/>
            <a:ext cx="8091428" cy="2719387"/>
          </a:xfrm>
          <a:prstGeom prst="rect">
            <a:avLst/>
          </a:prstGeom>
          <a:noFill/>
          <a:ln w="9525">
            <a:noFill/>
            <a:miter lim="800000"/>
            <a:headEnd/>
            <a:tailEnd/>
          </a:ln>
          <a:effectLst/>
        </p:spPr>
      </p:pic>
    </p:spTree>
    <p:extLst>
      <p:ext uri="{BB962C8B-B14F-4D97-AF65-F5344CB8AC3E}">
        <p14:creationId xmlns:p14="http://schemas.microsoft.com/office/powerpoint/2010/main" val="402622918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115684" y="182920"/>
            <a:ext cx="4719562" cy="523220"/>
          </a:xfrm>
          <a:prstGeom prst="rect">
            <a:avLst/>
          </a:prstGeom>
        </p:spPr>
        <p:txBody>
          <a:bodyPr wrap="none">
            <a:spAutoFit/>
          </a:bodyPr>
          <a:lstStyle/>
          <a:p>
            <a:pPr lvl="0"/>
            <a:r>
              <a:rPr lang="en-US" sz="2800" b="1" u="sng"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(Student) First Level DFD</a:t>
            </a:r>
            <a:r>
              <a:rPr lang="en-US" sz="28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endParaRPr lang="en-IN" sz="28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sp>
        <p:nvSpPr>
          <p:cNvPr id="2" name="Rectangle 1"/>
          <p:cNvSpPr/>
          <p:nvPr/>
        </p:nvSpPr>
        <p:spPr>
          <a:xfrm>
            <a:off x="1303081" y="1601760"/>
            <a:ext cx="2496196" cy="400110"/>
          </a:xfrm>
          <a:prstGeom prst="rect">
            <a:avLst/>
          </a:prstGeom>
        </p:spPr>
        <p:txBody>
          <a:bodyPr wrap="none">
            <a:spAutoFit/>
          </a:bodyPr>
          <a:lstStyle/>
          <a:p>
            <a:pPr marL="342900" indent="-342900">
              <a:buFont typeface="Wingdings" panose="05000000000000000000" pitchFamily="2" charset="2"/>
              <a:buChar char="Ø"/>
            </a:pPr>
            <a:r>
              <a:rPr lang="en-US"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4.0 Contact US</a:t>
            </a:r>
            <a:r>
              <a:rPr lang="en-US" sz="2000" b="1"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 </a:t>
            </a:r>
            <a:r>
              <a:rPr lang="en-US" sz="2000" b="1"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t>
            </a:r>
            <a:endParaRPr lang="en-IN" sz="2000" dirty="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endParaRPr>
          </a:p>
        </p:txBody>
      </p:sp>
      <p:pic>
        <p:nvPicPr>
          <p:cNvPr id="14339" name="Picture 3"/>
          <p:cNvPicPr>
            <a:picLocks noChangeAspect="1" noChangeArrowheads="1"/>
          </p:cNvPicPr>
          <p:nvPr/>
        </p:nvPicPr>
        <p:blipFill>
          <a:blip r:embed="rId2"/>
          <a:srcRect/>
          <a:stretch>
            <a:fillRect/>
          </a:stretch>
        </p:blipFill>
        <p:spPr bwMode="auto">
          <a:xfrm>
            <a:off x="1325573" y="2700336"/>
            <a:ext cx="9022144" cy="3014663"/>
          </a:xfrm>
          <a:prstGeom prst="rect">
            <a:avLst/>
          </a:prstGeom>
          <a:noFill/>
          <a:ln w="9525">
            <a:noFill/>
            <a:miter lim="800000"/>
            <a:headEnd/>
            <a:tailEnd/>
          </a:ln>
          <a:effectLst/>
        </p:spPr>
      </p:pic>
    </p:spTree>
    <p:extLst>
      <p:ext uri="{BB962C8B-B14F-4D97-AF65-F5344CB8AC3E}">
        <p14:creationId xmlns:p14="http://schemas.microsoft.com/office/powerpoint/2010/main" val="166445151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31355" y="250778"/>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t> </a:t>
            </a:r>
            <a:endParaRPr lang="en-US" sz="2800" b="1" u="sng" dirty="0">
              <a:cs typeface="Calibri" pitchFamily="34" charset="0"/>
            </a:endParaRPr>
          </a:p>
        </p:txBody>
      </p:sp>
      <p:sp>
        <p:nvSpPr>
          <p:cNvPr id="8" name="Rectangle 7"/>
          <p:cNvSpPr/>
          <p:nvPr/>
        </p:nvSpPr>
        <p:spPr>
          <a:xfrm>
            <a:off x="1404676" y="1594718"/>
            <a:ext cx="4638129"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9.1 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Admin_Login</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Table 5"/>
          <p:cNvGraphicFramePr>
            <a:graphicFrameLocks noGrp="1"/>
          </p:cNvGraphicFramePr>
          <p:nvPr/>
        </p:nvGraphicFramePr>
        <p:xfrm>
          <a:off x="2162143" y="2934929"/>
          <a:ext cx="7144089" cy="2330244"/>
        </p:xfrm>
        <a:graphic>
          <a:graphicData uri="http://schemas.openxmlformats.org/drawingml/2006/table">
            <a:tbl>
              <a:tblPr/>
              <a:tblGrid>
                <a:gridCol w="935018">
                  <a:extLst>
                    <a:ext uri="{9D8B030D-6E8A-4147-A177-3AD203B41FA5}">
                      <a16:colId xmlns:a16="http://schemas.microsoft.com/office/drawing/2014/main" val="20000"/>
                    </a:ext>
                  </a:extLst>
                </a:gridCol>
                <a:gridCol w="2233437">
                  <a:extLst>
                    <a:ext uri="{9D8B030D-6E8A-4147-A177-3AD203B41FA5}">
                      <a16:colId xmlns:a16="http://schemas.microsoft.com/office/drawing/2014/main" val="20001"/>
                    </a:ext>
                  </a:extLst>
                </a:gridCol>
                <a:gridCol w="2199841">
                  <a:extLst>
                    <a:ext uri="{9D8B030D-6E8A-4147-A177-3AD203B41FA5}">
                      <a16:colId xmlns:a16="http://schemas.microsoft.com/office/drawing/2014/main" val="20002"/>
                    </a:ext>
                  </a:extLst>
                </a:gridCol>
                <a:gridCol w="1775793">
                  <a:extLst>
                    <a:ext uri="{9D8B030D-6E8A-4147-A177-3AD203B41FA5}">
                      <a16:colId xmlns:a16="http://schemas.microsoft.com/office/drawing/2014/main" val="20003"/>
                    </a:ext>
                  </a:extLst>
                </a:gridCol>
              </a:tblGrid>
              <a:tr h="836029">
                <a:tc>
                  <a:txBody>
                    <a:bodyPr/>
                    <a:lstStyle/>
                    <a:p>
                      <a:pPr marL="457200" algn="l">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Data Type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dirty="0">
                          <a:solidFill>
                            <a:srgbClr val="FFFFFF"/>
                          </a:solidFill>
                          <a:latin typeface="+mn-lt"/>
                          <a:ea typeface="Calibri"/>
                          <a:cs typeface="Times New Roman"/>
                        </a:rPr>
                        <a:t>Constraints</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791561">
                <a:tc>
                  <a:txBody>
                    <a:bodyPr/>
                    <a:lstStyle/>
                    <a:p>
                      <a:pPr marL="457200" algn="l">
                        <a:lnSpc>
                          <a:spcPct val="115000"/>
                        </a:lnSpc>
                        <a:spcAft>
                          <a:spcPts val="0"/>
                        </a:spcAft>
                      </a:pPr>
                      <a:r>
                        <a:rPr lang="en-IN" sz="1800" dirty="0">
                          <a:solidFill>
                            <a:srgbClr val="2E74B5"/>
                          </a:solidFill>
                          <a:latin typeface="+mn-lt"/>
                          <a:ea typeface="Calibri"/>
                          <a:cs typeface="Times New Roman"/>
                        </a:rPr>
                        <a:t>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LoginID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int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dirty="0">
                          <a:solidFill>
                            <a:srgbClr val="2E74B5"/>
                          </a:solidFill>
                          <a:latin typeface="+mn-lt"/>
                          <a:ea typeface="Calibri"/>
                          <a:cs typeface="Times New Roman"/>
                        </a:rPr>
                        <a:t>Primary Key,</a:t>
                      </a:r>
                      <a:endParaRPr lang="en-US" sz="1800" dirty="0">
                        <a:latin typeface="+mn-lt"/>
                        <a:ea typeface="Calibri"/>
                        <a:cs typeface="Times New Roman"/>
                      </a:endParaRPr>
                    </a:p>
                    <a:p>
                      <a:pPr marL="457200">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1"/>
                  </a:ext>
                </a:extLst>
              </a:tr>
              <a:tr h="702654">
                <a:tc>
                  <a:txBody>
                    <a:bodyPr/>
                    <a:lstStyle/>
                    <a:p>
                      <a:pPr marL="457200">
                        <a:lnSpc>
                          <a:spcPct val="115000"/>
                        </a:lnSpc>
                        <a:spcAft>
                          <a:spcPts val="0"/>
                        </a:spcAft>
                      </a:pPr>
                      <a:r>
                        <a:rPr lang="en-IN" sz="1800">
                          <a:solidFill>
                            <a:srgbClr val="2E74B5"/>
                          </a:solidFill>
                          <a:latin typeface="+mn-lt"/>
                          <a:ea typeface="Calibri"/>
                          <a:cs typeface="Times New Roman"/>
                        </a:rPr>
                        <a:t>2.</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LoginPassword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7453456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31355" y="250778"/>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t> </a:t>
            </a:r>
            <a:endParaRPr lang="en-US" sz="2800" b="1" u="sng" dirty="0">
              <a:cs typeface="Calibri" pitchFamily="34" charset="0"/>
            </a:endParaRPr>
          </a:p>
        </p:txBody>
      </p:sp>
      <p:sp>
        <p:nvSpPr>
          <p:cNvPr id="8" name="Rectangle 7"/>
          <p:cNvSpPr/>
          <p:nvPr/>
        </p:nvSpPr>
        <p:spPr>
          <a:xfrm>
            <a:off x="1404676" y="1594718"/>
            <a:ext cx="4804713"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9.2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Student_Login</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Table 5"/>
          <p:cNvGraphicFramePr>
            <a:graphicFrameLocks noGrp="1"/>
          </p:cNvGraphicFramePr>
          <p:nvPr/>
        </p:nvGraphicFramePr>
        <p:xfrm>
          <a:off x="2176893" y="2626244"/>
          <a:ext cx="7335819" cy="2382571"/>
        </p:xfrm>
        <a:graphic>
          <a:graphicData uri="http://schemas.openxmlformats.org/drawingml/2006/table">
            <a:tbl>
              <a:tblPr/>
              <a:tblGrid>
                <a:gridCol w="1266772">
                  <a:extLst>
                    <a:ext uri="{9D8B030D-6E8A-4147-A177-3AD203B41FA5}">
                      <a16:colId xmlns:a16="http://schemas.microsoft.com/office/drawing/2014/main" val="20000"/>
                    </a:ext>
                  </a:extLst>
                </a:gridCol>
                <a:gridCol w="1986717">
                  <a:extLst>
                    <a:ext uri="{9D8B030D-6E8A-4147-A177-3AD203B41FA5}">
                      <a16:colId xmlns:a16="http://schemas.microsoft.com/office/drawing/2014/main" val="20001"/>
                    </a:ext>
                  </a:extLst>
                </a:gridCol>
                <a:gridCol w="2258879">
                  <a:extLst>
                    <a:ext uri="{9D8B030D-6E8A-4147-A177-3AD203B41FA5}">
                      <a16:colId xmlns:a16="http://schemas.microsoft.com/office/drawing/2014/main" val="20002"/>
                    </a:ext>
                  </a:extLst>
                </a:gridCol>
                <a:gridCol w="1823451">
                  <a:extLst>
                    <a:ext uri="{9D8B030D-6E8A-4147-A177-3AD203B41FA5}">
                      <a16:colId xmlns:a16="http://schemas.microsoft.com/office/drawing/2014/main" val="20003"/>
                    </a:ext>
                  </a:extLst>
                </a:gridCol>
              </a:tblGrid>
              <a:tr h="765885">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811161">
                <a:tc>
                  <a:txBody>
                    <a:bodyPr/>
                    <a:lstStyle/>
                    <a:p>
                      <a:pPr marL="457200">
                        <a:lnSpc>
                          <a:spcPct val="115000"/>
                        </a:lnSpc>
                        <a:spcAft>
                          <a:spcPts val="0"/>
                        </a:spcAft>
                      </a:pPr>
                      <a:r>
                        <a:rPr lang="en-IN" sz="1800">
                          <a:solidFill>
                            <a:srgbClr val="2E74B5"/>
                          </a:solidFill>
                          <a:latin typeface="+mn-lt"/>
                          <a:ea typeface="Calibri"/>
                          <a:cs typeface="Times New Roman"/>
                        </a:rPr>
                        <a:t>1.</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LoginID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dirty="0" err="1">
                          <a:solidFill>
                            <a:srgbClr val="2E74B5"/>
                          </a:solidFill>
                          <a:latin typeface="+mn-lt"/>
                          <a:ea typeface="Calibri"/>
                          <a:cs typeface="Times New Roman"/>
                        </a:rPr>
                        <a:t>int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dirty="0">
                          <a:solidFill>
                            <a:srgbClr val="2E74B5"/>
                          </a:solidFill>
                          <a:latin typeface="+mn-lt"/>
                          <a:ea typeface="Calibri"/>
                          <a:cs typeface="Times New Roman"/>
                        </a:rPr>
                        <a:t>Primary Key, </a:t>
                      </a:r>
                      <a:endParaRPr lang="en-US" sz="1800" dirty="0">
                        <a:latin typeface="+mn-lt"/>
                        <a:ea typeface="Calibri"/>
                        <a:cs typeface="Times New Roman"/>
                      </a:endParaRPr>
                    </a:p>
                    <a:p>
                      <a:pPr marL="457200">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1"/>
                  </a:ext>
                </a:extLst>
              </a:tr>
              <a:tr h="805525">
                <a:tc>
                  <a:txBody>
                    <a:bodyPr/>
                    <a:lstStyle/>
                    <a:p>
                      <a:pPr marL="457200">
                        <a:lnSpc>
                          <a:spcPct val="115000"/>
                        </a:lnSpc>
                        <a:spcAft>
                          <a:spcPts val="0"/>
                        </a:spcAft>
                      </a:pPr>
                      <a:r>
                        <a:rPr lang="en-IN" sz="1800">
                          <a:solidFill>
                            <a:srgbClr val="2E74B5"/>
                          </a:solidFill>
                          <a:latin typeface="+mn-lt"/>
                          <a:ea typeface="Calibri"/>
                          <a:cs typeface="Times New Roman"/>
                        </a:rPr>
                        <a:t>2.</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LoginPassword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marL="457200">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7784103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650672" y="415749"/>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1650672" y="1307723"/>
            <a:ext cx="4463273"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9.3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Times New Roman" panose="02020603050405020304" pitchFamily="18" charset="0"/>
              </a:rPr>
              <a:t>Contact_US</a:t>
            </a:r>
            <a:endParaRPr lang="en-IN" sz="2000" dirty="0">
              <a:solidFill>
                <a:schemeClr val="bg1"/>
              </a:solidFill>
              <a:effectLst>
                <a:glow rad="228600">
                  <a:schemeClr val="accent5">
                    <a:satMod val="175000"/>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Table 6"/>
          <p:cNvGraphicFramePr>
            <a:graphicFrameLocks noGrp="1"/>
          </p:cNvGraphicFramePr>
          <p:nvPr/>
        </p:nvGraphicFramePr>
        <p:xfrm>
          <a:off x="2386227" y="2532658"/>
          <a:ext cx="6092190" cy="2966212"/>
        </p:xfrm>
        <a:graphic>
          <a:graphicData uri="http://schemas.openxmlformats.org/drawingml/2006/table">
            <a:tbl>
              <a:tblPr/>
              <a:tblGrid>
                <a:gridCol w="946908">
                  <a:extLst>
                    <a:ext uri="{9D8B030D-6E8A-4147-A177-3AD203B41FA5}">
                      <a16:colId xmlns:a16="http://schemas.microsoft.com/office/drawing/2014/main" val="20000"/>
                    </a:ext>
                  </a:extLst>
                </a:gridCol>
                <a:gridCol w="1760732">
                  <a:extLst>
                    <a:ext uri="{9D8B030D-6E8A-4147-A177-3AD203B41FA5}">
                      <a16:colId xmlns:a16="http://schemas.microsoft.com/office/drawing/2014/main" val="20001"/>
                    </a:ext>
                  </a:extLst>
                </a:gridCol>
                <a:gridCol w="1854835">
                  <a:extLst>
                    <a:ext uri="{9D8B030D-6E8A-4147-A177-3AD203B41FA5}">
                      <a16:colId xmlns:a16="http://schemas.microsoft.com/office/drawing/2014/main" val="20002"/>
                    </a:ext>
                  </a:extLst>
                </a:gridCol>
                <a:gridCol w="1529715">
                  <a:extLst>
                    <a:ext uri="{9D8B030D-6E8A-4147-A177-3AD203B41FA5}">
                      <a16:colId xmlns:a16="http://schemas.microsoft.com/office/drawing/2014/main" val="20003"/>
                    </a:ext>
                  </a:extLst>
                </a:gridCol>
              </a:tblGrid>
              <a:tr h="0">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1.</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cid</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int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Primary Key,</a:t>
                      </a:r>
                      <a:endParaRPr lang="en-US" sz="1800">
                        <a:latin typeface="+mn-lt"/>
                        <a:ea typeface="Calibri"/>
                        <a:cs typeface="Times New Roman"/>
                      </a:endParaRPr>
                    </a:p>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1"/>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2.</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cutype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2"/>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cunm</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3"/>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cumno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4"/>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cuemail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5"/>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cumsg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varchar(MAX)</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5820545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11388"/>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1811765" y="1509164"/>
            <a:ext cx="4192366"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9.4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Feedback</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7" name="Table 6"/>
          <p:cNvGraphicFramePr>
            <a:graphicFrameLocks noGrp="1"/>
          </p:cNvGraphicFramePr>
          <p:nvPr/>
        </p:nvGraphicFramePr>
        <p:xfrm>
          <a:off x="2607455" y="2444167"/>
          <a:ext cx="6330070" cy="2966212"/>
        </p:xfrm>
        <a:graphic>
          <a:graphicData uri="http://schemas.openxmlformats.org/drawingml/2006/table">
            <a:tbl>
              <a:tblPr/>
              <a:tblGrid>
                <a:gridCol w="917411">
                  <a:extLst>
                    <a:ext uri="{9D8B030D-6E8A-4147-A177-3AD203B41FA5}">
                      <a16:colId xmlns:a16="http://schemas.microsoft.com/office/drawing/2014/main" val="20000"/>
                    </a:ext>
                  </a:extLst>
                </a:gridCol>
                <a:gridCol w="1790229">
                  <a:extLst>
                    <a:ext uri="{9D8B030D-6E8A-4147-A177-3AD203B41FA5}">
                      <a16:colId xmlns:a16="http://schemas.microsoft.com/office/drawing/2014/main" val="20001"/>
                    </a:ext>
                  </a:extLst>
                </a:gridCol>
                <a:gridCol w="1854835">
                  <a:extLst>
                    <a:ext uri="{9D8B030D-6E8A-4147-A177-3AD203B41FA5}">
                      <a16:colId xmlns:a16="http://schemas.microsoft.com/office/drawing/2014/main" val="20002"/>
                    </a:ext>
                  </a:extLst>
                </a:gridCol>
                <a:gridCol w="1767595">
                  <a:extLst>
                    <a:ext uri="{9D8B030D-6E8A-4147-A177-3AD203B41FA5}">
                      <a16:colId xmlns:a16="http://schemas.microsoft.com/office/drawing/2014/main" val="20003"/>
                    </a:ext>
                  </a:extLst>
                </a:gridCol>
              </a:tblGrid>
              <a:tr h="0">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1.</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fid</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int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Primary Key,</a:t>
                      </a:r>
                      <a:endParaRPr lang="en-US" sz="1800">
                        <a:latin typeface="+mn-lt"/>
                        <a:ea typeface="Calibri"/>
                        <a:cs typeface="Times New Roman"/>
                      </a:endParaRPr>
                    </a:p>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1"/>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2.</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futype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2"/>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funm</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3"/>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fumno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4"/>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fuemail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5"/>
                  </a:ext>
                </a:extLst>
              </a:tr>
              <a:tr h="0">
                <a:tc>
                  <a:txBody>
                    <a:bodyPr/>
                    <a:lstStyle/>
                    <a:p>
                      <a:pPr marL="457200" algn="ctr">
                        <a:lnSpc>
                          <a:spcPct val="115000"/>
                        </a:lnSpc>
                        <a:spcAft>
                          <a:spcPts val="1000"/>
                        </a:spcAft>
                      </a:pPr>
                      <a:r>
                        <a:rPr lang="en-IN" sz="1800">
                          <a:solidFill>
                            <a:srgbClr val="2E74B5"/>
                          </a:solidFill>
                          <a:latin typeface="+mn-lt"/>
                          <a:ea typeface="Calibri"/>
                          <a:cs typeface="Times New Roman"/>
                        </a:rPr>
                        <a:t>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fumsg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a:solidFill>
                            <a:srgbClr val="2E74B5"/>
                          </a:solidFill>
                          <a:latin typeface="+mn-lt"/>
                          <a:ea typeface="Calibri"/>
                          <a:cs typeface="Times New Roman"/>
                        </a:rPr>
                        <a:t>varchar(MAX)</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6176861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885718" cy="5210779"/>
        </p:xfrm>
        <a:graphic>
          <a:graphicData uri="http://schemas.openxmlformats.org/drawingml/2006/table">
            <a:tbl>
              <a:tblPr/>
              <a:tblGrid>
                <a:gridCol w="1030608">
                  <a:extLst>
                    <a:ext uri="{9D8B030D-6E8A-4147-A177-3AD203B41FA5}">
                      <a16:colId xmlns:a16="http://schemas.microsoft.com/office/drawing/2014/main" val="20000"/>
                    </a:ext>
                  </a:extLst>
                </a:gridCol>
                <a:gridCol w="2153265">
                  <a:extLst>
                    <a:ext uri="{9D8B030D-6E8A-4147-A177-3AD203B41FA5}">
                      <a16:colId xmlns:a16="http://schemas.microsoft.com/office/drawing/2014/main" val="20001"/>
                    </a:ext>
                  </a:extLst>
                </a:gridCol>
                <a:gridCol w="1651820">
                  <a:extLst>
                    <a:ext uri="{9D8B030D-6E8A-4147-A177-3AD203B41FA5}">
                      <a16:colId xmlns:a16="http://schemas.microsoft.com/office/drawing/2014/main" val="20002"/>
                    </a:ext>
                  </a:extLst>
                </a:gridCol>
                <a:gridCol w="205002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1.</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StdAID</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int</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Primary Key, Not Null</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StdAdate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Date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3.</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StdAPassSizePhoto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Image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StdAfname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StdASalutation</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(10)</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StdAmname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StdAlname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StdAbdate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9.</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StdABldgroup</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10.</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StdAEmail</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6947211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416658"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949676">
                  <a:extLst>
                    <a:ext uri="{9D8B030D-6E8A-4147-A177-3AD203B41FA5}">
                      <a16:colId xmlns:a16="http://schemas.microsoft.com/office/drawing/2014/main" val="20001"/>
                    </a:ext>
                  </a:extLst>
                </a:gridCol>
                <a:gridCol w="1784555">
                  <a:extLst>
                    <a:ext uri="{9D8B030D-6E8A-4147-A177-3AD203B41FA5}">
                      <a16:colId xmlns:a16="http://schemas.microsoft.com/office/drawing/2014/main" val="20002"/>
                    </a:ext>
                  </a:extLst>
                </a:gridCol>
                <a:gridCol w="1651819">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11.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StdAMNo</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12.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StdAGen</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13.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StdAMaritalStatus</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StdAReligion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StdACasteCat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StdAFatherSpouseName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StdAFatherSpouseMNo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StfAMotherName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StfAMotherMNo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StdAFatherSpouseOccupation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71391882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885718"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625211">
                  <a:extLst>
                    <a:ext uri="{9D8B030D-6E8A-4147-A177-3AD203B41FA5}">
                      <a16:colId xmlns:a16="http://schemas.microsoft.com/office/drawing/2014/main" val="20001"/>
                    </a:ext>
                  </a:extLst>
                </a:gridCol>
                <a:gridCol w="1976284">
                  <a:extLst>
                    <a:ext uri="{9D8B030D-6E8A-4147-A177-3AD203B41FA5}">
                      <a16:colId xmlns:a16="http://schemas.microsoft.com/office/drawing/2014/main" val="20002"/>
                    </a:ext>
                  </a:extLst>
                </a:gridCol>
                <a:gridCol w="125361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21.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StdAAnnualIncome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numeric(10,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22.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StdAPresentAddr</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varchar(80)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23.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StdAPresentAddrCity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StdAPresentAddrPinCode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numeric(18, 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StdAPresentAddrState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StdAPrmntAddr</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varchar(80)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StdAPrmntAddrCity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StdAPrmntAddrPinCode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StdAPrmntAddrState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StdACourse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61014297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564142"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743198">
                  <a:extLst>
                    <a:ext uri="{9D8B030D-6E8A-4147-A177-3AD203B41FA5}">
                      <a16:colId xmlns:a16="http://schemas.microsoft.com/office/drawing/2014/main" val="20001"/>
                    </a:ext>
                  </a:extLst>
                </a:gridCol>
                <a:gridCol w="1563329">
                  <a:extLst>
                    <a:ext uri="{9D8B030D-6E8A-4147-A177-3AD203B41FA5}">
                      <a16:colId xmlns:a16="http://schemas.microsoft.com/office/drawing/2014/main" val="20002"/>
                    </a:ext>
                  </a:extLst>
                </a:gridCol>
                <a:gridCol w="2227007">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31.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StdAMedOfInstrctn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32.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StdASemester</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33.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StdAClsXSchool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StdAClsXBoard</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StdAClsXMedOfInstrctn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StdAClsXPercentage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40.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StdAClsXIISchool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19264524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239677"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890682">
                  <a:extLst>
                    <a:ext uri="{9D8B030D-6E8A-4147-A177-3AD203B41FA5}">
                      <a16:colId xmlns:a16="http://schemas.microsoft.com/office/drawing/2014/main" val="20001"/>
                    </a:ext>
                  </a:extLst>
                </a:gridCol>
                <a:gridCol w="1592826">
                  <a:extLst>
                    <a:ext uri="{9D8B030D-6E8A-4147-A177-3AD203B41FA5}">
                      <a16:colId xmlns:a16="http://schemas.microsoft.com/office/drawing/2014/main" val="20002"/>
                    </a:ext>
                  </a:extLst>
                </a:gridCol>
                <a:gridCol w="1725561">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41.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StdAClsXIIBoard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42.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StdAClsXIICity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43.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StdAClsXIIMedOfInstrctn</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StdAClsXIIStreamDiscipline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StdAClsXIIPercentage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StdASICollege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93271821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885718"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153265">
                  <a:extLst>
                    <a:ext uri="{9D8B030D-6E8A-4147-A177-3AD203B41FA5}">
                      <a16:colId xmlns:a16="http://schemas.microsoft.com/office/drawing/2014/main" val="20001"/>
                    </a:ext>
                  </a:extLst>
                </a:gridCol>
                <a:gridCol w="1651820">
                  <a:extLst>
                    <a:ext uri="{9D8B030D-6E8A-4147-A177-3AD203B41FA5}">
                      <a16:colId xmlns:a16="http://schemas.microsoft.com/office/drawing/2014/main" val="20002"/>
                    </a:ext>
                  </a:extLst>
                </a:gridCol>
                <a:gridCol w="205002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51.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StdASIYearOfPassing</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52.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StdASIPerGPA</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53.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StdASIMarksheet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Image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StdASIICollege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60.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StdASIIICollege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41363905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885718"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359740">
                  <a:extLst>
                    <a:ext uri="{9D8B030D-6E8A-4147-A177-3AD203B41FA5}">
                      <a16:colId xmlns:a16="http://schemas.microsoft.com/office/drawing/2014/main" val="20001"/>
                    </a:ext>
                  </a:extLst>
                </a:gridCol>
                <a:gridCol w="1445345">
                  <a:extLst>
                    <a:ext uri="{9D8B030D-6E8A-4147-A177-3AD203B41FA5}">
                      <a16:colId xmlns:a16="http://schemas.microsoft.com/office/drawing/2014/main" val="20002"/>
                    </a:ext>
                  </a:extLst>
                </a:gridCol>
                <a:gridCol w="205002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61.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StdASIIIUniversity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62.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StdASIIICity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63.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StdASIIIYearOfPassing</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float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StdASIVCollege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70.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1691146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7768665"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9.5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New_Student_</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cs typeface="Arial" panose="020B0604020202020204" pitchFamily="34" charset="0"/>
              </a:rPr>
              <a:t>Admission_Applications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885718"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153265">
                  <a:extLst>
                    <a:ext uri="{9D8B030D-6E8A-4147-A177-3AD203B41FA5}">
                      <a16:colId xmlns:a16="http://schemas.microsoft.com/office/drawing/2014/main" val="20001"/>
                    </a:ext>
                  </a:extLst>
                </a:gridCol>
                <a:gridCol w="1651820">
                  <a:extLst>
                    <a:ext uri="{9D8B030D-6E8A-4147-A177-3AD203B41FA5}">
                      <a16:colId xmlns:a16="http://schemas.microsoft.com/office/drawing/2014/main" val="20002"/>
                    </a:ext>
                  </a:extLst>
                </a:gridCol>
                <a:gridCol w="205002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71.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72.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StdASVCollege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73.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StdASVUniversity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float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StdASignature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StdASecQue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80.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StdASecAns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33937444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328168" cy="5210779"/>
        </p:xfrm>
        <a:graphic>
          <a:graphicData uri="http://schemas.openxmlformats.org/drawingml/2006/table">
            <a:tbl>
              <a:tblPr/>
              <a:tblGrid>
                <a:gridCol w="1030608">
                  <a:extLst>
                    <a:ext uri="{9D8B030D-6E8A-4147-A177-3AD203B41FA5}">
                      <a16:colId xmlns:a16="http://schemas.microsoft.com/office/drawing/2014/main" val="20000"/>
                    </a:ext>
                  </a:extLst>
                </a:gridCol>
                <a:gridCol w="2389237">
                  <a:extLst>
                    <a:ext uri="{9D8B030D-6E8A-4147-A177-3AD203B41FA5}">
                      <a16:colId xmlns:a16="http://schemas.microsoft.com/office/drawing/2014/main" val="20001"/>
                    </a:ext>
                  </a:extLst>
                </a:gridCol>
                <a:gridCol w="2182761">
                  <a:extLst>
                    <a:ext uri="{9D8B030D-6E8A-4147-A177-3AD203B41FA5}">
                      <a16:colId xmlns:a16="http://schemas.microsoft.com/office/drawing/2014/main" val="20002"/>
                    </a:ext>
                  </a:extLst>
                </a:gridCol>
                <a:gridCol w="1725562">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StdAdmissionID</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int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Primary Key, 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StdAdmissionDate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Date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StdAdmsnCnclnDate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Date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StdAdmsnCnclnReason</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StdAStatus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StdApplicationID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int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StdApplicationDate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StdAPassSizePhoto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Image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StdASalutation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StdAfname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68359344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416658"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949676">
                  <a:extLst>
                    <a:ext uri="{9D8B030D-6E8A-4147-A177-3AD203B41FA5}">
                      <a16:colId xmlns:a16="http://schemas.microsoft.com/office/drawing/2014/main" val="20001"/>
                    </a:ext>
                  </a:extLst>
                </a:gridCol>
                <a:gridCol w="1784555">
                  <a:extLst>
                    <a:ext uri="{9D8B030D-6E8A-4147-A177-3AD203B41FA5}">
                      <a16:colId xmlns:a16="http://schemas.microsoft.com/office/drawing/2014/main" val="20002"/>
                    </a:ext>
                  </a:extLst>
                </a:gridCol>
                <a:gridCol w="1651819">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11.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StdAmname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12.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StdAlname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13.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StdAbdate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StdABldgroup</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(10)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StdAEmail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StdAMNo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StdAGen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StdAMaritalStatus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19.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StdAReligion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StdACasteCat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58659065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885718" cy="5210779"/>
        </p:xfrm>
        <a:graphic>
          <a:graphicData uri="http://schemas.openxmlformats.org/drawingml/2006/table">
            <a:tbl>
              <a:tblPr/>
              <a:tblGrid>
                <a:gridCol w="1030608">
                  <a:extLst>
                    <a:ext uri="{9D8B030D-6E8A-4147-A177-3AD203B41FA5}">
                      <a16:colId xmlns:a16="http://schemas.microsoft.com/office/drawing/2014/main" val="20000"/>
                    </a:ext>
                  </a:extLst>
                </a:gridCol>
                <a:gridCol w="2625211">
                  <a:extLst>
                    <a:ext uri="{9D8B030D-6E8A-4147-A177-3AD203B41FA5}">
                      <a16:colId xmlns:a16="http://schemas.microsoft.com/office/drawing/2014/main" val="20001"/>
                    </a:ext>
                  </a:extLst>
                </a:gridCol>
                <a:gridCol w="1976284">
                  <a:extLst>
                    <a:ext uri="{9D8B030D-6E8A-4147-A177-3AD203B41FA5}">
                      <a16:colId xmlns:a16="http://schemas.microsoft.com/office/drawing/2014/main" val="20002"/>
                    </a:ext>
                  </a:extLst>
                </a:gridCol>
                <a:gridCol w="125361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21.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StdAFatherSpouseName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22.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StdAFatherSpouseMNo</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23.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StdAMotherName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StdAMotherMNo</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numeric(18, 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StdAFatherSpouseOccupation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StdAAnnualIncome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numeric(10, 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StdAPresentAddr</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(80)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StdAPresentAddrCity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29.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StdAPresentAddrPinCode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numeric(18, 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StdAPresentAddrState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83426534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564142"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743198">
                  <a:extLst>
                    <a:ext uri="{9D8B030D-6E8A-4147-A177-3AD203B41FA5}">
                      <a16:colId xmlns:a16="http://schemas.microsoft.com/office/drawing/2014/main" val="20001"/>
                    </a:ext>
                  </a:extLst>
                </a:gridCol>
                <a:gridCol w="1563329">
                  <a:extLst>
                    <a:ext uri="{9D8B030D-6E8A-4147-A177-3AD203B41FA5}">
                      <a16:colId xmlns:a16="http://schemas.microsoft.com/office/drawing/2014/main" val="20002"/>
                    </a:ext>
                  </a:extLst>
                </a:gridCol>
                <a:gridCol w="2227007">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31.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StdAPrmntAddr</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varchar(80)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32.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StdAPrmntAddrCity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33.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StdAPrmntAddrPinCode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numeric(18, 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StdAPrmntAddrState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StdACourse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StdAMedOfInstrctn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StdASemester</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StdABatch</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39.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StdAClsXSchool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40.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StdAClsXBoard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1642473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239677"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890682">
                  <a:extLst>
                    <a:ext uri="{9D8B030D-6E8A-4147-A177-3AD203B41FA5}">
                      <a16:colId xmlns:a16="http://schemas.microsoft.com/office/drawing/2014/main" val="20001"/>
                    </a:ext>
                  </a:extLst>
                </a:gridCol>
                <a:gridCol w="1592826">
                  <a:extLst>
                    <a:ext uri="{9D8B030D-6E8A-4147-A177-3AD203B41FA5}">
                      <a16:colId xmlns:a16="http://schemas.microsoft.com/office/drawing/2014/main" val="20002"/>
                    </a:ext>
                  </a:extLst>
                </a:gridCol>
                <a:gridCol w="1725561">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41.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42.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StdAClsXMedOfInstrctn</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43.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StdAClsXYearOfPassing</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StdAClsXPercentage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float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Image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StdAClsXIISchool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StdAClsXIIBoard</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49.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StdAClsXIIMedOfInstrctn</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2556818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254426"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728450">
                  <a:extLst>
                    <a:ext uri="{9D8B030D-6E8A-4147-A177-3AD203B41FA5}">
                      <a16:colId xmlns:a16="http://schemas.microsoft.com/office/drawing/2014/main" val="20001"/>
                    </a:ext>
                  </a:extLst>
                </a:gridCol>
                <a:gridCol w="1578077">
                  <a:extLst>
                    <a:ext uri="{9D8B030D-6E8A-4147-A177-3AD203B41FA5}">
                      <a16:colId xmlns:a16="http://schemas.microsoft.com/office/drawing/2014/main" val="20002"/>
                    </a:ext>
                  </a:extLst>
                </a:gridCol>
                <a:gridCol w="1917291">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51.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StdAClsXIIStreamDiscipline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varchar(10)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52.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StdAClsXIIPercentage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53.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StdAClsXIIMarksheet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StdASICollege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59.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60.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StdASIICollege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5882685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538503" y="1465651"/>
          <a:ext cx="7180684"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359740">
                  <a:extLst>
                    <a:ext uri="{9D8B030D-6E8A-4147-A177-3AD203B41FA5}">
                      <a16:colId xmlns:a16="http://schemas.microsoft.com/office/drawing/2014/main" val="20001"/>
                    </a:ext>
                  </a:extLst>
                </a:gridCol>
                <a:gridCol w="1755058">
                  <a:extLst>
                    <a:ext uri="{9D8B030D-6E8A-4147-A177-3AD203B41FA5}">
                      <a16:colId xmlns:a16="http://schemas.microsoft.com/office/drawing/2014/main" val="20002"/>
                    </a:ext>
                  </a:extLst>
                </a:gridCol>
                <a:gridCol w="2035278">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Data Type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dirty="0">
                          <a:solidFill>
                            <a:srgbClr val="FFFFFF"/>
                          </a:solidFill>
                          <a:latin typeface="+mn-lt"/>
                          <a:ea typeface="Calibri"/>
                          <a:cs typeface="Times New Roman"/>
                        </a:rPr>
                        <a:t>Constraints</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61.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62.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63.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StdASIIYearOfPassing</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StdASIIPerGPA</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float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Image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StdASIIICollege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69.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70.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3360644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7224929"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285998">
                  <a:extLst>
                    <a:ext uri="{9D8B030D-6E8A-4147-A177-3AD203B41FA5}">
                      <a16:colId xmlns:a16="http://schemas.microsoft.com/office/drawing/2014/main" val="20001"/>
                    </a:ext>
                  </a:extLst>
                </a:gridCol>
                <a:gridCol w="2064774">
                  <a:extLst>
                    <a:ext uri="{9D8B030D-6E8A-4147-A177-3AD203B41FA5}">
                      <a16:colId xmlns:a16="http://schemas.microsoft.com/office/drawing/2014/main" val="20002"/>
                    </a:ext>
                  </a:extLst>
                </a:gridCol>
                <a:gridCol w="1843549">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a:solidFill>
                            <a:srgbClr val="FFFFFF"/>
                          </a:solidFill>
                          <a:latin typeface="+mn-lt"/>
                          <a:ea typeface="Calibri"/>
                          <a:cs typeface="Times New Roman"/>
                        </a:rPr>
                        <a:t>Constraints</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71.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StdASIIIMarksheet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72.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StdASIVCollege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73.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StdASIVUniversity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StdASIVCity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float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StdASIVMarksheet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StdASVCollege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79.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StdASVUniversity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80.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1531429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2098957" y="914177"/>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980955" y="1436154"/>
          <a:ext cx="6974206" cy="4966891"/>
        </p:xfrm>
        <a:graphic>
          <a:graphicData uri="http://schemas.openxmlformats.org/drawingml/2006/table">
            <a:tbl>
              <a:tblPr/>
              <a:tblGrid>
                <a:gridCol w="1030608">
                  <a:extLst>
                    <a:ext uri="{9D8B030D-6E8A-4147-A177-3AD203B41FA5}">
                      <a16:colId xmlns:a16="http://schemas.microsoft.com/office/drawing/2014/main" val="20000"/>
                    </a:ext>
                  </a:extLst>
                </a:gridCol>
                <a:gridCol w="2374489">
                  <a:extLst>
                    <a:ext uri="{9D8B030D-6E8A-4147-A177-3AD203B41FA5}">
                      <a16:colId xmlns:a16="http://schemas.microsoft.com/office/drawing/2014/main" val="20001"/>
                    </a:ext>
                  </a:extLst>
                </a:gridCol>
                <a:gridCol w="1769806">
                  <a:extLst>
                    <a:ext uri="{9D8B030D-6E8A-4147-A177-3AD203B41FA5}">
                      <a16:colId xmlns:a16="http://schemas.microsoft.com/office/drawing/2014/main" val="20002"/>
                    </a:ext>
                  </a:extLst>
                </a:gridCol>
                <a:gridCol w="1799303">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a:solidFill>
                            <a:srgbClr val="FFFFFF"/>
                          </a:solidFill>
                          <a:latin typeface="+mn-lt"/>
                          <a:ea typeface="Calibri"/>
                          <a:cs typeface="Times New Roman"/>
                        </a:rPr>
                        <a:t>Data Type</a:t>
                      </a:r>
                      <a:endParaRPr lang="en-US" sz="180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dirty="0">
                          <a:solidFill>
                            <a:srgbClr val="FFFFFF"/>
                          </a:solidFill>
                          <a:latin typeface="+mn-lt"/>
                          <a:ea typeface="Calibri"/>
                          <a:cs typeface="Times New Roman"/>
                        </a:rPr>
                        <a:t>Constraints</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81.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varchar(20)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82.</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StdASVPerGPA</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83.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StdASVMarksheet</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StdASVICollege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varchar(30)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85.</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StdASVIUniversity</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5"/>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86.</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StdASVICity</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(30)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6"/>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87.</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StdASVIYearOfPassing</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(20)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7"/>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88.</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StdASVIPerGPA</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float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8"/>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89.</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StdASVIMarksheet</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9"/>
                  </a:ext>
                </a:extLst>
              </a:tr>
              <a:tr h="456775">
                <a:tc>
                  <a:txBody>
                    <a:bodyPr/>
                    <a:lstStyle/>
                    <a:p>
                      <a:pPr marL="457200" algn="ctr">
                        <a:lnSpc>
                          <a:spcPct val="115000"/>
                        </a:lnSpc>
                        <a:spcAft>
                          <a:spcPts val="1000"/>
                        </a:spcAft>
                      </a:pPr>
                      <a:r>
                        <a:rPr lang="en-IN" sz="1800">
                          <a:solidFill>
                            <a:srgbClr val="2E74B5"/>
                          </a:solidFill>
                          <a:latin typeface="+mn-lt"/>
                          <a:ea typeface="Calibri"/>
                          <a:cs typeface="Times New Roman"/>
                        </a:rPr>
                        <a:t>90.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StdADegCertificate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24041200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704461" y="208840"/>
            <a:ext cx="9144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a:r>
              <a:rPr lang="en-IN" sz="2800" b="1" u="sng" dirty="0">
                <a:solidFill>
                  <a:schemeClr val="bg1"/>
                </a:solidFill>
                <a:effectLst>
                  <a:glow rad="228600">
                    <a:schemeClr val="accent5">
                      <a:satMod val="175000"/>
                      <a:alpha val="40000"/>
                    </a:schemeClr>
                  </a:glow>
                </a:effectLst>
              </a:rPr>
              <a:t>Database Layout / File Layout</a:t>
            </a:r>
            <a:r>
              <a:rPr lang="en-IN" sz="2800" dirty="0">
                <a:solidFill>
                  <a:schemeClr val="bg1"/>
                </a:solidFill>
                <a:effectLst>
                  <a:glow rad="228600">
                    <a:schemeClr val="accent5">
                      <a:satMod val="175000"/>
                      <a:alpha val="40000"/>
                    </a:schemeClr>
                  </a:glow>
                </a:effectLst>
              </a:rPr>
              <a:t/>
            </a:r>
            <a:br>
              <a:rPr lang="en-IN" sz="2800" dirty="0">
                <a:solidFill>
                  <a:schemeClr val="bg1"/>
                </a:solidFill>
                <a:effectLst>
                  <a:glow rad="228600">
                    <a:schemeClr val="accent5">
                      <a:satMod val="175000"/>
                      <a:alpha val="40000"/>
                    </a:schemeClr>
                  </a:glow>
                </a:effectLst>
              </a:rPr>
            </a:br>
            <a:r>
              <a:rPr lang="en-IN" sz="2800" dirty="0">
                <a:solidFill>
                  <a:schemeClr val="bg1"/>
                </a:solidFill>
                <a:effectLst>
                  <a:glow rad="228600">
                    <a:schemeClr val="accent5">
                      <a:satMod val="175000"/>
                      <a:alpha val="40000"/>
                    </a:schemeClr>
                  </a:glow>
                </a:effectLst>
              </a:rPr>
              <a:t> </a:t>
            </a:r>
            <a:endParaRPr lang="en-US" sz="2800" b="1" u="sng" dirty="0">
              <a:solidFill>
                <a:schemeClr val="bg1"/>
              </a:solidFill>
              <a:effectLst>
                <a:glow rad="228600">
                  <a:schemeClr val="accent5">
                    <a:satMod val="175000"/>
                    <a:alpha val="40000"/>
                  </a:schemeClr>
                </a:glow>
              </a:effectLst>
              <a:cs typeface="Calibri" pitchFamily="34" charset="0"/>
            </a:endParaRPr>
          </a:p>
        </p:txBody>
      </p:sp>
      <p:sp>
        <p:nvSpPr>
          <p:cNvPr id="10" name="Rectangle 3"/>
          <p:cNvSpPr>
            <a:spLocks noChangeArrowheads="1"/>
          </p:cNvSpPr>
          <p:nvPr/>
        </p:nvSpPr>
        <p:spPr bwMode="auto">
          <a:xfrm>
            <a:off x="3171825" y="284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Rectangle 1"/>
          <p:cNvSpPr/>
          <p:nvPr/>
        </p:nvSpPr>
        <p:spPr>
          <a:xfrm>
            <a:off x="1966225" y="1754813"/>
            <a:ext cx="4945778" cy="446276"/>
          </a:xfrm>
          <a:prstGeom prst="rect">
            <a:avLst/>
          </a:prstGeom>
        </p:spPr>
        <p:txBody>
          <a:bodyPr wrap="none">
            <a:spAutoFit/>
          </a:bodyPr>
          <a:lstStyle/>
          <a:p>
            <a:pPr marL="742950" indent="-285750">
              <a:lnSpc>
                <a:spcPct val="115000"/>
              </a:lnSpc>
              <a:spcAft>
                <a:spcPts val="1000"/>
              </a:spcAft>
              <a:buFont typeface="Wingdings" panose="05000000000000000000" pitchFamily="2" charset="2"/>
              <a:buChar char="Ø"/>
            </a:pPr>
            <a:r>
              <a:rPr lang="en-IN" sz="2000" b="1" u="sng" dirty="0"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9.6 </a:t>
            </a:r>
            <a:r>
              <a:rPr lang="en-IN" sz="2000" b="1" u="sng"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Table Name : </a:t>
            </a:r>
            <a:r>
              <a:rPr lang="en-IN" sz="2000" b="1" u="sng" dirty="0" err="1" smtClean="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rPr>
              <a:t>Student_Details</a:t>
            </a:r>
            <a:endParaRPr lang="en-IN" sz="2000" dirty="0">
              <a:solidFill>
                <a:schemeClr val="bg1"/>
              </a:solidFill>
              <a:effectLst>
                <a:glow rad="228600">
                  <a:schemeClr val="accent5">
                    <a:satMod val="175000"/>
                    <a:alpha val="40000"/>
                  </a:schemeClr>
                </a:glow>
              </a:effectLst>
              <a:latin typeface="Arial" panose="020B0604020202020204" pitchFamily="34" charset="0"/>
              <a:ea typeface="Calibri" panose="020F0502020204030204" pitchFamily="34" charset="0"/>
              <a:cs typeface="Arial" panose="020B0604020202020204" pitchFamily="34" charset="0"/>
            </a:endParaRPr>
          </a:p>
        </p:txBody>
      </p:sp>
      <p:graphicFrame>
        <p:nvGraphicFramePr>
          <p:cNvPr id="9" name="Table 8"/>
          <p:cNvGraphicFramePr>
            <a:graphicFrameLocks noGrp="1"/>
          </p:cNvGraphicFramePr>
          <p:nvPr/>
        </p:nvGraphicFramePr>
        <p:xfrm>
          <a:off x="2568011" y="2630742"/>
          <a:ext cx="6885718" cy="2574876"/>
        </p:xfrm>
        <a:graphic>
          <a:graphicData uri="http://schemas.openxmlformats.org/drawingml/2006/table">
            <a:tbl>
              <a:tblPr/>
              <a:tblGrid>
                <a:gridCol w="1030608">
                  <a:extLst>
                    <a:ext uri="{9D8B030D-6E8A-4147-A177-3AD203B41FA5}">
                      <a16:colId xmlns:a16="http://schemas.microsoft.com/office/drawing/2014/main" val="20000"/>
                    </a:ext>
                  </a:extLst>
                </a:gridCol>
                <a:gridCol w="2153265">
                  <a:extLst>
                    <a:ext uri="{9D8B030D-6E8A-4147-A177-3AD203B41FA5}">
                      <a16:colId xmlns:a16="http://schemas.microsoft.com/office/drawing/2014/main" val="20001"/>
                    </a:ext>
                  </a:extLst>
                </a:gridCol>
                <a:gridCol w="1651820">
                  <a:extLst>
                    <a:ext uri="{9D8B030D-6E8A-4147-A177-3AD203B41FA5}">
                      <a16:colId xmlns:a16="http://schemas.microsoft.com/office/drawing/2014/main" val="20002"/>
                    </a:ext>
                  </a:extLst>
                </a:gridCol>
                <a:gridCol w="2050025">
                  <a:extLst>
                    <a:ext uri="{9D8B030D-6E8A-4147-A177-3AD203B41FA5}">
                      <a16:colId xmlns:a16="http://schemas.microsoft.com/office/drawing/2014/main" val="20003"/>
                    </a:ext>
                  </a:extLst>
                </a:gridCol>
              </a:tblGrid>
              <a:tr h="835097">
                <a:tc>
                  <a:txBody>
                    <a:bodyPr/>
                    <a:lstStyle/>
                    <a:p>
                      <a:pPr marL="457200" algn="ctr">
                        <a:lnSpc>
                          <a:spcPct val="115000"/>
                        </a:lnSpc>
                        <a:spcAft>
                          <a:spcPts val="0"/>
                        </a:spcAft>
                      </a:pPr>
                      <a:r>
                        <a:rPr lang="en-IN" sz="1800" b="1" dirty="0">
                          <a:solidFill>
                            <a:srgbClr val="FFFFFF"/>
                          </a:solidFill>
                          <a:latin typeface="+mn-lt"/>
                          <a:ea typeface="Calibri"/>
                          <a:cs typeface="Times New Roman"/>
                        </a:rPr>
                        <a:t>Sr. No</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Field Name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0"/>
                        </a:spcAft>
                      </a:pPr>
                      <a:r>
                        <a:rPr lang="en-IN" sz="1800" b="1" dirty="0">
                          <a:solidFill>
                            <a:srgbClr val="FFFFFF"/>
                          </a:solidFill>
                          <a:latin typeface="+mn-lt"/>
                          <a:ea typeface="Calibri"/>
                          <a:cs typeface="Times New Roman"/>
                        </a:rPr>
                        <a:t>Data Type</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tc>
                  <a:txBody>
                    <a:bodyPr/>
                    <a:lstStyle/>
                    <a:p>
                      <a:pPr marL="457200" algn="ctr">
                        <a:lnSpc>
                          <a:spcPct val="115000"/>
                        </a:lnSpc>
                        <a:spcAft>
                          <a:spcPts val="1000"/>
                        </a:spcAft>
                      </a:pPr>
                      <a:r>
                        <a:rPr lang="en-IN" sz="1800" b="1" dirty="0">
                          <a:solidFill>
                            <a:srgbClr val="FFFFFF"/>
                          </a:solidFill>
                          <a:latin typeface="+mn-lt"/>
                          <a:ea typeface="Calibri"/>
                          <a:cs typeface="Times New Roman"/>
                        </a:rPr>
                        <a:t>Constraints</a:t>
                      </a:r>
                      <a:endParaRPr lang="en-US" sz="1800" dirty="0">
                        <a:latin typeface="+mn-lt"/>
                        <a:ea typeface="Calibri"/>
                        <a:cs typeface="Times New Roman"/>
                      </a:endParaRPr>
                    </a:p>
                  </a:txBody>
                  <a:tcPr marL="63106" marR="63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2E74B5"/>
                    </a:solidFill>
                  </a:tcPr>
                </a:tc>
                <a:extLst>
                  <a:ext uri="{0D108BD9-81ED-4DB2-BD59-A6C34878D82A}">
                    <a16:rowId xmlns:a16="http://schemas.microsoft.com/office/drawing/2014/main" val="10000"/>
                  </a:ext>
                </a:extLst>
              </a:tr>
              <a:tr h="387048">
                <a:tc>
                  <a:txBody>
                    <a:bodyPr/>
                    <a:lstStyle/>
                    <a:p>
                      <a:pPr marL="457200" algn="ctr">
                        <a:lnSpc>
                          <a:spcPct val="115000"/>
                        </a:lnSpc>
                        <a:spcAft>
                          <a:spcPts val="1000"/>
                        </a:spcAft>
                      </a:pPr>
                      <a:r>
                        <a:rPr lang="en-IN" sz="1800" dirty="0">
                          <a:solidFill>
                            <a:srgbClr val="2E74B5"/>
                          </a:solidFill>
                          <a:latin typeface="+mn-lt"/>
                          <a:ea typeface="Calibri"/>
                          <a:cs typeface="Times New Roman"/>
                        </a:rPr>
                        <a:t>91.</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StdATrnsfrCertificate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Image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1"/>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92.</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StdASignature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Image</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Not Null</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2"/>
                  </a:ext>
                </a:extLst>
              </a:tr>
              <a:tr h="578635">
                <a:tc>
                  <a:txBody>
                    <a:bodyPr/>
                    <a:lstStyle/>
                    <a:p>
                      <a:pPr marL="457200" algn="ctr">
                        <a:lnSpc>
                          <a:spcPct val="115000"/>
                        </a:lnSpc>
                        <a:spcAft>
                          <a:spcPts val="1000"/>
                        </a:spcAft>
                      </a:pPr>
                      <a:r>
                        <a:rPr lang="en-IN" sz="1800">
                          <a:solidFill>
                            <a:srgbClr val="2E74B5"/>
                          </a:solidFill>
                          <a:latin typeface="+mn-lt"/>
                          <a:ea typeface="Calibri"/>
                          <a:cs typeface="Times New Roman"/>
                        </a:rPr>
                        <a:t>93.</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StdASecQue</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err="1">
                          <a:solidFill>
                            <a:srgbClr val="2E74B5"/>
                          </a:solidFill>
                          <a:latin typeface="+mn-lt"/>
                          <a:ea typeface="Calibri"/>
                          <a:cs typeface="Times New Roman"/>
                        </a:rPr>
                        <a:t>varchar</a:t>
                      </a:r>
                      <a:r>
                        <a:rPr lang="en-IN" sz="1800" dirty="0">
                          <a:solidFill>
                            <a:srgbClr val="2E74B5"/>
                          </a:solidFill>
                          <a:latin typeface="+mn-lt"/>
                          <a:ea typeface="Calibri"/>
                          <a:cs typeface="Times New Roman"/>
                        </a:rPr>
                        <a:t>(50)</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3"/>
                  </a:ext>
                </a:extLst>
              </a:tr>
              <a:tr h="387048">
                <a:tc>
                  <a:txBody>
                    <a:bodyPr/>
                    <a:lstStyle/>
                    <a:p>
                      <a:pPr marL="457200" algn="ctr">
                        <a:lnSpc>
                          <a:spcPct val="115000"/>
                        </a:lnSpc>
                        <a:spcAft>
                          <a:spcPts val="1000"/>
                        </a:spcAft>
                      </a:pPr>
                      <a:r>
                        <a:rPr lang="en-IN" sz="1800">
                          <a:solidFill>
                            <a:srgbClr val="2E74B5"/>
                          </a:solidFill>
                          <a:latin typeface="+mn-lt"/>
                          <a:ea typeface="Calibri"/>
                          <a:cs typeface="Times New Roman"/>
                        </a:rPr>
                        <a:t>94.</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StdASecAns</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a:solidFill>
                            <a:srgbClr val="2E74B5"/>
                          </a:solidFill>
                          <a:latin typeface="+mn-lt"/>
                          <a:ea typeface="Calibri"/>
                          <a:cs typeface="Times New Roman"/>
                        </a:rPr>
                        <a:t>varchar(50)</a:t>
                      </a:r>
                      <a:endParaRPr lang="en-US" sz="180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tc>
                  <a:txBody>
                    <a:bodyPr/>
                    <a:lstStyle/>
                    <a:p>
                      <a:pPr>
                        <a:lnSpc>
                          <a:spcPct val="115000"/>
                        </a:lnSpc>
                        <a:spcAft>
                          <a:spcPts val="1000"/>
                        </a:spcAft>
                      </a:pPr>
                      <a:r>
                        <a:rPr lang="en-IN" sz="1800" dirty="0">
                          <a:solidFill>
                            <a:srgbClr val="2E74B5"/>
                          </a:solidFill>
                          <a:latin typeface="+mn-lt"/>
                          <a:ea typeface="Calibri"/>
                          <a:cs typeface="Times New Roman"/>
                        </a:rPr>
                        <a:t>Not Null</a:t>
                      </a:r>
                      <a:endParaRPr lang="en-US" sz="1800" dirty="0">
                        <a:latin typeface="+mn-lt"/>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0634139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p:nvPr/>
        </p:nvPicPr>
        <p:blipFill>
          <a:blip r:embed="rId2"/>
          <a:srcRect/>
          <a:stretch>
            <a:fillRect/>
          </a:stretch>
        </p:blipFill>
        <p:spPr bwMode="auto">
          <a:xfrm>
            <a:off x="3222625" y="2445067"/>
            <a:ext cx="6203950" cy="3796665"/>
          </a:xfrm>
          <a:prstGeom prst="rect">
            <a:avLst/>
          </a:prstGeom>
          <a:noFill/>
          <a:ln w="9525">
            <a:noFill/>
            <a:miter lim="800000"/>
            <a:headEnd/>
            <a:tailEnd/>
          </a:ln>
        </p:spPr>
      </p:pic>
      <p:sp>
        <p:nvSpPr>
          <p:cNvPr id="9" name="Rectangle 2"/>
          <p:cNvSpPr>
            <a:spLocks noChangeArrowheads="1"/>
          </p:cNvSpPr>
          <p:nvPr/>
        </p:nvSpPr>
        <p:spPr bwMode="auto">
          <a:xfrm>
            <a:off x="4687994" y="1593885"/>
            <a:ext cx="32962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(Input) Log </a:t>
            </a:r>
            <a:r>
              <a:rPr lang="en-IN" sz="2000" b="1" u="sng" dirty="0">
                <a:solidFill>
                  <a:schemeClr val="bg1"/>
                </a:solidFill>
                <a:effectLst>
                  <a:glow rad="228600">
                    <a:schemeClr val="accent5">
                      <a:satMod val="175000"/>
                      <a:alpha val="40000"/>
                    </a:schemeClr>
                  </a:glow>
                </a:effectLst>
              </a:rPr>
              <a:t>in Web Form :</a:t>
            </a:r>
          </a:p>
        </p:txBody>
      </p:sp>
    </p:spTree>
    <p:extLst>
      <p:ext uri="{BB962C8B-B14F-4D97-AF65-F5344CB8AC3E}">
        <p14:creationId xmlns:p14="http://schemas.microsoft.com/office/powerpoint/2010/main" val="373121270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679613"/>
            <a:ext cx="3950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(Validation)  Log </a:t>
            </a:r>
            <a:r>
              <a:rPr lang="en-IN" sz="2000" b="1" u="sng" dirty="0">
                <a:solidFill>
                  <a:schemeClr val="bg1"/>
                </a:solidFill>
                <a:effectLst>
                  <a:glow rad="228600">
                    <a:schemeClr val="accent5">
                      <a:satMod val="175000"/>
                      <a:alpha val="40000"/>
                    </a:schemeClr>
                  </a:glow>
                </a:effectLst>
              </a:rPr>
              <a:t>in Web Form :</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p:cNvPicPr/>
          <p:nvPr/>
        </p:nvPicPr>
        <p:blipFill>
          <a:blip r:embed="rId2"/>
          <a:srcRect/>
          <a:stretch>
            <a:fillRect/>
          </a:stretch>
        </p:blipFill>
        <p:spPr bwMode="auto">
          <a:xfrm>
            <a:off x="3238170" y="2561029"/>
            <a:ext cx="6209145" cy="3855028"/>
          </a:xfrm>
          <a:prstGeom prst="rect">
            <a:avLst/>
          </a:prstGeom>
          <a:noFill/>
          <a:ln w="9525">
            <a:noFill/>
            <a:miter lim="800000"/>
            <a:headEnd/>
            <a:tailEnd/>
          </a:ln>
        </p:spPr>
      </p:pic>
    </p:spTree>
    <p:extLst>
      <p:ext uri="{BB962C8B-B14F-4D97-AF65-F5344CB8AC3E}">
        <p14:creationId xmlns:p14="http://schemas.microsoft.com/office/powerpoint/2010/main" val="68877654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099053"/>
            <a:ext cx="4646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2.1 Apply For Admission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p:nvPr/>
        </p:nvPicPr>
        <p:blipFill>
          <a:blip r:embed="rId2"/>
          <a:srcRect/>
          <a:stretch>
            <a:fillRect/>
          </a:stretch>
        </p:blipFill>
        <p:spPr bwMode="auto">
          <a:xfrm>
            <a:off x="4869537" y="1714140"/>
            <a:ext cx="3360057" cy="4875348"/>
          </a:xfrm>
          <a:prstGeom prst="rect">
            <a:avLst/>
          </a:prstGeom>
          <a:noFill/>
          <a:ln w="9525">
            <a:noFill/>
            <a:miter lim="800000"/>
            <a:headEnd/>
            <a:tailEnd/>
          </a:ln>
        </p:spPr>
      </p:pic>
    </p:spTree>
    <p:extLst>
      <p:ext uri="{BB962C8B-B14F-4D97-AF65-F5344CB8AC3E}">
        <p14:creationId xmlns:p14="http://schemas.microsoft.com/office/powerpoint/2010/main" val="85896143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099053"/>
            <a:ext cx="4646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2.2 Apply For Admission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p:cNvPicPr/>
          <p:nvPr/>
        </p:nvPicPr>
        <p:blipFill>
          <a:blip r:embed="rId2"/>
          <a:srcRect/>
          <a:stretch>
            <a:fillRect/>
          </a:stretch>
        </p:blipFill>
        <p:spPr bwMode="auto">
          <a:xfrm>
            <a:off x="4378960" y="1882501"/>
            <a:ext cx="4653280" cy="4602480"/>
          </a:xfrm>
          <a:prstGeom prst="rect">
            <a:avLst/>
          </a:prstGeom>
          <a:noFill/>
          <a:ln w="9525">
            <a:noFill/>
            <a:miter lim="800000"/>
            <a:headEnd/>
            <a:tailEnd/>
          </a:ln>
        </p:spPr>
      </p:pic>
    </p:spTree>
    <p:extLst>
      <p:ext uri="{BB962C8B-B14F-4D97-AF65-F5344CB8AC3E}">
        <p14:creationId xmlns:p14="http://schemas.microsoft.com/office/powerpoint/2010/main" val="176755595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099053"/>
            <a:ext cx="4646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2.3 Apply For Admission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p:nvPr/>
        </p:nvPicPr>
        <p:blipFill>
          <a:blip r:embed="rId2"/>
          <a:srcRect/>
          <a:stretch>
            <a:fillRect/>
          </a:stretch>
        </p:blipFill>
        <p:spPr bwMode="auto">
          <a:xfrm>
            <a:off x="4848486" y="1626325"/>
            <a:ext cx="3569788" cy="4919618"/>
          </a:xfrm>
          <a:prstGeom prst="rect">
            <a:avLst/>
          </a:prstGeom>
          <a:noFill/>
          <a:ln w="9525">
            <a:noFill/>
            <a:miter lim="800000"/>
            <a:headEnd/>
            <a:tailEnd/>
          </a:ln>
        </p:spPr>
      </p:pic>
    </p:spTree>
    <p:extLst>
      <p:ext uri="{BB962C8B-B14F-4D97-AF65-F5344CB8AC3E}">
        <p14:creationId xmlns:p14="http://schemas.microsoft.com/office/powerpoint/2010/main" val="402600535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099053"/>
            <a:ext cx="4646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2.4 Apply For Admission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p:cNvPicPr/>
          <p:nvPr/>
        </p:nvPicPr>
        <p:blipFill>
          <a:blip r:embed="rId2"/>
          <a:srcRect/>
          <a:stretch>
            <a:fillRect/>
          </a:stretch>
        </p:blipFill>
        <p:spPr bwMode="auto">
          <a:xfrm>
            <a:off x="4835449" y="1643020"/>
            <a:ext cx="3844099" cy="5026297"/>
          </a:xfrm>
          <a:prstGeom prst="rect">
            <a:avLst/>
          </a:prstGeom>
          <a:noFill/>
          <a:ln w="9525">
            <a:noFill/>
            <a:miter lim="800000"/>
            <a:headEnd/>
            <a:tailEnd/>
          </a:ln>
        </p:spPr>
      </p:pic>
    </p:spTree>
    <p:extLst>
      <p:ext uri="{BB962C8B-B14F-4D97-AF65-F5344CB8AC3E}">
        <p14:creationId xmlns:p14="http://schemas.microsoft.com/office/powerpoint/2010/main" val="168386010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505445"/>
            <a:ext cx="418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3.1 Forgot Password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p:nvPr/>
        </p:nvPicPr>
        <p:blipFill>
          <a:blip r:embed="rId2"/>
          <a:srcRect/>
          <a:stretch>
            <a:fillRect/>
          </a:stretch>
        </p:blipFill>
        <p:spPr bwMode="auto">
          <a:xfrm>
            <a:off x="2940685" y="2402831"/>
            <a:ext cx="7146744" cy="3620589"/>
          </a:xfrm>
          <a:prstGeom prst="rect">
            <a:avLst/>
          </a:prstGeom>
          <a:noFill/>
        </p:spPr>
      </p:pic>
    </p:spTree>
    <p:extLst>
      <p:ext uri="{BB962C8B-B14F-4D97-AF65-F5344CB8AC3E}">
        <p14:creationId xmlns:p14="http://schemas.microsoft.com/office/powerpoint/2010/main" val="392470643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1206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402234" y="1505445"/>
            <a:ext cx="418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3.2 Forgot Password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p:cNvPicPr/>
          <p:nvPr/>
        </p:nvPicPr>
        <p:blipFill>
          <a:blip r:embed="rId2"/>
          <a:srcRect/>
          <a:stretch>
            <a:fillRect/>
          </a:stretch>
        </p:blipFill>
        <p:spPr bwMode="auto">
          <a:xfrm>
            <a:off x="3114852" y="2399196"/>
            <a:ext cx="6653261" cy="3812918"/>
          </a:xfrm>
          <a:prstGeom prst="rect">
            <a:avLst/>
          </a:prstGeom>
          <a:noFill/>
          <a:ln w="9525">
            <a:noFill/>
            <a:miter lim="800000"/>
            <a:headEnd/>
            <a:tailEnd/>
          </a:ln>
        </p:spPr>
      </p:pic>
    </p:spTree>
    <p:extLst>
      <p:ext uri="{BB962C8B-B14F-4D97-AF65-F5344CB8AC3E}">
        <p14:creationId xmlns:p14="http://schemas.microsoft.com/office/powerpoint/2010/main" val="144318236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150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518346" y="1258707"/>
            <a:ext cx="34838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4.0 Home Page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p:nvPr/>
        </p:nvPicPr>
        <p:blipFill>
          <a:blip r:embed="rId2"/>
          <a:srcRect/>
          <a:stretch>
            <a:fillRect/>
          </a:stretch>
        </p:blipFill>
        <p:spPr bwMode="auto">
          <a:xfrm>
            <a:off x="4229569" y="1975402"/>
            <a:ext cx="3985534" cy="4599563"/>
          </a:xfrm>
          <a:prstGeom prst="rect">
            <a:avLst/>
          </a:prstGeom>
          <a:noFill/>
          <a:ln w="9525">
            <a:noFill/>
            <a:miter lim="800000"/>
            <a:headEnd/>
            <a:tailEnd/>
          </a:ln>
        </p:spPr>
      </p:pic>
    </p:spTree>
    <p:extLst>
      <p:ext uri="{BB962C8B-B14F-4D97-AF65-F5344CB8AC3E}">
        <p14:creationId xmlns:p14="http://schemas.microsoft.com/office/powerpoint/2010/main" val="228536366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150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184524" y="1374819"/>
            <a:ext cx="43959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5.1 Manage Feed Back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p:cNvPicPr/>
          <p:nvPr/>
        </p:nvPicPr>
        <p:blipFill>
          <a:blip r:embed="rId2"/>
          <a:srcRect/>
          <a:stretch>
            <a:fillRect/>
          </a:stretch>
        </p:blipFill>
        <p:spPr bwMode="auto">
          <a:xfrm>
            <a:off x="3790493" y="2061029"/>
            <a:ext cx="5179336" cy="4251196"/>
          </a:xfrm>
          <a:prstGeom prst="rect">
            <a:avLst/>
          </a:prstGeom>
          <a:noFill/>
          <a:ln w="9525">
            <a:noFill/>
            <a:miter lim="800000"/>
            <a:headEnd/>
            <a:tailEnd/>
          </a:ln>
        </p:spPr>
      </p:pic>
    </p:spTree>
    <p:extLst>
      <p:ext uri="{BB962C8B-B14F-4D97-AF65-F5344CB8AC3E}">
        <p14:creationId xmlns:p14="http://schemas.microsoft.com/office/powerpoint/2010/main" val="251126811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1508" y="347739"/>
            <a:ext cx="6481583" cy="523220"/>
          </a:xfrm>
          <a:prstGeom prst="rect">
            <a:avLst/>
          </a:prstGeom>
        </p:spPr>
        <p:txBody>
          <a:bodyPr wrap="none">
            <a:spAutoFit/>
          </a:bodyPr>
          <a:lstStyle/>
          <a:p>
            <a:r>
              <a:rPr lang="en-IN" sz="2800" b="1" u="sng" dirty="0">
                <a:solidFill>
                  <a:schemeClr val="bg1"/>
                </a:solidFill>
                <a:effectLst>
                  <a:glow rad="228600">
                    <a:schemeClr val="accent5">
                      <a:satMod val="175000"/>
                      <a:alpha val="40000"/>
                    </a:schemeClr>
                  </a:glow>
                </a:effectLst>
              </a:rPr>
              <a:t>Design Of Input-Output </a:t>
            </a:r>
            <a:r>
              <a:rPr lang="en-IN" sz="2800" b="1" u="sng" dirty="0" smtClean="0">
                <a:solidFill>
                  <a:schemeClr val="bg1"/>
                </a:solidFill>
                <a:effectLst>
                  <a:glow rad="228600">
                    <a:schemeClr val="accent5">
                      <a:satMod val="175000"/>
                      <a:alpha val="40000"/>
                    </a:schemeClr>
                  </a:glow>
                </a:effectLst>
              </a:rPr>
              <a:t>Screens &amp; Reports</a:t>
            </a:r>
            <a:endParaRPr lang="en-IN" sz="2800" b="1" u="sng" dirty="0">
              <a:solidFill>
                <a:schemeClr val="bg1"/>
              </a:solidFill>
              <a:effectLst>
                <a:glow rad="228600">
                  <a:schemeClr val="accent5">
                    <a:satMod val="175000"/>
                    <a:alpha val="40000"/>
                  </a:schemeClr>
                </a:glow>
              </a:effectLst>
            </a:endParaRPr>
          </a:p>
        </p:txBody>
      </p:sp>
      <p:sp>
        <p:nvSpPr>
          <p:cNvPr id="5" name="Rectangle 2"/>
          <p:cNvSpPr>
            <a:spLocks noChangeArrowheads="1"/>
          </p:cNvSpPr>
          <p:nvPr/>
        </p:nvSpPr>
        <p:spPr bwMode="auto">
          <a:xfrm>
            <a:off x="4184524" y="1374819"/>
            <a:ext cx="44953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IN" sz="2000" b="1" u="sng" dirty="0" smtClean="0">
                <a:solidFill>
                  <a:schemeClr val="bg1"/>
                </a:solidFill>
                <a:effectLst>
                  <a:glow rad="228600">
                    <a:schemeClr val="accent5">
                      <a:satMod val="175000"/>
                      <a:alpha val="40000"/>
                    </a:schemeClr>
                  </a:glow>
                </a:effectLst>
              </a:rPr>
              <a:t>5.2 Manage Contact US Web Form </a:t>
            </a:r>
            <a:r>
              <a:rPr lang="en-IN" sz="2000" b="1" u="sng" dirty="0">
                <a:solidFill>
                  <a:schemeClr val="bg1"/>
                </a:solidFill>
                <a:effectLst>
                  <a:glow rad="228600">
                    <a:schemeClr val="accent5">
                      <a:satMod val="175000"/>
                      <a:alpha val="40000"/>
                    </a:schemeClr>
                  </a:glow>
                </a:effectLst>
              </a:rPr>
              <a:t>:</a:t>
            </a: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p:nvPr/>
        </p:nvPicPr>
        <p:blipFill>
          <a:blip r:embed="rId2"/>
          <a:srcRect/>
          <a:stretch>
            <a:fillRect/>
          </a:stretch>
        </p:blipFill>
        <p:spPr bwMode="auto">
          <a:xfrm>
            <a:off x="3554637" y="2156081"/>
            <a:ext cx="5734505" cy="4273748"/>
          </a:xfrm>
          <a:prstGeom prst="rect">
            <a:avLst/>
          </a:prstGeom>
          <a:noFill/>
          <a:ln w="9525">
            <a:noFill/>
            <a:miter lim="800000"/>
            <a:headEnd/>
            <a:tailEnd/>
          </a:ln>
        </p:spPr>
      </p:pic>
    </p:spTree>
    <p:extLst>
      <p:ext uri="{BB962C8B-B14F-4D97-AF65-F5344CB8AC3E}">
        <p14:creationId xmlns:p14="http://schemas.microsoft.com/office/powerpoint/2010/main" val="327606620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Tx/>
              <a:buAutoNum type="arabicPeriod"/>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Functional Testing :</a:t>
            </a:r>
          </a:p>
          <a:p>
            <a:pPr marL="457200" marR="0" lvl="0" indent="-45720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Functional testing is an essential part of website, as it ensures that all the functions on the website work as expected. The following are the steps Involved in functional testing for a website:</a:t>
            </a: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Identify the functions to be tested: This involves creating a list of all the interactive elements on the website, such as links, forms, navigation menus, and buttons. </a:t>
            </a: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Define the expected behavior: This involves defining the expected behavior of each function. For example, a link should take the user to the correct page, a form should submit the data correctly, and a button should perform the expected action. </a:t>
            </a: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Create test cases: This involves creating test cases that cover all the possible scenarios for each function. For example, a test case for a form might include testing what happens when the user enters invalid data, or when the user submits the form without filling out all the required fields. </a:t>
            </a: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sz="2000" b="0"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Execute the test cases: This involves running the test cases and verifying that the functions work as expected. Any issues or bugs that are discovered during testing should be documented and reported. </a:t>
            </a:r>
            <a:endParaRPr kumimoji="0" lang="en-US" sz="2000" b="0" i="0" u="none" strike="noStrike" cap="none" normalizeH="0" baseline="0" dirty="0" smtClean="0">
              <a:ln>
                <a:noFill/>
              </a:ln>
              <a:solidFill>
                <a:schemeClr val="bg1"/>
              </a:solidFill>
              <a:effectLst>
                <a:glow rad="228600">
                  <a:schemeClr val="accent5">
                    <a:satMod val="175000"/>
                    <a:alpha val="40000"/>
                  </a:schemeClr>
                </a:glow>
              </a:effectLst>
              <a:cs typeface="Arial" pitchFamily="34" charset="0"/>
            </a:endParaRPr>
          </a:p>
        </p:txBody>
      </p:sp>
    </p:spTree>
    <p:extLst>
      <p:ext uri="{BB962C8B-B14F-4D97-AF65-F5344CB8AC3E}">
        <p14:creationId xmlns:p14="http://schemas.microsoft.com/office/powerpoint/2010/main" val="168540365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31700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Retest: After any issues or bugs are fixed, the functions should be retested to ensure that the changes have been made correctly. </a:t>
            </a:r>
          </a:p>
          <a:p>
            <a:pPr lvl="0">
              <a:buFont typeface="Wingdings" pitchFamily="2" charset="2"/>
              <a:buChar char="Ø"/>
            </a:pP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Sign off: Once all the functions have been tested and any issues have been fixed, the functional testing phase can be signed off, and the website can move on to the next phase of testing or be launched.</a:t>
            </a:r>
            <a:endParaRPr lang="en-US" sz="2000" dirty="0" smtClean="0">
              <a:solidFill>
                <a:schemeClr val="bg1"/>
              </a:solidFill>
              <a:effectLst>
                <a:glow rad="228600">
                  <a:schemeClr val="accent5">
                    <a:satMod val="175000"/>
                    <a:alpha val="40000"/>
                  </a:schemeClr>
                </a:glow>
              </a:effectLst>
            </a:endParaRPr>
          </a:p>
          <a:p>
            <a:pPr>
              <a:buFont typeface="Wingdings" pitchFamily="2" charset="2"/>
              <a:buChar char="Ø"/>
            </a:pP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246670138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59400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2. Usability Testing :</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Scalability testing is a critical part of website, as it ensures that the website is easy to use and      navigate. The following are the steps involved in usability testing for a website: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Identify the user groups: This involves identifying the target audience for the website, such as age, gender, technical proficiency, and experience with similar websites.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Define the usability goals: This involves defining the usability goals of the website, such as the ease of use, </a:t>
            </a:r>
            <a:r>
              <a:rPr lang="en-IN" sz="2000" dirty="0" err="1" smtClean="0">
                <a:solidFill>
                  <a:schemeClr val="bg1"/>
                </a:solidFill>
                <a:effectLst>
                  <a:glow rad="228600">
                    <a:schemeClr val="accent5">
                      <a:satMod val="175000"/>
                      <a:alpha val="40000"/>
                    </a:schemeClr>
                  </a:glow>
                </a:effectLst>
              </a:rPr>
              <a:t>learnability</a:t>
            </a:r>
            <a:r>
              <a:rPr lang="en-IN" sz="2000" dirty="0" smtClean="0">
                <a:solidFill>
                  <a:schemeClr val="bg1"/>
                </a:solidFill>
                <a:effectLst>
                  <a:glow rad="228600">
                    <a:schemeClr val="accent5">
                      <a:satMod val="175000"/>
                      <a:alpha val="40000"/>
                    </a:schemeClr>
                  </a:glow>
                </a:effectLst>
              </a:rPr>
              <a:t>, efficiency, and user satisfaction.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Create test scenarios: This involves creating realistic scenarios that the users will encounter when using the website. For example, a scenario might be to find a specific product or service, place an order, or contact customer service.</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Recruit participants: This involves recruiting participants who match the target audience and have not previously used the website. The participants should be briefed on the usability goals and test scenarios.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2802477261"/>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560153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2. Usability Testing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Conduct the testing: This involves observing the participants as they use the website to complete the test scenarios. The participants should be encouraged to think out loud and provide feedback on the usability of the website.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 Analyze the results: This involves analyzing the feedback provided by the participants and identifying any usability issues or areas for improvement. The results should be documented and prioritized based on their impact on the usability goals.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 Fix the issues: This involves fixing the usability issues and retesting the website to ensure that the changes have been made correctly.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 Sign off: Once all the usability issues have been fixed, and the website meets the usability goals, the usability testing phase can be signed off, and the website can move on to the next phase of testing or be launched.</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140616622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3. Compatibility Testing :</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Compatibility testing is a crucial part of website documentation, as it ensures that the website works correctly on different browsers, devices, and operating systems. The following are the steps involved in compatibility testing for a website: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Identify the target browsers and devices: This involves identifying the browsers and devices that the website must work on. This can be determined by analyzing website traffic and user data.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Create a testing plan: This involves creating a plan that outlines the specific combinations of browsers, devices, and operating systems to be tested. The plan should also include the testing methodology and the tools to be used for testing.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the website: This involves testing the website on the target browsers, devices, and operating systems. This can be done manually or by using automated testing tools.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Identify compatibility issues: This involves identifying any compatibility issues or inconsistencies that occur when the website is tested on different browsers, devices, and operating systems.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43504316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3. Compatibility Testing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Document the issues: This involves documenting the compatibility issues found during testing, including screenshots and error messages. The issues should be prioritized based on their impact on the user experience and the target audience.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Fix the issues: This involves fixing the compatibility issues and retesting the website to ensure that the changes have been made correctly.</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Sign off: Once all the compatibility issues have been fixed, and the website works correctly on all the target browsers, devices, and operating systems, the compatibility testing phase can be signed off, and the website can move on to the next phase of testing or be launched.</a:t>
            </a: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249260905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5940088"/>
          </a:xfrm>
          <a:prstGeom prst="rect">
            <a:avLst/>
          </a:prstGeom>
          <a:noFill/>
          <a:ln w="9525">
            <a:noFill/>
            <a:miter lim="800000"/>
            <a:headEnd/>
            <a:tailEnd/>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4. Performance Testing :</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Performance testing is a critical part of website documentation, as it ensures that the website can handle expected user traffic and operate efficiently under load. The following are the steps involved in performance testing for a website: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Identify the performance goals: This involves identifying the expected user traffic, response time, and throughput for the website.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Create a testing plan: This involves creating a plan that outlines the specific scenarios to be tested, the number of users to simulate, and the tools to be used for testing. </a:t>
            </a: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the website: This involves testing the website under different load scenarios to identify its response time, throughput, and resource utilization. This can be done manually or by using automated testing tools.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Analyze the results: This involves analyzing the results of the performance testing to identify any performance issues or bottlenecks. The results should be documented and prioritized based on their impact on the performance goals.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412003345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31700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4. Performance Testing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Fix the issues: This involves fixing the performance issues and retesting the website to ensure that the changes have been made correctly. </a:t>
            </a:r>
            <a:endParaRPr lang="en-US" sz="2000" dirty="0" smtClean="0">
              <a:solidFill>
                <a:schemeClr val="bg1"/>
              </a:solidFill>
              <a:effectLst>
                <a:glow rad="228600">
                  <a:schemeClr val="accent5">
                    <a:satMod val="175000"/>
                    <a:alpha val="40000"/>
                  </a:schemeClr>
                </a:glow>
              </a:effectLst>
            </a:endParaRPr>
          </a:p>
          <a:p>
            <a:pPr>
              <a:buFont typeface="Wingdings" pitchFamily="2" charset="2"/>
              <a:buChar char="Ø"/>
            </a:pPr>
            <a:r>
              <a:rPr lang="en-IN" sz="2000" dirty="0" smtClean="0">
                <a:solidFill>
                  <a:schemeClr val="bg1"/>
                </a:solidFill>
                <a:effectLst>
                  <a:glow rad="228600">
                    <a:schemeClr val="accent5">
                      <a:satMod val="175000"/>
                      <a:alpha val="40000"/>
                    </a:schemeClr>
                  </a:glow>
                </a:effectLst>
              </a:rPr>
              <a:t>Sign off: Once all the performance issues have been fixed, and the website meets the performance goals, the performance testing phase can be signed off, and the website can move on to the next phase of testing or be launched.</a:t>
            </a: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61369617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914399" y="1074059"/>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rPr>
              <a:t>11.1 Testing Procedures:</a:t>
            </a: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smtClean="0">
              <a:solidFill>
                <a:schemeClr val="bg1"/>
              </a:solidFill>
              <a:effectLst>
                <a:glow rad="228600">
                  <a:schemeClr val="accent5">
                    <a:satMod val="175000"/>
                    <a:alpha val="40000"/>
                  </a:schemeClr>
                </a:glow>
              </a:effectLst>
              <a:ea typeface="Calibri" pitchFamily="34" charset="0"/>
              <a:cs typeface="Arial" pitchFamily="34" charset="0"/>
            </a:endParaRPr>
          </a:p>
          <a:p>
            <a:r>
              <a:rPr lang="en-IN" sz="2000" b="1" dirty="0" smtClean="0">
                <a:solidFill>
                  <a:schemeClr val="bg1"/>
                </a:solidFill>
                <a:effectLst>
                  <a:glow rad="228600">
                    <a:schemeClr val="accent5">
                      <a:satMod val="175000"/>
                      <a:alpha val="40000"/>
                    </a:schemeClr>
                  </a:glow>
                </a:effectLst>
              </a:rPr>
              <a:t>5. Security Testing :</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Security testing is a key part of website documentation, as it helps to identify vulnerabilities, threats, and risks that could be exploited by malicious actors. Generally, security testing involves a combination of manual testing and automated tools to identify potential issues. Manual testing may involve a code review or an audit of security practices, while automated tools can scan websites for potential issues such as cross-site scripting and SQL injection vulnerabilities. Once potential issues have been identified, they can then be addressed by implementing the necessary security practices, such as input validation and proper authentication and authorization.</a:t>
            </a: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108433730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pPr marL="457200" lvl="0" indent="-457200">
              <a:buAutoNum type="arabicPeriod"/>
            </a:pPr>
            <a:r>
              <a:rPr lang="en-IN" sz="2000" b="1" dirty="0" smtClean="0">
                <a:solidFill>
                  <a:schemeClr val="bg1"/>
                </a:solidFill>
                <a:effectLst>
                  <a:glow rad="228600">
                    <a:schemeClr val="accent5">
                      <a:satMod val="175000"/>
                      <a:alpha val="40000"/>
                    </a:schemeClr>
                  </a:glow>
                </a:effectLst>
              </a:rPr>
              <a:t>Planning </a:t>
            </a:r>
          </a:p>
          <a:p>
            <a:pPr marL="457200" lvl="0" indent="-457200"/>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Planning is an important step in creating any kind of documentation, including website documentation. Here are some key steps to consider when planning your website documentation: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Identify the purpose and audience: Determine the purpose of your website documentation and who your target audience is. This will help you tailor your content and language to meet their needs.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Define the scope: Determine the scope of your website documentation, which includes the specific topics you will cover and the level of detail you will go into for each topic. This will help you create an outline of your documentation.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Determine the format: Decide on the format of your website documentation. Will it be a series of web pages, a PDF, or something else? This will help you decide on the tools and software you will use to create your documentation.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Create an outline: Create an outline of your website documentation that includes the topics you will cover and the order in which you will cover them. This will help you organize your content and ensure that you cover all necessary information. </a:t>
            </a: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145478028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31700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pPr marL="457200" lvl="0" indent="-457200">
              <a:buAutoNum type="arabicPeriod"/>
            </a:pPr>
            <a:r>
              <a:rPr lang="en-IN" sz="2000" b="1" dirty="0" smtClean="0">
                <a:solidFill>
                  <a:schemeClr val="bg1"/>
                </a:solidFill>
                <a:effectLst>
                  <a:glow rad="228600">
                    <a:schemeClr val="accent5">
                      <a:satMod val="175000"/>
                      <a:alpha val="40000"/>
                    </a:schemeClr>
                  </a:glow>
                </a:effectLst>
              </a:rPr>
              <a:t>Planning </a:t>
            </a:r>
          </a:p>
          <a:p>
            <a:pPr marL="457200" lvl="0" indent="-45720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Write and revise: Write your website documentation, making sure to use clear and concise language. Revise your content to ensure that it is accurate, complete, and easy to understand.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and review: Test your website documentation with a small group of users to make sure it is easy to use and understand. Review your documentation regularly to ensure that it remains up-to-date and relevant. </a:t>
            </a:r>
            <a:endParaRPr lang="en-US" sz="2000" dirty="0" smtClean="0">
              <a:solidFill>
                <a:schemeClr val="bg1"/>
              </a:solidFill>
              <a:effectLst>
                <a:glow rad="228600">
                  <a:schemeClr val="accent5">
                    <a:satMod val="175000"/>
                    <a:alpha val="40000"/>
                  </a:schemeClr>
                </a:glow>
              </a:effectLst>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115673223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2. Design</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The design phase in website documentation refers to the process of creating a visual and structural plan for the website. During this phase, you will determine the look and feel of the website, the layout and organization of the content, and the navigation structure.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Review the website's purpose and audience: Review the website's purpose and audience to ensure that the design aligns with the website's goals and target audience.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 Create a sitemap: Create a sitemap that outlines the website's structure and the hierarchy of the pages. This will help ensure that the content is organized in a logical and intuitive way.</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Develop wire frames: Develop wire frames, which are visual representations of the layout and content of the website's pages. Wire frames can help you test and refine the design before moving on to more detailed design work. </a:t>
            </a:r>
            <a:endParaRPr lang="en-US" sz="2000" dirty="0" smtClean="0">
              <a:solidFill>
                <a:schemeClr val="bg1"/>
              </a:solidFill>
              <a:effectLst>
                <a:glow rad="228600">
                  <a:schemeClr val="accent5">
                    <a:satMod val="175000"/>
                    <a:alpha val="40000"/>
                  </a:schemeClr>
                </a:glow>
              </a:effectLst>
            </a:endParaRPr>
          </a:p>
          <a:p>
            <a:pPr>
              <a:buFont typeface="Wingdings" pitchFamily="2" charset="2"/>
              <a:buChar char="Ø"/>
            </a:pPr>
            <a:r>
              <a:rPr lang="en-IN" sz="2000" dirty="0" smtClean="0">
                <a:solidFill>
                  <a:schemeClr val="bg1"/>
                </a:solidFill>
                <a:effectLst>
                  <a:glow rad="228600">
                    <a:schemeClr val="accent5">
                      <a:satMod val="175000"/>
                      <a:alpha val="40000"/>
                    </a:schemeClr>
                  </a:glow>
                </a:effectLst>
              </a:rPr>
              <a:t> Choose a colour scheme and typography: Choose a colour scheme and typography that aligns with the website's purpose and brand. This will help create a cohesive and professional look and feel for the website.</a:t>
            </a:r>
            <a:endParaRPr kumimoji="0" lang="en-US" sz="2000" b="1" i="0" u="none" strike="noStrike" cap="none" normalizeH="0" baseline="0" dirty="0" smtClean="0">
              <a:ln>
                <a:noFill/>
              </a:ln>
              <a:solidFill>
                <a:schemeClr val="bg1"/>
              </a:solidFill>
              <a:effectLst>
                <a:glow rad="228600">
                  <a:schemeClr val="accent5">
                    <a:satMod val="175000"/>
                    <a:alpha val="40000"/>
                  </a:schemeClr>
                </a:glow>
              </a:effectLst>
              <a:ea typeface="Calibri" pitchFamily="34" charset="0"/>
              <a:cs typeface="Arial" pitchFamily="34" charset="0"/>
            </a:endParaRPr>
          </a:p>
        </p:txBody>
      </p:sp>
    </p:spTree>
    <p:extLst>
      <p:ext uri="{BB962C8B-B14F-4D97-AF65-F5344CB8AC3E}">
        <p14:creationId xmlns:p14="http://schemas.microsoft.com/office/powerpoint/2010/main" val="1042101812"/>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31700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2. Design</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Create a mock-up: Create a mock-up that incorporates the wire frames and the chosen colour scheme and typography. This will give you a more detailed and accurate representation of the website's design.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 Test and iterate: Test the mock-up with a small group of users to ensure that it is easy to use and understand. Iterate on the design based on user feedback and revise as needed.</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41268667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3. Development</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The development phase in website documentation refers to the process of turning the website design into a functional website that can be accessed and used by the website's audience. This phase involves a range of technical tasks, including coding, testing, and deployment.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Build the website's infrastructure: Build the website's infrastructure, which includes setting up the server, creating a database, and configuring the content management system (CMS) or other software tools that will be used to develop the website.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Develop the front-end: Develop the front-end of the website, which involves creating the user interface and the visual elements that the website's audience will see and interact with.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Develop the back-end: Develop the back-end of the website, which involves creating the server-side logic and the database management that powers the website's functionality.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Integrate content: Integrate content into the website, which involves adding text, images, videos, and other media to the website's pages. </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57526610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3. Development</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and debug: Test and debug the website to ensure that it is functioning properly and that there are no errors or glitches that could impact the website's usability or performance. </a:t>
            </a:r>
          </a:p>
          <a:p>
            <a:pPr lvl="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Optimize for performance: Optimize the website's performance by testing the website's loading speed, ensuring that it is mobile-friendly, and optimizing the website's code to improve its speed and efficiency. </a:t>
            </a:r>
          </a:p>
          <a:p>
            <a:pPr lvl="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Deploy the website: Deploy the website to the server and make it accessible to the website's audience.</a:t>
            </a:r>
            <a:endParaRPr lang="en-US" sz="2000" dirty="0" smtClean="0">
              <a:solidFill>
                <a:schemeClr val="bg1"/>
              </a:solidFill>
              <a:effectLst>
                <a:glow rad="228600">
                  <a:schemeClr val="accent5">
                    <a:satMod val="175000"/>
                    <a:alpha val="40000"/>
                  </a:schemeClr>
                </a:glow>
              </a:effectLst>
            </a:endParaRPr>
          </a:p>
          <a:p>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7324904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4. Testing</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Testing is a critical phase in the implementation of a website, as it helps to identify and correct any issues or bugs that could impact the website's usability or functionality. During the testing phase, you should test the website thoroughly to ensure that it meets the requirements and objectives of the project, and that it is easy to use and error-free.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Develop a testing plan: Develop a testing plan that outlines the testing process, the scope of the testing, the testing tools and methods to be used, and the expected results.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functionality: Test the website's functionality by going through all the website's pages and features to ensure that they are working as intended.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usability: Test the website's usability by performing user testing to ensure that the website is easy to navigate and understand, and that users can complete tasks without confusion or difficulty.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compatibility: Test the website's compatibility by checking that it works on all major browsers and devices, including desktops, laptops, tablets, and smart phones. </a:t>
            </a:r>
            <a:endParaRPr lang="en-US" sz="2000" dirty="0" smtClean="0">
              <a:solidFill>
                <a:schemeClr val="bg1"/>
              </a:solidFill>
              <a:effectLst>
                <a:glow rad="228600">
                  <a:schemeClr val="accent5">
                    <a:satMod val="175000"/>
                    <a:alpha val="40000"/>
                  </a:schemeClr>
                </a:glow>
              </a:effectLst>
            </a:endParaRPr>
          </a:p>
          <a:p>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58609098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4. Testing</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Test security: Test the website's security to ensure that it is protected against common security threats such as hacking, malware, and data breaches. </a:t>
            </a:r>
          </a:p>
          <a:p>
            <a:pPr lvl="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Report and fix issues: Report any issues or bugs that are found during testing, and work with the development team to fix them as quickly as possible. </a:t>
            </a:r>
          </a:p>
          <a:p>
            <a:pPr lvl="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Retest: Retest the website after the issues have been fixed to ensure that they have been resolved and that there are no new issues.</a:t>
            </a:r>
            <a:endParaRPr lang="en-US" sz="2000" dirty="0" smtClean="0">
              <a:solidFill>
                <a:schemeClr val="bg1"/>
              </a:solidFill>
              <a:effectLst>
                <a:glow rad="228600">
                  <a:schemeClr val="accent5">
                    <a:satMod val="175000"/>
                    <a:alpha val="40000"/>
                  </a:schemeClr>
                </a:glow>
              </a:effectLst>
            </a:endParaRPr>
          </a:p>
          <a:p>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40510367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59400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5. Launch</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The launch phase in website implementation refers to the process of making the website available to the public. This involves taking the website out of the development environment and moving it to the production environment where it can be accessed by the website's audience.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Final testing: Before launching the website, it is important to perform final testing to ensure that everything is working properly and that there are no last-minute issues.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Set up hosting and domain: Set up the website's hosting and domain name so that it can be accessed by the website's audience.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Transfer files and database: Transfer the website's files and database from the development environment to the production environment.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Set up analytics and tracking: Set up analytics and tracking tools to monitor the website's traffic and user behaviour.</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Create a backup plan: Create a backup plan to ensure that the website can be restored if anything goes wrong during or after the launch.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Launch the website: Launch the website and make it available to the website's audience.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Monitor and maintain: After launching the website, it is important to monitor and maintain it to ensure that it is performing as expected and that there are no issues or security threats.</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341196993"/>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6. Maintenance</a:t>
            </a:r>
          </a:p>
          <a:p>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Maintenance is a critical part of the implementation phase in website development. Maintaining a website ensures that it continues to perform as intended, remains secure, and meets the evolving needs of its audience. Here are some key steps to consider during the maintenance phase of website implementation: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Regular backups: Regularly back up the website's files and database to ensure that data is not lost in the event of a security breach, data loss, or other issues.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Monitor website performance: Monitor the website's performance by using analytics and tracking tools to track website traffic, user behaviour, and other metrics that help to assess website performance.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Update website software: Keep the website's software, including the CMS and other plug-ins or modules, up to date with the latest releases and patches to ensure that the website remains secure and optimized for performance. </a:t>
            </a:r>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Check for broken links and errors: Regularly check for broken links and errors that could impact the website's usability or search engine rankings. </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293197647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68196" y="347739"/>
            <a:ext cx="6911700"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Testing Procedures &amp; Implementation Phases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957944"/>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000" b="1" dirty="0" smtClean="0">
                <a:solidFill>
                  <a:schemeClr val="bg1"/>
                </a:solidFill>
                <a:effectLst>
                  <a:glow rad="228600">
                    <a:schemeClr val="accent5">
                      <a:satMod val="175000"/>
                      <a:alpha val="40000"/>
                    </a:schemeClr>
                  </a:glow>
                </a:effectLst>
              </a:rPr>
              <a:t>11.2 Implementation phases</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a:t>
            </a:r>
            <a:endParaRPr lang="en-US" sz="2000" dirty="0" smtClean="0">
              <a:solidFill>
                <a:schemeClr val="bg1"/>
              </a:solidFill>
              <a:effectLst>
                <a:glow rad="228600">
                  <a:schemeClr val="accent5">
                    <a:satMod val="175000"/>
                    <a:alpha val="40000"/>
                  </a:schemeClr>
                </a:glow>
              </a:effectLst>
            </a:endParaRPr>
          </a:p>
          <a:p>
            <a:r>
              <a:rPr lang="en-IN" sz="2000" b="1" dirty="0" smtClean="0">
                <a:solidFill>
                  <a:schemeClr val="bg1"/>
                </a:solidFill>
                <a:effectLst>
                  <a:glow rad="228600">
                    <a:schemeClr val="accent5">
                      <a:satMod val="175000"/>
                      <a:alpha val="40000"/>
                    </a:schemeClr>
                  </a:glow>
                </a:effectLst>
              </a:rPr>
              <a:t>  6. Maintenance</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Fix issues and bugs: As issues or bugs arise, promptly work to fix them to ensure that the website remains functional and secure. </a:t>
            </a:r>
          </a:p>
          <a:p>
            <a:pPr lvl="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Check for security vulnerabilities: Regularly check the website for security vulnerabilities and take steps to address any issues that are found. </a:t>
            </a:r>
          </a:p>
          <a:p>
            <a:pPr lvl="0"/>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Review and update content: Regularly review and update the website's content to ensure that it remains fresh, relevant, and engaging for the website's audience.</a:t>
            </a:r>
            <a:endParaRPr lang="en-US" sz="2000" dirty="0" smtClean="0">
              <a:solidFill>
                <a:schemeClr val="bg1"/>
              </a:solidFill>
              <a:effectLst>
                <a:glow rad="228600">
                  <a:schemeClr val="accent5">
                    <a:satMod val="175000"/>
                    <a:alpha val="40000"/>
                  </a:schemeClr>
                </a:glow>
              </a:effectLst>
            </a:endParaRPr>
          </a:p>
          <a:p>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2066613330"/>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3396" y="347737"/>
            <a:ext cx="1841723"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Limitations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074056"/>
            <a:ext cx="10203543" cy="53245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Limited compatibility with older web browsers, which may result in degraded performance or usability.</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Certain features may be disabled or unavailable during periods of high traffic or server load.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Features of the website may only be available to users who have created an account.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The website may not be compatible with some types of mobile devices, particularly older devices or those with limited processing power.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Some pages of the website may load slowly due to high traffic or server load.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The website may not support certain web browsers, particularly older or less popular browsers.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Certain features of the website may not be available during periods of high traffic or server load. </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55810467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3396" y="376765"/>
            <a:ext cx="1841723"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Limitations</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407878"/>
            <a:ext cx="10203543" cy="47089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The website may not be able to provide full customer support or troubleshooting for users who experience technical issues or difficulties.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The website may not provide full support for certain web browsers, particularly those with limited capabilities.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The website may require users to have a certain level of technical expertise or knowledge in order to use certain features or access certain content.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Some content on the website may be subject to copyright or other intellectual property restrictions.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The website may require users to provide personal information in order to access certain features or content.  The website may not provide full support for certain types of encryption or security protocols.</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75220755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2556" y="376765"/>
            <a:ext cx="3722814"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Proposed Enhancement</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407878"/>
            <a:ext cx="10203543" cy="5324535"/>
          </a:xfrm>
          <a:prstGeom prst="rect">
            <a:avLst/>
          </a:prstGeom>
          <a:noFill/>
          <a:ln w="9525">
            <a:noFill/>
            <a:miter lim="800000"/>
            <a:headEnd/>
            <a:tailEnd/>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Introduce a more user-friendly interface that provides a clear and intuitive navigation experience for users.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Implement a responsive design that adjusts to different screen sizes and devices, to improve the website's accessibility.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Improve the website's search functionality, by using advanced search algorithms and filters to help users find information quickly and easily.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Enhance the website's multimedia capabilities, by adding support for new video and audio codes, and introducing advanced media player controls.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Implement a Improve the website's performance, by optimizing code and using content delivery networks to reduce load times and improve page speed.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robust and secure online payment option, to allow users to make online purchases with confidence. </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491769034"/>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2556" y="376765"/>
            <a:ext cx="3722814"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Proposed Enhancement</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407878"/>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Enhance the website's security and privacy features, to protect user data and ensure compliance with data protection laws.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Develop a more comprehensive and informative FAQ section, to help users find answers to their questions quickly and easily.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Currently Guest users can apply for Admission as a student  only but, In future Guest users will be able to Apply for job ( as a Staff ) also.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Currently student users can only View their Personal Information and Academic details but, In future Student users will be able to Apply </a:t>
            </a:r>
            <a:r>
              <a:rPr lang="en-IN" sz="2000" dirty="0" err="1" smtClean="0">
                <a:solidFill>
                  <a:schemeClr val="bg1"/>
                </a:solidFill>
                <a:effectLst>
                  <a:glow rad="228600">
                    <a:schemeClr val="accent5">
                      <a:satMod val="175000"/>
                      <a:alpha val="40000"/>
                    </a:schemeClr>
                  </a:glow>
                </a:effectLst>
              </a:rPr>
              <a:t>Updation</a:t>
            </a:r>
            <a:r>
              <a:rPr lang="en-IN" sz="2000" dirty="0" smtClean="0">
                <a:solidFill>
                  <a:schemeClr val="bg1"/>
                </a:solidFill>
                <a:effectLst>
                  <a:glow rad="228600">
                    <a:schemeClr val="accent5">
                      <a:satMod val="175000"/>
                      <a:alpha val="40000"/>
                    </a:schemeClr>
                  </a:glow>
                </a:effectLst>
              </a:rPr>
              <a:t> of their Personal Information, Academic Details, Update their Semester, Apply for Transfer Certificate, Apply for Admission Cancellation and so on. </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62606283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2556" y="376765"/>
            <a:ext cx="3722814"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Proposed Enhancement</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625588"/>
            <a:ext cx="10203543" cy="3477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In future, Staff user will be added and will have access of Uploading and Updating Students’ Subjects’ Materials, Question Banks, Question Bank Solutions, Old Question Papers (Unit Test Papers, Internal Examination Papers, External Examination Papers), Syllabus &amp; Structure, Detailed Syllabus Semester wise (Semester 1 – Semester 6) of all the Courses provided by the College.</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Currently Only BCA Admissions are available through website but in future all the courses provided by the college will be available for the online website admissions.</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Develop a more advanced and intuitive content management system, to allow administrators to manage and organize content more efficiently.</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1967478527"/>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2078" y="376765"/>
            <a:ext cx="1806905"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Conclusion</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625588"/>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In conclusion, our website for the </a:t>
            </a:r>
            <a:r>
              <a:rPr lang="en-IN" sz="2000" dirty="0" err="1" smtClean="0">
                <a:solidFill>
                  <a:schemeClr val="bg1"/>
                </a:solidFill>
                <a:effectLst>
                  <a:glow rad="228600">
                    <a:schemeClr val="accent5">
                      <a:satMod val="175000"/>
                      <a:alpha val="40000"/>
                    </a:schemeClr>
                  </a:glow>
                </a:effectLst>
              </a:rPr>
              <a:t>Anand</a:t>
            </a:r>
            <a:r>
              <a:rPr lang="en-IN" sz="2000" dirty="0" smtClean="0">
                <a:solidFill>
                  <a:schemeClr val="bg1"/>
                </a:solidFill>
                <a:effectLst>
                  <a:glow rad="228600">
                    <a:schemeClr val="accent5">
                      <a:satMod val="175000"/>
                      <a:alpha val="40000"/>
                    </a:schemeClr>
                  </a:glow>
                </a:effectLst>
              </a:rPr>
              <a:t> Commerce College is an all-inclusive and </a:t>
            </a:r>
            <a:r>
              <a:rPr lang="en-IN" sz="2000" dirty="0" err="1" smtClean="0">
                <a:solidFill>
                  <a:schemeClr val="bg1"/>
                </a:solidFill>
                <a:effectLst>
                  <a:glow rad="228600">
                    <a:schemeClr val="accent5">
                      <a:satMod val="175000"/>
                      <a:alpha val="40000"/>
                    </a:schemeClr>
                  </a:glow>
                </a:effectLst>
              </a:rPr>
              <a:t>userfriendly</a:t>
            </a:r>
            <a:r>
              <a:rPr lang="en-IN" sz="2000" dirty="0" smtClean="0">
                <a:solidFill>
                  <a:schemeClr val="bg1"/>
                </a:solidFill>
                <a:effectLst>
                  <a:glow rad="228600">
                    <a:schemeClr val="accent5">
                      <a:satMod val="175000"/>
                      <a:alpha val="40000"/>
                    </a:schemeClr>
                  </a:glow>
                </a:effectLst>
              </a:rPr>
              <a:t> platform that caters to every need of a Guest user, Student user, Admin user of the website. </a:t>
            </a:r>
            <a:r>
              <a:rPr lang="en-IN" sz="2000" dirty="0" err="1" smtClean="0">
                <a:solidFill>
                  <a:schemeClr val="bg1"/>
                </a:solidFill>
                <a:effectLst>
                  <a:glow rad="228600">
                    <a:schemeClr val="accent5">
                      <a:satMod val="175000"/>
                      <a:alpha val="40000"/>
                    </a:schemeClr>
                  </a:glow>
                </a:effectLst>
              </a:rPr>
              <a:t>Anand</a:t>
            </a:r>
            <a:r>
              <a:rPr lang="en-IN" sz="2000" dirty="0" smtClean="0">
                <a:solidFill>
                  <a:schemeClr val="bg1"/>
                </a:solidFill>
                <a:effectLst>
                  <a:glow rad="228600">
                    <a:schemeClr val="accent5">
                      <a:satMod val="175000"/>
                      <a:alpha val="40000"/>
                    </a:schemeClr>
                  </a:glow>
                </a:effectLst>
              </a:rPr>
              <a:t> Commerce College is one of the most famous colleges located in </a:t>
            </a:r>
            <a:r>
              <a:rPr lang="en-IN" sz="2000" dirty="0" err="1" smtClean="0">
                <a:solidFill>
                  <a:schemeClr val="bg1"/>
                </a:solidFill>
                <a:effectLst>
                  <a:glow rad="228600">
                    <a:schemeClr val="accent5">
                      <a:satMod val="175000"/>
                      <a:alpha val="40000"/>
                    </a:schemeClr>
                  </a:glow>
                </a:effectLst>
              </a:rPr>
              <a:t>Anand</a:t>
            </a:r>
            <a:r>
              <a:rPr lang="en-IN" sz="2000" dirty="0" smtClean="0">
                <a:solidFill>
                  <a:schemeClr val="bg1"/>
                </a:solidFill>
                <a:effectLst>
                  <a:glow rad="228600">
                    <a:schemeClr val="accent5">
                      <a:satMod val="175000"/>
                      <a:alpha val="40000"/>
                    </a:schemeClr>
                  </a:glow>
                </a:effectLst>
              </a:rPr>
              <a:t>, and we aim to ensure that visitors have the best possible experience while exploring this magnificent site.</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Our website offers a plethora of features and functionalities, such as Website visitors can Apply for Admission, Give Feedback, Contact us Page, view website information on Home Page and various About US pages. </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Student users can go through user authentication ( Log in Page), Forgot Password(in case of user forgets his/her Password), Reset his/her password, visit Home Page, Visit  various About US pages, View his/her Personal Details, View his/her Academic Details, Give Feedback, Interact with College/Admin user with the help of Contact US page of the website.</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789484255"/>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2078" y="376765"/>
            <a:ext cx="1806905" cy="523220"/>
          </a:xfrm>
          <a:prstGeom prst="rect">
            <a:avLst/>
          </a:prstGeom>
        </p:spPr>
        <p:txBody>
          <a:bodyPr wrap="none">
            <a:spAutoFit/>
          </a:bodyPr>
          <a:lstStyle/>
          <a:p>
            <a:r>
              <a:rPr lang="en-IN" sz="2800" b="1" u="sng" dirty="0" smtClean="0">
                <a:solidFill>
                  <a:schemeClr val="bg1"/>
                </a:solidFill>
                <a:effectLst>
                  <a:glow rad="228600">
                    <a:schemeClr val="accent5">
                      <a:satMod val="175000"/>
                      <a:alpha val="40000"/>
                    </a:schemeClr>
                  </a:glow>
                </a:effectLst>
              </a:rPr>
              <a:t>Conclusion</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625588"/>
            <a:ext cx="10203543"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Admin users can go through user authentication ( Log in Page), Forgot Password(in case of user forgets his/her Password), Reset his/her password, visit Home Page, Visit  various About US pages, View students’ Admission Applications and have access to Admit students and Delete students’ Admission Applications, Manage Student Details (Includes Viewing (Current/Studying Students, Removed Students, Viewing  Students Semester wise from Semester 1 students to Semester 6 Students ), Searching, Updating and Deleting Students’ Details), have access to View and Delete Student and Guest users’ Feedbacks, have access to View and Delete Student and Guest users’ Contact US form’s Data and so on.</a:t>
            </a:r>
            <a:endParaRPr lang="en-US" sz="2000" dirty="0" smtClean="0">
              <a:solidFill>
                <a:schemeClr val="bg1"/>
              </a:solidFill>
              <a:effectLst>
                <a:glow rad="228600">
                  <a:schemeClr val="accent5">
                    <a:satMod val="175000"/>
                    <a:alpha val="40000"/>
                  </a:schemeClr>
                </a:glow>
              </a:effectLst>
            </a:endParaRP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We hope that our website will serve as an excellent resource for students having wish to get Admission in </a:t>
            </a:r>
            <a:r>
              <a:rPr lang="en-IN" sz="2000" dirty="0" err="1" smtClean="0">
                <a:solidFill>
                  <a:schemeClr val="bg1"/>
                </a:solidFill>
                <a:effectLst>
                  <a:glow rad="228600">
                    <a:schemeClr val="accent5">
                      <a:satMod val="175000"/>
                      <a:alpha val="40000"/>
                    </a:schemeClr>
                  </a:glow>
                </a:effectLst>
              </a:rPr>
              <a:t>Anand</a:t>
            </a:r>
            <a:r>
              <a:rPr lang="en-IN" sz="2000" dirty="0" smtClean="0">
                <a:solidFill>
                  <a:schemeClr val="bg1"/>
                </a:solidFill>
                <a:effectLst>
                  <a:glow rad="228600">
                    <a:schemeClr val="accent5">
                      <a:satMod val="175000"/>
                      <a:alpha val="40000"/>
                    </a:schemeClr>
                  </a:glow>
                </a:effectLst>
              </a:rPr>
              <a:t> Commerce College, and our website will help them Apply for admission with ease. We look forward to welcoming visitors to this magnificent site and making their site visit an unforgettable experience.</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3141090899"/>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2078" y="376765"/>
            <a:ext cx="2140394" cy="523220"/>
          </a:xfrm>
          <a:prstGeom prst="rect">
            <a:avLst/>
          </a:prstGeom>
        </p:spPr>
        <p:txBody>
          <a:bodyPr wrap="none">
            <a:spAutoFit/>
          </a:bodyPr>
          <a:lstStyle/>
          <a:p>
            <a:r>
              <a:rPr lang="en-IN" sz="2800" b="1" u="sng" dirty="0" err="1" smtClean="0">
                <a:solidFill>
                  <a:schemeClr val="bg1"/>
                </a:solidFill>
                <a:effectLst>
                  <a:glow rad="228600">
                    <a:schemeClr val="accent5">
                      <a:satMod val="175000"/>
                      <a:alpha val="40000"/>
                    </a:schemeClr>
                  </a:glow>
                </a:effectLst>
              </a:rPr>
              <a:t>Bibiliography</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625588"/>
            <a:ext cx="10203543" cy="3477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v"/>
            </a:pPr>
            <a:r>
              <a:rPr lang="en-IN" sz="2000" b="1" dirty="0" smtClean="0">
                <a:solidFill>
                  <a:schemeClr val="bg1"/>
                </a:solidFill>
                <a:effectLst>
                  <a:glow rad="228600">
                    <a:schemeClr val="accent5">
                      <a:satMod val="175000"/>
                      <a:alpha val="40000"/>
                    </a:schemeClr>
                  </a:glow>
                </a:effectLst>
              </a:rPr>
              <a:t>Bibliography</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Designing Evolvable Web ASPIs With ASP.NET: Harnessing the Power of Web 1</a:t>
            </a:r>
            <a:r>
              <a:rPr lang="en-IN" sz="2000" baseline="30000" dirty="0" smtClean="0">
                <a:solidFill>
                  <a:schemeClr val="bg1"/>
                </a:solidFill>
                <a:effectLst>
                  <a:glow rad="228600">
                    <a:schemeClr val="accent5">
                      <a:satMod val="175000"/>
                      <a:alpha val="40000"/>
                    </a:schemeClr>
                  </a:glow>
                </a:effectLst>
              </a:rPr>
              <a:t>st</a:t>
            </a:r>
            <a:r>
              <a:rPr lang="en-IN" sz="2000" dirty="0" smtClean="0">
                <a:solidFill>
                  <a:schemeClr val="bg1"/>
                </a:solidFill>
                <a:effectLst>
                  <a:glow rad="228600">
                    <a:schemeClr val="accent5">
                      <a:satMod val="175000"/>
                      <a:alpha val="40000"/>
                    </a:schemeClr>
                  </a:glow>
                </a:effectLst>
              </a:rPr>
              <a:t> Edition</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Publisher: O’Reilly Media; 1</a:t>
            </a:r>
            <a:r>
              <a:rPr lang="en-IN" sz="2000" baseline="30000" dirty="0" smtClean="0">
                <a:solidFill>
                  <a:schemeClr val="bg1"/>
                </a:solidFill>
                <a:effectLst>
                  <a:glow rad="228600">
                    <a:schemeClr val="accent5">
                      <a:satMod val="175000"/>
                      <a:alpha val="40000"/>
                    </a:schemeClr>
                  </a:glow>
                </a:effectLst>
              </a:rPr>
              <a:t>st</a:t>
            </a:r>
            <a:r>
              <a:rPr lang="en-IN" sz="2000" dirty="0" smtClean="0">
                <a:solidFill>
                  <a:schemeClr val="bg1"/>
                </a:solidFill>
                <a:effectLst>
                  <a:glow rad="228600">
                    <a:schemeClr val="accent5">
                      <a:satMod val="175000"/>
                      <a:alpha val="40000"/>
                    </a:schemeClr>
                  </a:glow>
                </a:effectLst>
              </a:rPr>
              <a:t> edition(April 22,2014)</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Language: English</a:t>
            </a:r>
          </a:p>
          <a:p>
            <a:r>
              <a:rPr lang="en-IN" sz="2000" dirty="0" smtClean="0">
                <a:solidFill>
                  <a:schemeClr val="bg1"/>
                </a:solidFill>
                <a:effectLst>
                  <a:glow rad="228600">
                    <a:schemeClr val="accent5">
                      <a:satMod val="175000"/>
                      <a:alpha val="40000"/>
                    </a:schemeClr>
                  </a:glow>
                </a:effectLst>
              </a:rPr>
              <a:t>	</a:t>
            </a:r>
          </a:p>
          <a:p>
            <a:endParaRPr lang="en-US" sz="2000" dirty="0" smtClean="0">
              <a:solidFill>
                <a:schemeClr val="bg1"/>
              </a:solidFill>
              <a:effectLst>
                <a:glow rad="228600">
                  <a:schemeClr val="accent5">
                    <a:satMod val="175000"/>
                    <a:alpha val="40000"/>
                  </a:schemeClr>
                </a:glow>
              </a:effectLst>
            </a:endParaRPr>
          </a:p>
          <a:p>
            <a:pPr lvl="0">
              <a:buFont typeface="Wingdings" pitchFamily="2" charset="2"/>
              <a:buChar char="Ø"/>
            </a:pPr>
            <a:r>
              <a:rPr lang="en-IN" sz="2000" dirty="0" smtClean="0">
                <a:solidFill>
                  <a:schemeClr val="bg1"/>
                </a:solidFill>
                <a:effectLst>
                  <a:glow rad="228600">
                    <a:schemeClr val="accent5">
                      <a:satMod val="175000"/>
                      <a:alpha val="40000"/>
                    </a:schemeClr>
                  </a:glow>
                </a:effectLst>
              </a:rPr>
              <a:t>C# in Depth: Fourth Edition</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Publisher: Manning publication;4</a:t>
            </a:r>
            <a:r>
              <a:rPr lang="en-IN" sz="2000" baseline="30000" dirty="0" smtClean="0">
                <a:solidFill>
                  <a:schemeClr val="bg1"/>
                </a:solidFill>
                <a:effectLst>
                  <a:glow rad="228600">
                    <a:schemeClr val="accent5">
                      <a:satMod val="175000"/>
                      <a:alpha val="40000"/>
                    </a:schemeClr>
                  </a:glow>
                </a:effectLst>
              </a:rPr>
              <a:t>th</a:t>
            </a:r>
            <a:r>
              <a:rPr lang="en-IN" sz="2000" dirty="0" smtClean="0">
                <a:solidFill>
                  <a:schemeClr val="bg1"/>
                </a:solidFill>
                <a:effectLst>
                  <a:glow rad="228600">
                    <a:schemeClr val="accent5">
                      <a:satMod val="175000"/>
                      <a:alpha val="40000"/>
                    </a:schemeClr>
                  </a:glow>
                </a:effectLst>
              </a:rPr>
              <a:t> edition(23 March 2019)</a:t>
            </a:r>
            <a:endParaRPr lang="en-US" sz="2000" dirty="0" smtClean="0">
              <a:solidFill>
                <a:schemeClr val="bg1"/>
              </a:solidFill>
              <a:effectLst>
                <a:glow rad="228600">
                  <a:schemeClr val="accent5">
                    <a:satMod val="175000"/>
                    <a:alpha val="40000"/>
                  </a:schemeClr>
                </a:glow>
              </a:effectLst>
            </a:endParaRPr>
          </a:p>
          <a:p>
            <a:r>
              <a:rPr lang="en-IN" sz="2000" dirty="0" smtClean="0">
                <a:solidFill>
                  <a:schemeClr val="bg1"/>
                </a:solidFill>
                <a:effectLst>
                  <a:glow rad="228600">
                    <a:schemeClr val="accent5">
                      <a:satMod val="175000"/>
                      <a:alpha val="40000"/>
                    </a:schemeClr>
                  </a:glow>
                </a:effectLst>
              </a:rPr>
              <a:t>	Language: English</a:t>
            </a:r>
            <a:endParaRPr lang="en-US" sz="2000" dirty="0">
              <a:solidFill>
                <a:schemeClr val="bg1"/>
              </a:solidFill>
              <a:effectLst>
                <a:glow rad="228600">
                  <a:schemeClr val="accent5">
                    <a:satMod val="175000"/>
                    <a:alpha val="40000"/>
                  </a:schemeClr>
                </a:glow>
              </a:effectLst>
            </a:endParaRPr>
          </a:p>
        </p:txBody>
      </p:sp>
    </p:spTree>
    <p:extLst>
      <p:ext uri="{BB962C8B-B14F-4D97-AF65-F5344CB8AC3E}">
        <p14:creationId xmlns:p14="http://schemas.microsoft.com/office/powerpoint/2010/main" val="298609463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2078" y="376765"/>
            <a:ext cx="2140394" cy="523220"/>
          </a:xfrm>
          <a:prstGeom prst="rect">
            <a:avLst/>
          </a:prstGeom>
        </p:spPr>
        <p:txBody>
          <a:bodyPr wrap="none">
            <a:spAutoFit/>
          </a:bodyPr>
          <a:lstStyle/>
          <a:p>
            <a:r>
              <a:rPr lang="en-IN" sz="2800" b="1" u="sng" dirty="0" err="1" smtClean="0">
                <a:solidFill>
                  <a:schemeClr val="bg1"/>
                </a:solidFill>
                <a:effectLst>
                  <a:glow rad="228600">
                    <a:schemeClr val="accent5">
                      <a:satMod val="175000"/>
                      <a:alpha val="40000"/>
                    </a:schemeClr>
                  </a:glow>
                </a:effectLst>
              </a:rPr>
              <a:t>Bibiliography</a:t>
            </a:r>
            <a:endParaRPr lang="en-IN" sz="2800" b="1" u="sng" dirty="0">
              <a:solidFill>
                <a:schemeClr val="bg1"/>
              </a:solidFill>
              <a:effectLst>
                <a:glow rad="228600">
                  <a:schemeClr val="accent5">
                    <a:satMod val="175000"/>
                    <a:alpha val="40000"/>
                  </a:schemeClr>
                </a:glow>
              </a:effectLst>
            </a:endParaRPr>
          </a:p>
        </p:txBody>
      </p:sp>
      <p:sp>
        <p:nvSpPr>
          <p:cNvPr id="6" name="Rectangle 3"/>
          <p:cNvSpPr>
            <a:spLocks noChangeArrowheads="1"/>
          </p:cNvSpPr>
          <p:nvPr/>
        </p:nvSpPr>
        <p:spPr bwMode="auto">
          <a:xfrm>
            <a:off x="-207467" y="226365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4"/>
          <p:cNvSpPr>
            <a:spLocks noChangeArrowheads="1"/>
          </p:cNvSpPr>
          <p:nvPr/>
        </p:nvSpPr>
        <p:spPr bwMode="auto">
          <a:xfrm>
            <a:off x="3111176" y="686622"/>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4" name="Rectangle 5"/>
          <p:cNvSpPr>
            <a:spLocks noChangeArrowheads="1"/>
          </p:cNvSpPr>
          <p:nvPr/>
        </p:nvSpPr>
        <p:spPr bwMode="auto">
          <a:xfrm>
            <a:off x="3111176" y="7535097"/>
            <a:ext cx="10407722" cy="22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8" name="Rectangle 5"/>
          <p:cNvSpPr>
            <a:spLocks noChangeArrowheads="1"/>
          </p:cNvSpPr>
          <p:nvPr/>
        </p:nvSpPr>
        <p:spPr bwMode="auto">
          <a:xfrm>
            <a:off x="3568376" y="61088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9" name="Rectangle 6"/>
          <p:cNvSpPr>
            <a:spLocks noChangeArrowheads="1"/>
          </p:cNvSpPr>
          <p:nvPr/>
        </p:nvSpPr>
        <p:spPr bwMode="auto">
          <a:xfrm>
            <a:off x="3568376" y="8204386"/>
            <a:ext cx="14671937" cy="109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60420" name="Rectangle 4"/>
          <p:cNvSpPr>
            <a:spLocks noChangeArrowheads="1"/>
          </p:cNvSpPr>
          <p:nvPr/>
        </p:nvSpPr>
        <p:spPr bwMode="auto">
          <a:xfrm>
            <a:off x="870856" y="1016000"/>
            <a:ext cx="10203543" cy="59093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buFont typeface="Wingdings" pitchFamily="2" charset="2"/>
              <a:buChar char="v"/>
            </a:pPr>
            <a:r>
              <a:rPr lang="en-IN" sz="2000" b="1" dirty="0" smtClean="0">
                <a:solidFill>
                  <a:schemeClr val="bg1"/>
                </a:solidFill>
                <a:effectLst>
                  <a:glow rad="139700">
                    <a:schemeClr val="accent5">
                      <a:satMod val="175000"/>
                      <a:alpha val="40000"/>
                    </a:schemeClr>
                  </a:glow>
                </a:effectLst>
              </a:rPr>
              <a:t>References</a:t>
            </a:r>
            <a:endParaRPr lang="en-US" sz="2000" dirty="0" smtClean="0">
              <a:solidFill>
                <a:schemeClr val="bg1"/>
              </a:solidFill>
              <a:effectLst>
                <a:glow rad="139700">
                  <a:schemeClr val="accent5">
                    <a:satMod val="175000"/>
                    <a:alpha val="40000"/>
                  </a:schemeClr>
                </a:glow>
              </a:effectLst>
            </a:endParaRPr>
          </a:p>
          <a:p>
            <a:r>
              <a:rPr lang="en-IN" sz="2000" dirty="0" smtClean="0">
                <a:solidFill>
                  <a:schemeClr val="bg1"/>
                </a:solidFill>
                <a:effectLst>
                  <a:glow rad="139700">
                    <a:schemeClr val="accent5">
                      <a:satMod val="175000"/>
                      <a:alpha val="40000"/>
                    </a:schemeClr>
                  </a:glow>
                </a:effectLst>
              </a:rPr>
              <a:t> </a:t>
            </a: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2"/>
              </a:rPr>
              <a:t>www.google.com</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3"/>
              </a:rPr>
              <a:t>www.acc.ac.in</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4"/>
              </a:rPr>
              <a:t>www.w3schools.com</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5"/>
              </a:rPr>
              <a:t>https://www.youtube.com/@HaritiStudyHubEasyLearn/streams</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6"/>
              </a:rPr>
              <a:t>https://www.youtube.com/watch?v=-fkdrgFiaeI&amp;list=PL0LgduUtAhwoPqd0S8d-     DfY4WLsrfQRW-&amp;index=3&amp;t=5s</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7"/>
              </a:rPr>
              <a:t>https://www.youtube.com/watch?v=Ko3gOyWcuyk&amp;list=PL0LgduUtAhwoPqd0S8d-DfY4WLsrfQRW-&amp;index=5</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8"/>
              </a:rPr>
              <a:t>https://www.youtube.com/watch?v=jtpAMdIirpk&amp;list=PL0LgduUtAhwoPqd0S8d-DfY4WLsrfQRW-&amp;index=7</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9"/>
              </a:rPr>
              <a:t>https://www.youtube.com/watch?v=dm9T2kDCiOk&amp;list=PL0LgduUtAhwoPqd0S8d-DfY4WLsrfQRW-&amp;index=26</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10"/>
              </a:rPr>
              <a:t>https://www.youtube.com/watch?v=5pwK2cNdumc&amp;list=PL0LgduUtAhwoPqd0S8d-DfY4WLsrfQRW-&amp;index=38</a:t>
            </a:r>
            <a:endParaRPr lang="en-US" sz="2000" dirty="0" smtClean="0">
              <a:solidFill>
                <a:schemeClr val="bg1"/>
              </a:solidFill>
              <a:effectLst>
                <a:glow rad="139700">
                  <a:schemeClr val="accent5">
                    <a:satMod val="175000"/>
                    <a:alpha val="40000"/>
                  </a:schemeClr>
                </a:glow>
              </a:effectLst>
            </a:endParaRPr>
          </a:p>
          <a:p>
            <a:pPr lvl="0">
              <a:buFont typeface="Wingdings" pitchFamily="2" charset="2"/>
              <a:buChar char="Ø"/>
            </a:pPr>
            <a:r>
              <a:rPr lang="en-IN" sz="2000" u="sng" dirty="0" smtClean="0">
                <a:solidFill>
                  <a:schemeClr val="bg1"/>
                </a:solidFill>
                <a:effectLst>
                  <a:glow rad="139700">
                    <a:schemeClr val="accent5">
                      <a:satMod val="175000"/>
                      <a:alpha val="40000"/>
                    </a:schemeClr>
                  </a:glow>
                </a:effectLst>
                <a:hlinkClick r:id="rId11"/>
              </a:rPr>
              <a:t>https://www.youtube.com/watch?v=O2iHmut4xb8&amp;list=PL0LgduUtAhwoPqd0S8d-DfY4WLsrfQRW-&amp;index=33</a:t>
            </a:r>
            <a:endParaRPr lang="en-US" sz="2000" dirty="0" smtClean="0">
              <a:solidFill>
                <a:schemeClr val="bg1"/>
              </a:solidFill>
              <a:effectLst>
                <a:glow rad="139700">
                  <a:schemeClr val="accent5">
                    <a:satMod val="175000"/>
                    <a:alpha val="40000"/>
                  </a:schemeClr>
                </a:glow>
              </a:effectLst>
            </a:endParaRPr>
          </a:p>
          <a:p>
            <a:r>
              <a:rPr lang="en-IN" sz="2000" dirty="0" smtClean="0">
                <a:solidFill>
                  <a:schemeClr val="bg1"/>
                </a:solidFill>
                <a:effectLst>
                  <a:glow rad="139700">
                    <a:schemeClr val="accent5">
                      <a:satMod val="175000"/>
                      <a:alpha val="40000"/>
                    </a:schemeClr>
                  </a:glow>
                </a:effectLst>
              </a:rPr>
              <a:t> </a:t>
            </a:r>
            <a:endParaRPr lang="en-US" sz="2000" dirty="0">
              <a:solidFill>
                <a:schemeClr val="bg1"/>
              </a:solidFill>
              <a:effectLst>
                <a:glow rad="139700">
                  <a:schemeClr val="accent5">
                    <a:satMod val="175000"/>
                    <a:alpha val="40000"/>
                  </a:schemeClr>
                </a:glow>
              </a:effectLst>
            </a:endParaRPr>
          </a:p>
        </p:txBody>
      </p:sp>
    </p:spTree>
    <p:extLst>
      <p:ext uri="{BB962C8B-B14F-4D97-AF65-F5344CB8AC3E}">
        <p14:creationId xmlns:p14="http://schemas.microsoft.com/office/powerpoint/2010/main" val="2244555528"/>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a:xfrm>
            <a:off x="2554310" y="2852936"/>
            <a:ext cx="7358114" cy="923330"/>
          </a:xfrm>
          <a:prstGeom prst="rect">
            <a:avLst/>
          </a:prstGeom>
          <a:noFill/>
        </p:spPr>
        <p:txBody>
          <a:bodyPr wrap="square" lIns="91440" tIns="45720" rIns="91440" bIns="45720">
            <a:prstTxWarp prst="textPlain">
              <a:avLst/>
            </a:prstTxWarp>
            <a:spAutoFit/>
            <a:scene3d>
              <a:camera prst="orthographicFront"/>
              <a:lightRig rig="threePt" dir="t"/>
            </a:scene3d>
            <a:sp3d extrusionH="57150">
              <a:bevelT w="38100" h="38100" prst="convex"/>
            </a:sp3d>
          </a:bodyPr>
          <a:lstStyle/>
          <a:p>
            <a:pPr algn="ctr"/>
            <a:r>
              <a:rPr lang="en-US" sz="5400" b="1" spc="50" dirty="0">
                <a:ln w="13500">
                  <a:solidFill>
                    <a:schemeClr val="accent1">
                      <a:shade val="2500"/>
                      <a:alpha val="6500"/>
                    </a:schemeClr>
                  </a:solidFill>
                  <a:prstDash val="solid"/>
                </a:ln>
                <a:solidFill>
                  <a:schemeClr val="accent1">
                    <a:tint val="3000"/>
                    <a:alpha val="95000"/>
                  </a:schemeClr>
                </a:solidFill>
                <a:effectLst>
                  <a:glow rad="228600">
                    <a:srgbClr val="FF00FF"/>
                  </a:glow>
                  <a:outerShdw blurRad="60007" dir="1500000" sy="-30000" kx="800400" algn="bl" rotWithShape="0">
                    <a:prstClr val="black">
                      <a:alpha val="20000"/>
                    </a:prstClr>
                  </a:outerShdw>
                  <a:reflection blurRad="6350" stA="55000" endA="50" endPos="85000" dist="60007" dir="5400000" sy="-100000" algn="bl" rotWithShape="0"/>
                </a:effectLst>
              </a:rPr>
              <a:t>Thank You</a:t>
            </a:r>
          </a:p>
        </p:txBody>
      </p:sp>
    </p:spTree>
    <p:extLst>
      <p:ext uri="{BB962C8B-B14F-4D97-AF65-F5344CB8AC3E}">
        <p14:creationId xmlns:p14="http://schemas.microsoft.com/office/powerpoint/2010/main" val="1603513166"/>
      </p:ext>
    </p:extLst>
  </p:cSld>
  <p:clrMapOvr>
    <a:masterClrMapping/>
  </p:clrMapOvr>
  <mc:AlternateContent xmlns:mc="http://schemas.openxmlformats.org/markup-compatibility/2006" xmlns:p14="http://schemas.microsoft.com/office/powerpoint/2010/main">
    <mc:Choice Requires="p14">
      <p:transition spd="slow" p14:dur="800">
        <p:diamond/>
      </p:transition>
    </mc:Choice>
    <mc:Fallback xmlns="">
      <p:transition spd="slow">
        <p:diamond/>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5219</Words>
  <Application>Microsoft Office PowerPoint</Application>
  <PresentationFormat>Widescreen</PresentationFormat>
  <Paragraphs>1388</Paragraphs>
  <Slides>97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97</vt:i4>
      </vt:variant>
    </vt:vector>
  </HeadingPairs>
  <TitlesOfParts>
    <vt:vector size="108" baseType="lpstr">
      <vt:lpstr>Algerian</vt:lpstr>
      <vt:lpstr>Arial</vt:lpstr>
      <vt:lpstr>Calibri</vt:lpstr>
      <vt:lpstr>Calibri Light</vt:lpstr>
      <vt:lpstr>等线</vt:lpstr>
      <vt:lpstr>Pristina</vt:lpstr>
      <vt:lpstr>Shruti</vt:lpstr>
      <vt:lpstr>Times New Roman</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5</cp:revision>
  <dcterms:created xsi:type="dcterms:W3CDTF">2024-03-02T09:51:56Z</dcterms:created>
  <dcterms:modified xsi:type="dcterms:W3CDTF">2024-03-02T10:30:20Z</dcterms:modified>
</cp:coreProperties>
</file>