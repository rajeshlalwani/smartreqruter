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9139C2-D746-4DF8-A013-6572EEB15065}"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800054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9139C2-D746-4DF8-A013-6572EEB15065}"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458829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9139C2-D746-4DF8-A013-6572EEB15065}"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1906400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9139C2-D746-4DF8-A013-6572EEB15065}"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2220208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9139C2-D746-4DF8-A013-6572EEB15065}" type="datetimeFigureOut">
              <a:rPr lang="en-IN" smtClean="0"/>
              <a:t>20-03-2025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1990212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9139C2-D746-4DF8-A013-6572EEB15065}" type="datetimeFigureOut">
              <a:rPr lang="en-IN" smtClean="0"/>
              <a:t>20-03-2025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2468211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9139C2-D746-4DF8-A013-6572EEB15065}" type="datetimeFigureOut">
              <a:rPr lang="en-IN" smtClean="0"/>
              <a:t>20-03-2025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1323684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9139C2-D746-4DF8-A013-6572EEB15065}"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380854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9139C2-D746-4DF8-A013-6572EEB15065}"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3270640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9139C2-D746-4DF8-A013-6572EEB15065}"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2209769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9139C2-D746-4DF8-A013-6572EEB15065}"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2560096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9139C2-D746-4DF8-A013-6572EEB15065}"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A06298-0F50-414D-8B00-E1889EB0D415}"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84598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9139C2-D746-4DF8-A013-6572EEB15065}"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2843664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6F9139C2-D746-4DF8-A013-6572EEB15065}" type="datetimeFigureOut">
              <a:rPr lang="en-IN" smtClean="0"/>
              <a:t>20-03-2025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983999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6F9139C2-D746-4DF8-A013-6572EEB15065}" type="datetimeFigureOut">
              <a:rPr lang="en-IN" smtClean="0"/>
              <a:t>20-03-2025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7812083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9139C2-D746-4DF8-A013-6572EEB15065}"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1941397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9139C2-D746-4DF8-A013-6572EEB15065}"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A06298-0F50-414D-8B00-E1889EB0D415}" type="slidenum">
              <a:rPr lang="en-IN" smtClean="0"/>
              <a:t>‹#›</a:t>
            </a:fld>
            <a:endParaRPr lang="en-IN"/>
          </a:p>
        </p:txBody>
      </p:sp>
    </p:spTree>
    <p:extLst>
      <p:ext uri="{BB962C8B-B14F-4D97-AF65-F5344CB8AC3E}">
        <p14:creationId xmlns:p14="http://schemas.microsoft.com/office/powerpoint/2010/main" val="307528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F9139C2-D746-4DF8-A013-6572EEB15065}" type="datetimeFigureOut">
              <a:rPr lang="en-IN" smtClean="0"/>
              <a:t>20-03-2025</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BA06298-0F50-414D-8B00-E1889EB0D415}" type="slidenum">
              <a:rPr lang="en-IN" smtClean="0"/>
              <a:t>‹#›</a:t>
            </a:fld>
            <a:endParaRPr lang="en-IN"/>
          </a:p>
        </p:txBody>
      </p:sp>
    </p:spTree>
    <p:extLst>
      <p:ext uri="{BB962C8B-B14F-4D97-AF65-F5344CB8AC3E}">
        <p14:creationId xmlns:p14="http://schemas.microsoft.com/office/powerpoint/2010/main" val="267369964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u="sng" dirty="0" smtClean="0"/>
              <a:t>FACE ATTENDANCE SYSTEM</a:t>
            </a:r>
            <a:endParaRPr lang="en-IN" u="sng" dirty="0"/>
          </a:p>
        </p:txBody>
      </p:sp>
      <p:sp>
        <p:nvSpPr>
          <p:cNvPr id="3" name="Subtitle 2"/>
          <p:cNvSpPr>
            <a:spLocks noGrp="1"/>
          </p:cNvSpPr>
          <p:nvPr>
            <p:ph type="subTitle" idx="1"/>
          </p:nvPr>
        </p:nvSpPr>
        <p:spPr>
          <a:xfrm>
            <a:off x="1595269" y="4166646"/>
            <a:ext cx="9001462" cy="2083325"/>
          </a:xfrm>
        </p:spPr>
        <p:txBody>
          <a:bodyPr/>
          <a:lstStyle/>
          <a:p>
            <a:r>
              <a:rPr lang="en-US" dirty="0" smtClean="0"/>
              <a:t>NAME : PAL ABHISHEK MAHESHBHAI</a:t>
            </a:r>
          </a:p>
          <a:p>
            <a:r>
              <a:rPr lang="en-US" dirty="0" smtClean="0"/>
              <a:t>PID: MS23101</a:t>
            </a:r>
          </a:p>
          <a:p>
            <a:r>
              <a:rPr lang="en-US" dirty="0" smtClean="0"/>
              <a:t>PROJECT GUIDE: TULSI M. SHAH</a:t>
            </a:r>
          </a:p>
          <a:p>
            <a:endParaRPr lang="en-IN" dirty="0"/>
          </a:p>
        </p:txBody>
      </p:sp>
    </p:spTree>
    <p:extLst>
      <p:ext uri="{BB962C8B-B14F-4D97-AF65-F5344CB8AC3E}">
        <p14:creationId xmlns:p14="http://schemas.microsoft.com/office/powerpoint/2010/main" val="2788862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
            <a:ext cx="10353761" cy="1150070"/>
          </a:xfrm>
        </p:spPr>
        <p:txBody>
          <a:bodyPr/>
          <a:lstStyle/>
          <a:p>
            <a:pPr algn="l"/>
            <a:r>
              <a:rPr lang="en-US" dirty="0" smtClean="0"/>
              <a:t>                        </a:t>
            </a:r>
            <a:r>
              <a:rPr lang="en-US" u="sng" dirty="0" smtClean="0"/>
              <a:t> INDEX</a:t>
            </a:r>
            <a:endParaRPr lang="en-IN" u="sng"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04022050"/>
              </p:ext>
            </p:extLst>
          </p:nvPr>
        </p:nvGraphicFramePr>
        <p:xfrm>
          <a:off x="2941163" y="895549"/>
          <a:ext cx="5109328" cy="5222449"/>
        </p:xfrm>
        <a:graphic>
          <a:graphicData uri="http://schemas.openxmlformats.org/drawingml/2006/table">
            <a:tbl>
              <a:tblPr firstRow="1" bandRow="1">
                <a:tableStyleId>{C083E6E3-FA7D-4D7B-A595-EF9225AFEA82}</a:tableStyleId>
              </a:tblPr>
              <a:tblGrid>
                <a:gridCol w="5109328">
                  <a:extLst>
                    <a:ext uri="{9D8B030D-6E8A-4147-A177-3AD203B41FA5}">
                      <a16:colId xmlns:a16="http://schemas.microsoft.com/office/drawing/2014/main" val="3159428783"/>
                    </a:ext>
                  </a:extLst>
                </a:gridCol>
              </a:tblGrid>
              <a:tr h="652746">
                <a:tc>
                  <a:txBody>
                    <a:bodyPr/>
                    <a:lstStyle/>
                    <a:p>
                      <a:pPr algn="ctr"/>
                      <a:r>
                        <a:rPr lang="en-US" dirty="0" smtClean="0"/>
                        <a:t>Project</a:t>
                      </a:r>
                      <a:r>
                        <a:rPr lang="en-US" baseline="0" dirty="0" smtClean="0"/>
                        <a:t> Profile</a:t>
                      </a:r>
                      <a:endParaRPr lang="en-IN" dirty="0"/>
                    </a:p>
                  </a:txBody>
                  <a:tcPr anchor="ctr"/>
                </a:tc>
                <a:extLst>
                  <a:ext uri="{0D108BD9-81ED-4DB2-BD59-A6C34878D82A}">
                    <a16:rowId xmlns:a16="http://schemas.microsoft.com/office/drawing/2014/main" val="485093172"/>
                  </a:ext>
                </a:extLst>
              </a:tr>
              <a:tr h="653227">
                <a:tc>
                  <a:txBody>
                    <a:bodyPr/>
                    <a:lstStyle/>
                    <a:p>
                      <a:pPr algn="ctr"/>
                      <a:r>
                        <a:rPr lang="en-US" dirty="0" smtClean="0"/>
                        <a:t>Introduction to Organization</a:t>
                      </a:r>
                    </a:p>
                    <a:p>
                      <a:pPr algn="ctr"/>
                      <a:endParaRPr lang="en-IN" dirty="0"/>
                    </a:p>
                  </a:txBody>
                  <a:tcPr anchor="ctr"/>
                </a:tc>
                <a:extLst>
                  <a:ext uri="{0D108BD9-81ED-4DB2-BD59-A6C34878D82A}">
                    <a16:rowId xmlns:a16="http://schemas.microsoft.com/office/drawing/2014/main" val="123261419"/>
                  </a:ext>
                </a:extLst>
              </a:tr>
              <a:tr h="652746">
                <a:tc>
                  <a:txBody>
                    <a:bodyPr/>
                    <a:lstStyle/>
                    <a:p>
                      <a:pPr algn="ctr"/>
                      <a:r>
                        <a:rPr lang="en-US" dirty="0" smtClean="0"/>
                        <a:t>Introduction</a:t>
                      </a:r>
                      <a:r>
                        <a:rPr lang="en-US" baseline="0" dirty="0" smtClean="0"/>
                        <a:t> to Project</a:t>
                      </a:r>
                      <a:endParaRPr lang="en-IN" dirty="0"/>
                    </a:p>
                  </a:txBody>
                  <a:tcPr anchor="ctr"/>
                </a:tc>
                <a:extLst>
                  <a:ext uri="{0D108BD9-81ED-4DB2-BD59-A6C34878D82A}">
                    <a16:rowId xmlns:a16="http://schemas.microsoft.com/office/drawing/2014/main" val="1831689721"/>
                  </a:ext>
                </a:extLst>
              </a:tr>
              <a:tr h="652746">
                <a:tc>
                  <a:txBody>
                    <a:bodyPr/>
                    <a:lstStyle/>
                    <a:p>
                      <a:pPr algn="ctr"/>
                      <a:r>
                        <a:rPr lang="en-US" dirty="0" smtClean="0"/>
                        <a:t>Objective of the System</a:t>
                      </a:r>
                      <a:endParaRPr lang="en-IN" dirty="0"/>
                    </a:p>
                  </a:txBody>
                  <a:tcPr anchor="ctr"/>
                </a:tc>
                <a:extLst>
                  <a:ext uri="{0D108BD9-81ED-4DB2-BD59-A6C34878D82A}">
                    <a16:rowId xmlns:a16="http://schemas.microsoft.com/office/drawing/2014/main" val="1163479178"/>
                  </a:ext>
                </a:extLst>
              </a:tr>
              <a:tr h="652746">
                <a:tc>
                  <a:txBody>
                    <a:bodyPr/>
                    <a:lstStyle/>
                    <a:p>
                      <a:pPr algn="ctr"/>
                      <a:r>
                        <a:rPr lang="en-US" dirty="0" smtClean="0"/>
                        <a:t>Software &amp; Hardware Requirement</a:t>
                      </a:r>
                      <a:endParaRPr lang="en-IN" dirty="0"/>
                    </a:p>
                  </a:txBody>
                  <a:tcPr anchor="ctr"/>
                </a:tc>
                <a:extLst>
                  <a:ext uri="{0D108BD9-81ED-4DB2-BD59-A6C34878D82A}">
                    <a16:rowId xmlns:a16="http://schemas.microsoft.com/office/drawing/2014/main" val="4285272730"/>
                  </a:ext>
                </a:extLst>
              </a:tr>
              <a:tr h="652746">
                <a:tc>
                  <a:txBody>
                    <a:bodyPr/>
                    <a:lstStyle/>
                    <a:p>
                      <a:pPr algn="ctr"/>
                      <a:r>
                        <a:rPr lang="en-US" dirty="0" smtClean="0"/>
                        <a:t>System Modules</a:t>
                      </a:r>
                      <a:r>
                        <a:rPr lang="en-US" baseline="0" dirty="0" smtClean="0"/>
                        <a:t> &amp; Functionalities</a:t>
                      </a:r>
                      <a:endParaRPr lang="en-IN" dirty="0"/>
                    </a:p>
                  </a:txBody>
                  <a:tcPr anchor="ctr"/>
                </a:tc>
                <a:extLst>
                  <a:ext uri="{0D108BD9-81ED-4DB2-BD59-A6C34878D82A}">
                    <a16:rowId xmlns:a16="http://schemas.microsoft.com/office/drawing/2014/main" val="1114575454"/>
                  </a:ext>
                </a:extLst>
              </a:tr>
              <a:tr h="652746">
                <a:tc>
                  <a:txBody>
                    <a:bodyPr/>
                    <a:lstStyle/>
                    <a:p>
                      <a:pPr algn="ctr"/>
                      <a:r>
                        <a:rPr lang="en-US" dirty="0" smtClean="0"/>
                        <a:t>System Design Diagrams</a:t>
                      </a:r>
                      <a:endParaRPr lang="en-IN" dirty="0"/>
                    </a:p>
                  </a:txBody>
                  <a:tcPr anchor="ctr"/>
                </a:tc>
                <a:extLst>
                  <a:ext uri="{0D108BD9-81ED-4DB2-BD59-A6C34878D82A}">
                    <a16:rowId xmlns:a16="http://schemas.microsoft.com/office/drawing/2014/main" val="1663510488"/>
                  </a:ext>
                </a:extLst>
              </a:tr>
              <a:tr h="652746">
                <a:tc>
                  <a:txBody>
                    <a:bodyPr/>
                    <a:lstStyle/>
                    <a:p>
                      <a:pPr algn="ctr"/>
                      <a:r>
                        <a:rPr lang="en-US" dirty="0" smtClean="0"/>
                        <a:t>Data Dictionary</a:t>
                      </a:r>
                      <a:endParaRPr lang="en-IN" dirty="0"/>
                    </a:p>
                  </a:txBody>
                  <a:tcPr anchor="ctr"/>
                </a:tc>
                <a:extLst>
                  <a:ext uri="{0D108BD9-81ED-4DB2-BD59-A6C34878D82A}">
                    <a16:rowId xmlns:a16="http://schemas.microsoft.com/office/drawing/2014/main" val="3585375952"/>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624056024"/>
              </p:ext>
            </p:extLst>
          </p:nvPr>
        </p:nvGraphicFramePr>
        <p:xfrm>
          <a:off x="2941163" y="6117998"/>
          <a:ext cx="5109328" cy="691349"/>
        </p:xfrm>
        <a:graphic>
          <a:graphicData uri="http://schemas.openxmlformats.org/drawingml/2006/table">
            <a:tbl>
              <a:tblPr firstRow="1" bandRow="1">
                <a:tableStyleId>{C083E6E3-FA7D-4D7B-A595-EF9225AFEA82}</a:tableStyleId>
              </a:tblPr>
              <a:tblGrid>
                <a:gridCol w="5109328">
                  <a:extLst>
                    <a:ext uri="{9D8B030D-6E8A-4147-A177-3AD203B41FA5}">
                      <a16:colId xmlns:a16="http://schemas.microsoft.com/office/drawing/2014/main" val="1360921158"/>
                    </a:ext>
                  </a:extLst>
                </a:gridCol>
              </a:tblGrid>
              <a:tr h="691349">
                <a:tc>
                  <a:txBody>
                    <a:bodyPr/>
                    <a:lstStyle/>
                    <a:p>
                      <a:pPr algn="ctr"/>
                      <a:r>
                        <a:rPr lang="en-IN" dirty="0" smtClean="0"/>
                        <a:t>Conclusion</a:t>
                      </a:r>
                      <a:endParaRPr lang="en-IN" dirty="0"/>
                    </a:p>
                  </a:txBody>
                  <a:tcPr anchor="ctr"/>
                </a:tc>
                <a:extLst>
                  <a:ext uri="{0D108BD9-81ED-4DB2-BD59-A6C34878D82A}">
                    <a16:rowId xmlns:a16="http://schemas.microsoft.com/office/drawing/2014/main" val="1016931324"/>
                  </a:ext>
                </a:extLst>
              </a:tr>
            </a:tbl>
          </a:graphicData>
        </a:graphic>
      </p:graphicFrame>
    </p:spTree>
    <p:extLst>
      <p:ext uri="{BB962C8B-B14F-4D97-AF65-F5344CB8AC3E}">
        <p14:creationId xmlns:p14="http://schemas.microsoft.com/office/powerpoint/2010/main" val="2908390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
            <a:ext cx="10353761" cy="1197204"/>
          </a:xfrm>
        </p:spPr>
        <p:txBody>
          <a:bodyPr>
            <a:normAutofit/>
          </a:bodyPr>
          <a:lstStyle/>
          <a:p>
            <a:r>
              <a:rPr lang="en-US" sz="2800" u="sng" dirty="0" smtClean="0"/>
              <a:t>Project profile</a:t>
            </a:r>
            <a:endParaRPr lang="en-IN" sz="2800" u="sng"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942563636"/>
              </p:ext>
            </p:extLst>
          </p:nvPr>
        </p:nvGraphicFramePr>
        <p:xfrm>
          <a:off x="914400" y="1395166"/>
          <a:ext cx="10353676" cy="4826524"/>
        </p:xfrm>
        <a:graphic>
          <a:graphicData uri="http://schemas.openxmlformats.org/drawingml/2006/table">
            <a:tbl>
              <a:tblPr firstRow="1" bandRow="1">
                <a:tableStyleId>{C083E6E3-FA7D-4D7B-A595-EF9225AFEA82}</a:tableStyleId>
              </a:tblPr>
              <a:tblGrid>
                <a:gridCol w="3016577">
                  <a:extLst>
                    <a:ext uri="{9D8B030D-6E8A-4147-A177-3AD203B41FA5}">
                      <a16:colId xmlns:a16="http://schemas.microsoft.com/office/drawing/2014/main" val="963929358"/>
                    </a:ext>
                  </a:extLst>
                </a:gridCol>
                <a:gridCol w="7337099">
                  <a:extLst>
                    <a:ext uri="{9D8B030D-6E8A-4147-A177-3AD203B41FA5}">
                      <a16:colId xmlns:a16="http://schemas.microsoft.com/office/drawing/2014/main" val="1276176217"/>
                    </a:ext>
                  </a:extLst>
                </a:gridCol>
              </a:tblGrid>
              <a:tr h="1206631">
                <a:tc>
                  <a:txBody>
                    <a:bodyPr/>
                    <a:lstStyle/>
                    <a:p>
                      <a:pPr algn="ctr"/>
                      <a:r>
                        <a:rPr lang="en-US" dirty="0" smtClean="0"/>
                        <a:t>Project</a:t>
                      </a:r>
                      <a:r>
                        <a:rPr lang="en-US" baseline="0" dirty="0" smtClean="0"/>
                        <a:t> Name</a:t>
                      </a:r>
                      <a:endParaRPr lang="en-IN" dirty="0"/>
                    </a:p>
                  </a:txBody>
                  <a:tcPr anchor="ctr"/>
                </a:tc>
                <a:tc>
                  <a:txBody>
                    <a:bodyPr/>
                    <a:lstStyle/>
                    <a:p>
                      <a:pPr algn="ctr"/>
                      <a:r>
                        <a:rPr lang="en-US" dirty="0" smtClean="0"/>
                        <a:t>Face Attendance System</a:t>
                      </a:r>
                      <a:endParaRPr lang="en-IN" dirty="0"/>
                    </a:p>
                  </a:txBody>
                  <a:tcPr anchor="ctr"/>
                </a:tc>
                <a:extLst>
                  <a:ext uri="{0D108BD9-81ED-4DB2-BD59-A6C34878D82A}">
                    <a16:rowId xmlns:a16="http://schemas.microsoft.com/office/drawing/2014/main" val="2140814458"/>
                  </a:ext>
                </a:extLst>
              </a:tr>
              <a:tr h="1206631">
                <a:tc>
                  <a:txBody>
                    <a:bodyPr/>
                    <a:lstStyle/>
                    <a:p>
                      <a:pPr algn="ctr"/>
                      <a:r>
                        <a:rPr lang="en-US" dirty="0" smtClean="0"/>
                        <a:t>Team</a:t>
                      </a:r>
                      <a:r>
                        <a:rPr lang="en-US" baseline="0" dirty="0" smtClean="0"/>
                        <a:t> Size</a:t>
                      </a:r>
                      <a:endParaRPr lang="en-IN" dirty="0"/>
                    </a:p>
                  </a:txBody>
                  <a:tcPr anchor="ctr"/>
                </a:tc>
                <a:tc>
                  <a:txBody>
                    <a:bodyPr/>
                    <a:lstStyle/>
                    <a:p>
                      <a:pPr algn="ctr"/>
                      <a:r>
                        <a:rPr lang="en-US" dirty="0" smtClean="0"/>
                        <a:t>Individual Project</a:t>
                      </a:r>
                      <a:endParaRPr lang="en-IN" dirty="0"/>
                    </a:p>
                  </a:txBody>
                  <a:tcPr anchor="ctr"/>
                </a:tc>
                <a:extLst>
                  <a:ext uri="{0D108BD9-81ED-4DB2-BD59-A6C34878D82A}">
                    <a16:rowId xmlns:a16="http://schemas.microsoft.com/office/drawing/2014/main" val="3146661729"/>
                  </a:ext>
                </a:extLst>
              </a:tr>
              <a:tr h="1206631">
                <a:tc>
                  <a:txBody>
                    <a:bodyPr/>
                    <a:lstStyle/>
                    <a:p>
                      <a:pPr algn="ctr"/>
                      <a:r>
                        <a:rPr lang="en-US" dirty="0" smtClean="0"/>
                        <a:t>Technology</a:t>
                      </a:r>
                      <a:r>
                        <a:rPr lang="en-US" baseline="0" dirty="0" smtClean="0"/>
                        <a:t> Stack</a:t>
                      </a:r>
                      <a:endParaRPr lang="en-IN" dirty="0"/>
                    </a:p>
                  </a:txBody>
                  <a:tcPr anchor="ctr"/>
                </a:tc>
                <a:tc>
                  <a:txBody>
                    <a:bodyPr/>
                    <a:lstStyle/>
                    <a:p>
                      <a:pPr algn="ctr"/>
                      <a:r>
                        <a:rPr lang="en-US" dirty="0" smtClean="0"/>
                        <a:t>Python,Django,HTML,CSS (Bootstarp 5),SQLite</a:t>
                      </a:r>
                      <a:endParaRPr lang="en-IN" dirty="0"/>
                    </a:p>
                  </a:txBody>
                  <a:tcPr anchor="ctr"/>
                </a:tc>
                <a:extLst>
                  <a:ext uri="{0D108BD9-81ED-4DB2-BD59-A6C34878D82A}">
                    <a16:rowId xmlns:a16="http://schemas.microsoft.com/office/drawing/2014/main" val="4053133315"/>
                  </a:ext>
                </a:extLst>
              </a:tr>
              <a:tr h="1206631">
                <a:tc>
                  <a:txBody>
                    <a:bodyPr/>
                    <a:lstStyle/>
                    <a:p>
                      <a:pPr algn="ctr"/>
                      <a:r>
                        <a:rPr lang="en-US" dirty="0" smtClean="0"/>
                        <a:t>Development Tools</a:t>
                      </a: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smtClean="0"/>
                        <a:t>Visual </a:t>
                      </a:r>
                      <a:r>
                        <a:rPr kumimoji="0" lang="en-US" altLang="en-US" sz="1800" b="0" i="0" u="none" strike="noStrike" cap="none" normalizeH="0" baseline="0" dirty="0" smtClean="0">
                          <a:ln/>
                          <a:effectLst/>
                          <a:latin typeface="Times New Roman" panose="02020603050405020304" pitchFamily="18" charset="0"/>
                          <a:cs typeface="Times New Roman" panose="02020603050405020304" pitchFamily="18" charset="0"/>
                        </a:rPr>
                        <a:t> Studio Code , SQLite Browser</a:t>
                      </a:r>
                      <a:endParaRPr lang="en-US" dirty="0" smtClean="0"/>
                    </a:p>
                    <a:p>
                      <a:pPr algn="ctr"/>
                      <a:endParaRPr lang="en-IN" dirty="0"/>
                    </a:p>
                  </a:txBody>
                  <a:tcPr anchor="ctr"/>
                </a:tc>
                <a:extLst>
                  <a:ext uri="{0D108BD9-81ED-4DB2-BD59-A6C34878D82A}">
                    <a16:rowId xmlns:a16="http://schemas.microsoft.com/office/drawing/2014/main" val="2137557281"/>
                  </a:ext>
                </a:extLst>
              </a:tr>
            </a:tbl>
          </a:graphicData>
        </a:graphic>
      </p:graphicFrame>
    </p:spTree>
    <p:extLst>
      <p:ext uri="{BB962C8B-B14F-4D97-AF65-F5344CB8AC3E}">
        <p14:creationId xmlns:p14="http://schemas.microsoft.com/office/powerpoint/2010/main" val="49352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0"/>
            <a:ext cx="10353761" cy="546755"/>
          </a:xfrm>
        </p:spPr>
        <p:txBody>
          <a:bodyPr anchor="t">
            <a:normAutofit/>
          </a:bodyPr>
          <a:lstStyle/>
          <a:p>
            <a:r>
              <a:rPr lang="en-US" sz="2400" u="sng" dirty="0" smtClean="0"/>
              <a:t>Introduction To Organization</a:t>
            </a:r>
            <a:endParaRPr lang="en-IN" sz="2400" u="sng"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93466681"/>
              </p:ext>
            </p:extLst>
          </p:nvPr>
        </p:nvGraphicFramePr>
        <p:xfrm>
          <a:off x="914400" y="546754"/>
          <a:ext cx="10353676" cy="4227920"/>
        </p:xfrm>
        <a:graphic>
          <a:graphicData uri="http://schemas.openxmlformats.org/drawingml/2006/table">
            <a:tbl>
              <a:tblPr firstRow="1" bandRow="1">
                <a:tableStyleId>{C083E6E3-FA7D-4D7B-A595-EF9225AFEA82}</a:tableStyleId>
              </a:tblPr>
              <a:tblGrid>
                <a:gridCol w="3157979">
                  <a:extLst>
                    <a:ext uri="{9D8B030D-6E8A-4147-A177-3AD203B41FA5}">
                      <a16:colId xmlns:a16="http://schemas.microsoft.com/office/drawing/2014/main" val="154915457"/>
                    </a:ext>
                  </a:extLst>
                </a:gridCol>
                <a:gridCol w="7195697">
                  <a:extLst>
                    <a:ext uri="{9D8B030D-6E8A-4147-A177-3AD203B41FA5}">
                      <a16:colId xmlns:a16="http://schemas.microsoft.com/office/drawing/2014/main" val="2426059895"/>
                    </a:ext>
                  </a:extLst>
                </a:gridCol>
              </a:tblGrid>
              <a:tr h="4173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smtClean="0">
                          <a:solidFill>
                            <a:schemeClr val="tx1"/>
                          </a:solidFill>
                          <a:latin typeface="+mn-lt"/>
                          <a:cs typeface="Times New Roman" panose="02020603050405020304" pitchFamily="18" charset="0"/>
                        </a:rPr>
                        <a:t>Name of the Organization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smtClean="0">
                          <a:latin typeface="+mn-lt"/>
                          <a:cs typeface="Times New Roman" panose="02020603050405020304" pitchFamily="18" charset="0"/>
                        </a:rPr>
                        <a:t>WayToWeb Pvt Ltd </a:t>
                      </a:r>
                      <a:endParaRPr lang="en-IN" sz="1800" dirty="0">
                        <a:solidFill>
                          <a:schemeClr val="tx1"/>
                        </a:solidFill>
                        <a:latin typeface="+mn-lt"/>
                        <a:cs typeface="Times New Roman" panose="02020603050405020304" pitchFamily="18" charset="0"/>
                      </a:endParaRPr>
                    </a:p>
                  </a:txBody>
                  <a:tcPr anchor="ctr"/>
                </a:tc>
                <a:extLst>
                  <a:ext uri="{0D108BD9-81ED-4DB2-BD59-A6C34878D82A}">
                    <a16:rowId xmlns:a16="http://schemas.microsoft.com/office/drawing/2014/main" val="3929982127"/>
                  </a:ext>
                </a:extLst>
              </a:tr>
              <a:tr h="1252020">
                <a:tc>
                  <a:txBody>
                    <a:bodyPr/>
                    <a:lstStyle/>
                    <a:p>
                      <a:pPr algn="ctr"/>
                      <a:r>
                        <a:rPr lang="en-IN" sz="1800" dirty="0" smtClean="0">
                          <a:latin typeface="+mn-lt"/>
                          <a:cs typeface="Times New Roman" panose="02020603050405020304" pitchFamily="18" charset="0"/>
                        </a:rPr>
                        <a:t>Organization Address </a:t>
                      </a:r>
                      <a:endParaRPr lang="en-IN" sz="1800" dirty="0">
                        <a:latin typeface="+mn-lt"/>
                        <a:cs typeface="Times New Roman" panose="02020603050405020304" pitchFamily="18" charset="0"/>
                      </a:endParaRPr>
                    </a:p>
                  </a:txBody>
                  <a:tcPr anchor="ctr"/>
                </a:tc>
                <a:tc>
                  <a:txBody>
                    <a:bodyPr/>
                    <a:lstStyle/>
                    <a:p>
                      <a:pPr algn="ctr"/>
                      <a:r>
                        <a:rPr lang="en-IN" sz="1800" dirty="0" smtClean="0">
                          <a:latin typeface="+mn-lt"/>
                          <a:cs typeface="Times New Roman" panose="02020603050405020304" pitchFamily="18" charset="0"/>
                        </a:rPr>
                        <a:t>405, 3rd EYE Building 2, Above McDonald's, Near Joyalukkas, Opp. Parimal Garden, Panchavati Cross Road, Ambawadi, Ahmedabad - 380006, Gujarat, India</a:t>
                      </a:r>
                      <a:endParaRPr lang="en-IN" sz="1800" dirty="0">
                        <a:latin typeface="+mn-lt"/>
                        <a:cs typeface="Times New Roman" panose="02020603050405020304" pitchFamily="18" charset="0"/>
                      </a:endParaRPr>
                    </a:p>
                  </a:txBody>
                  <a:tcPr anchor="ctr"/>
                </a:tc>
                <a:extLst>
                  <a:ext uri="{0D108BD9-81ED-4DB2-BD59-A6C34878D82A}">
                    <a16:rowId xmlns:a16="http://schemas.microsoft.com/office/drawing/2014/main" val="2342634576"/>
                  </a:ext>
                </a:extLst>
              </a:tr>
              <a:tr h="471860">
                <a:tc>
                  <a:txBody>
                    <a:bodyPr/>
                    <a:lstStyle/>
                    <a:p>
                      <a:pPr algn="ctr"/>
                      <a:r>
                        <a:rPr lang="en-IN" sz="1800" dirty="0" smtClean="0">
                          <a:latin typeface="+mn-lt"/>
                          <a:cs typeface="Times New Roman" panose="02020603050405020304" pitchFamily="18" charset="0"/>
                        </a:rPr>
                        <a:t>Website</a:t>
                      </a:r>
                      <a:endParaRPr lang="en-IN" sz="1800" dirty="0">
                        <a:latin typeface="+mn-lt"/>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latin typeface="+mn-lt"/>
                        </a:rPr>
                        <a:t> </a:t>
                      </a:r>
                      <a:r>
                        <a:rPr lang="en-IN" sz="1800" dirty="0" smtClean="0">
                          <a:latin typeface="+mn-lt"/>
                          <a:cs typeface="Times New Roman" panose="02020603050405020304" pitchFamily="18" charset="0"/>
                        </a:rPr>
                        <a:t>www.waytowebgroup.com</a:t>
                      </a:r>
                    </a:p>
                  </a:txBody>
                  <a:tcPr anchor="ctr"/>
                </a:tc>
                <a:extLst>
                  <a:ext uri="{0D108BD9-81ED-4DB2-BD59-A6C34878D82A}">
                    <a16:rowId xmlns:a16="http://schemas.microsoft.com/office/drawing/2014/main" val="2355555214"/>
                  </a:ext>
                </a:extLst>
              </a:tr>
              <a:tr h="8346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smtClean="0">
                          <a:latin typeface="+mn-lt"/>
                          <a:cs typeface="Times New Roman" panose="02020603050405020304" pitchFamily="18" charset="0"/>
                        </a:rPr>
                        <a:t>Working on Platforms and </a:t>
                      </a:r>
                      <a:r>
                        <a:rPr lang="en-US" sz="1800" dirty="0" smtClean="0">
                          <a:latin typeface="+mn-lt"/>
                          <a:cs typeface="Times New Roman" panose="02020603050405020304" pitchFamily="18" charset="0"/>
                        </a:rPr>
                        <a:t>Technologies </a:t>
                      </a:r>
                      <a:endParaRPr lang="en-IN" sz="1800" dirty="0">
                        <a:latin typeface="+mn-lt"/>
                        <a:cs typeface="Times New Roman" panose="02020603050405020304" pitchFamily="18" charset="0"/>
                      </a:endParaRPr>
                    </a:p>
                  </a:txBody>
                  <a:tcPr anchor="ctr"/>
                </a:tc>
                <a:tc>
                  <a:txBody>
                    <a:bodyPr/>
                    <a:lstStyle/>
                    <a:p>
                      <a:pPr algn="ctr"/>
                      <a:r>
                        <a:rPr lang="en-US" sz="1800" dirty="0" smtClean="0">
                          <a:latin typeface="+mn-lt"/>
                          <a:cs typeface="Times New Roman" panose="02020603050405020304" pitchFamily="18" charset="0"/>
                        </a:rPr>
                        <a:t>Python, AI, ML, web development, SEO, Digital Marketing, ASP .NET, Java, PHP, Odoo, WordPress </a:t>
                      </a:r>
                      <a:endParaRPr lang="en-IN" sz="1800" dirty="0">
                        <a:latin typeface="+mn-lt"/>
                        <a:cs typeface="Times New Roman" panose="02020603050405020304" pitchFamily="18" charset="0"/>
                      </a:endParaRPr>
                    </a:p>
                  </a:txBody>
                  <a:tcPr anchor="ctr"/>
                </a:tc>
                <a:extLst>
                  <a:ext uri="{0D108BD9-81ED-4DB2-BD59-A6C34878D82A}">
                    <a16:rowId xmlns:a16="http://schemas.microsoft.com/office/drawing/2014/main" val="3071346605"/>
                  </a:ext>
                </a:extLst>
              </a:tr>
              <a:tr h="1252020">
                <a:tc>
                  <a:txBody>
                    <a:bodyPr/>
                    <a:lstStyle/>
                    <a:p>
                      <a:pPr algn="ctr"/>
                      <a:r>
                        <a:rPr lang="en-IN" sz="1800" dirty="0" smtClean="0">
                          <a:latin typeface="+mn-lt"/>
                          <a:cs typeface="Times New Roman" panose="02020603050405020304" pitchFamily="18" charset="0"/>
                        </a:rPr>
                        <a:t>Overview of company </a:t>
                      </a:r>
                      <a:endParaRPr lang="en-IN" sz="1800" dirty="0">
                        <a:latin typeface="+mn-lt"/>
                        <a:cs typeface="Times New Roman" panose="02020603050405020304" pitchFamily="18" charset="0"/>
                      </a:endParaRPr>
                    </a:p>
                  </a:txBody>
                  <a:tcPr anchor="ctr"/>
                </a:tc>
                <a:tc>
                  <a:txBody>
                    <a:bodyPr/>
                    <a:lstStyle/>
                    <a:p>
                      <a:pPr algn="ctr"/>
                      <a:r>
                        <a:rPr lang="en-US" sz="1800" b="0" i="0" kern="1200" dirty="0" smtClean="0">
                          <a:solidFill>
                            <a:schemeClr val="tx1"/>
                          </a:solidFill>
                          <a:effectLst/>
                          <a:latin typeface="+mn-lt"/>
                          <a:ea typeface="+mn-ea"/>
                          <a:cs typeface="Times New Roman" panose="02020603050405020304" pitchFamily="18" charset="0"/>
                        </a:rPr>
                        <a:t>WayToWeb Pvt Ltd (an ISO 9001 citified company) is a professionally managed team of developers and designers who love to take your business sky-high with the most innovative approach and ideas</a:t>
                      </a:r>
                      <a:endParaRPr lang="en-IN" sz="1800" dirty="0">
                        <a:latin typeface="+mn-lt"/>
                        <a:cs typeface="Times New Roman" panose="02020603050405020304" pitchFamily="18" charset="0"/>
                      </a:endParaRPr>
                    </a:p>
                  </a:txBody>
                  <a:tcPr anchor="ctr"/>
                </a:tc>
                <a:extLst>
                  <a:ext uri="{0D108BD9-81ED-4DB2-BD59-A6C34878D82A}">
                    <a16:rowId xmlns:a16="http://schemas.microsoft.com/office/drawing/2014/main" val="3809210703"/>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654974798"/>
              </p:ext>
            </p:extLst>
          </p:nvPr>
        </p:nvGraphicFramePr>
        <p:xfrm>
          <a:off x="913794" y="4905167"/>
          <a:ext cx="10353762" cy="1854200"/>
        </p:xfrm>
        <a:graphic>
          <a:graphicData uri="http://schemas.openxmlformats.org/drawingml/2006/table">
            <a:tbl>
              <a:tblPr firstRow="1" bandRow="1">
                <a:tableStyleId>{C083E6E3-FA7D-4D7B-A595-EF9225AFEA82}</a:tableStyleId>
              </a:tblPr>
              <a:tblGrid>
                <a:gridCol w="5176881">
                  <a:extLst>
                    <a:ext uri="{9D8B030D-6E8A-4147-A177-3AD203B41FA5}">
                      <a16:colId xmlns:a16="http://schemas.microsoft.com/office/drawing/2014/main" val="1400861042"/>
                    </a:ext>
                  </a:extLst>
                </a:gridCol>
                <a:gridCol w="5176881">
                  <a:extLst>
                    <a:ext uri="{9D8B030D-6E8A-4147-A177-3AD203B41FA5}">
                      <a16:colId xmlns:a16="http://schemas.microsoft.com/office/drawing/2014/main" val="1998623105"/>
                    </a:ext>
                  </a:extLst>
                </a:gridCol>
              </a:tblGrid>
              <a:tr h="370840">
                <a:tc gridSpan="2">
                  <a:txBody>
                    <a:bodyPr/>
                    <a:lstStyle/>
                    <a:p>
                      <a:pPr algn="ctr"/>
                      <a:r>
                        <a:rPr lang="en-US" dirty="0" smtClean="0">
                          <a:latin typeface="+mn-lt"/>
                        </a:rPr>
                        <a:t>Company</a:t>
                      </a:r>
                      <a:r>
                        <a:rPr lang="en-US" baseline="0" dirty="0" smtClean="0">
                          <a:latin typeface="+mn-lt"/>
                        </a:rPr>
                        <a:t> Guide Details</a:t>
                      </a:r>
                      <a:endParaRPr lang="en-IN" dirty="0">
                        <a:latin typeface="+mn-lt"/>
                      </a:endParaRPr>
                    </a:p>
                  </a:txBody>
                  <a:tcPr anchor="ctr"/>
                </a:tc>
                <a:tc hMerge="1">
                  <a:txBody>
                    <a:bodyPr/>
                    <a:lstStyle/>
                    <a:p>
                      <a:endParaRPr lang="en-IN" dirty="0"/>
                    </a:p>
                  </a:txBody>
                  <a:tcPr/>
                </a:tc>
                <a:extLst>
                  <a:ext uri="{0D108BD9-81ED-4DB2-BD59-A6C34878D82A}">
                    <a16:rowId xmlns:a16="http://schemas.microsoft.com/office/drawing/2014/main" val="232689679"/>
                  </a:ext>
                </a:extLst>
              </a:tr>
              <a:tr h="370840">
                <a:tc>
                  <a:txBody>
                    <a:bodyPr/>
                    <a:lstStyle/>
                    <a:p>
                      <a:pPr algn="ctr"/>
                      <a:r>
                        <a:rPr lang="en-US" dirty="0" smtClean="0">
                          <a:latin typeface="+mn-lt"/>
                        </a:rPr>
                        <a:t>Name</a:t>
                      </a:r>
                      <a:endParaRPr lang="en-IN" dirty="0">
                        <a:latin typeface="+mn-lt"/>
                      </a:endParaRPr>
                    </a:p>
                  </a:txBody>
                  <a:tcPr anchor="ctr"/>
                </a:tc>
                <a:tc>
                  <a:txBody>
                    <a:bodyPr/>
                    <a:lstStyle/>
                    <a:p>
                      <a:pPr algn="ctr"/>
                      <a:r>
                        <a:rPr lang="en-US" dirty="0" smtClean="0">
                          <a:latin typeface="+mn-lt"/>
                        </a:rPr>
                        <a:t>Dhyan Patel</a:t>
                      </a:r>
                      <a:endParaRPr lang="en-IN" dirty="0">
                        <a:latin typeface="+mn-lt"/>
                      </a:endParaRPr>
                    </a:p>
                  </a:txBody>
                  <a:tcPr anchor="ctr"/>
                </a:tc>
                <a:extLst>
                  <a:ext uri="{0D108BD9-81ED-4DB2-BD59-A6C34878D82A}">
                    <a16:rowId xmlns:a16="http://schemas.microsoft.com/office/drawing/2014/main" val="379832920"/>
                  </a:ext>
                </a:extLst>
              </a:tr>
              <a:tr h="370840">
                <a:tc>
                  <a:txBody>
                    <a:bodyPr/>
                    <a:lstStyle/>
                    <a:p>
                      <a:pPr algn="ctr"/>
                      <a:r>
                        <a:rPr lang="en-US" dirty="0" smtClean="0">
                          <a:latin typeface="+mn-lt"/>
                        </a:rPr>
                        <a:t>Designation</a:t>
                      </a:r>
                      <a:endParaRPr lang="en-IN" dirty="0">
                        <a:latin typeface="+mn-lt"/>
                      </a:endParaRPr>
                    </a:p>
                  </a:txBody>
                  <a:tcPr anchor="ctr"/>
                </a:tc>
                <a:tc>
                  <a:txBody>
                    <a:bodyPr/>
                    <a:lstStyle/>
                    <a:p>
                      <a:pPr algn="ctr"/>
                      <a:r>
                        <a:rPr lang="en-US" dirty="0" smtClean="0">
                          <a:latin typeface="+mn-lt"/>
                        </a:rPr>
                        <a:t>HR Manager</a:t>
                      </a:r>
                      <a:endParaRPr lang="en-IN" dirty="0">
                        <a:latin typeface="+mn-lt"/>
                      </a:endParaRPr>
                    </a:p>
                  </a:txBody>
                  <a:tcPr anchor="ctr"/>
                </a:tc>
                <a:extLst>
                  <a:ext uri="{0D108BD9-81ED-4DB2-BD59-A6C34878D82A}">
                    <a16:rowId xmlns:a16="http://schemas.microsoft.com/office/drawing/2014/main" val="2204052614"/>
                  </a:ext>
                </a:extLst>
              </a:tr>
              <a:tr h="370840">
                <a:tc>
                  <a:txBody>
                    <a:bodyPr/>
                    <a:lstStyle/>
                    <a:p>
                      <a:pPr algn="ctr"/>
                      <a:r>
                        <a:rPr lang="en-US" dirty="0" smtClean="0">
                          <a:latin typeface="+mn-lt"/>
                        </a:rPr>
                        <a:t>Email ID</a:t>
                      </a:r>
                      <a:endParaRPr lang="en-IN" dirty="0">
                        <a:latin typeface="+mn-lt"/>
                      </a:endParaRPr>
                    </a:p>
                  </a:txBody>
                  <a:tcPr anchor="ctr"/>
                </a:tc>
                <a:tc>
                  <a:txBody>
                    <a:bodyPr/>
                    <a:lstStyle/>
                    <a:p>
                      <a:pPr algn="ctr"/>
                      <a:r>
                        <a:rPr lang="en-US" dirty="0" smtClean="0">
                          <a:latin typeface="+mn-lt"/>
                        </a:rPr>
                        <a:t>Dhyanpatel509@gmail.com</a:t>
                      </a:r>
                      <a:endParaRPr lang="en-IN" dirty="0">
                        <a:latin typeface="+mn-lt"/>
                      </a:endParaRPr>
                    </a:p>
                  </a:txBody>
                  <a:tcPr anchor="ctr"/>
                </a:tc>
                <a:extLst>
                  <a:ext uri="{0D108BD9-81ED-4DB2-BD59-A6C34878D82A}">
                    <a16:rowId xmlns:a16="http://schemas.microsoft.com/office/drawing/2014/main" val="78112394"/>
                  </a:ext>
                </a:extLst>
              </a:tr>
              <a:tr h="370840">
                <a:tc>
                  <a:txBody>
                    <a:bodyPr/>
                    <a:lstStyle/>
                    <a:p>
                      <a:pPr algn="ctr"/>
                      <a:r>
                        <a:rPr lang="en-US" dirty="0" smtClean="0">
                          <a:latin typeface="+mn-lt"/>
                        </a:rPr>
                        <a:t>Contact No</a:t>
                      </a:r>
                      <a:endParaRPr lang="en-IN" dirty="0">
                        <a:latin typeface="+mn-lt"/>
                      </a:endParaRPr>
                    </a:p>
                  </a:txBody>
                  <a:tcPr anchor="ctr"/>
                </a:tc>
                <a:tc>
                  <a:txBody>
                    <a:bodyPr/>
                    <a:lstStyle/>
                    <a:p>
                      <a:pPr algn="ctr"/>
                      <a:r>
                        <a:rPr lang="en-US" dirty="0" smtClean="0">
                          <a:latin typeface="+mn-lt"/>
                        </a:rPr>
                        <a:t>7984425791</a:t>
                      </a:r>
                      <a:endParaRPr lang="en-IN" dirty="0">
                        <a:latin typeface="+mn-lt"/>
                      </a:endParaRPr>
                    </a:p>
                  </a:txBody>
                  <a:tcPr anchor="ctr"/>
                </a:tc>
                <a:extLst>
                  <a:ext uri="{0D108BD9-81ED-4DB2-BD59-A6C34878D82A}">
                    <a16:rowId xmlns:a16="http://schemas.microsoft.com/office/drawing/2014/main" val="989265975"/>
                  </a:ext>
                </a:extLst>
              </a:tr>
            </a:tbl>
          </a:graphicData>
        </a:graphic>
      </p:graphicFrame>
    </p:spTree>
    <p:extLst>
      <p:ext uri="{BB962C8B-B14F-4D97-AF65-F5344CB8AC3E}">
        <p14:creationId xmlns:p14="http://schemas.microsoft.com/office/powerpoint/2010/main" val="1507254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54524"/>
            <a:ext cx="10353761" cy="1681397"/>
          </a:xfrm>
        </p:spPr>
        <p:txBody>
          <a:bodyPr anchor="t">
            <a:normAutofit/>
          </a:bodyPr>
          <a:lstStyle/>
          <a:p>
            <a:r>
              <a:rPr lang="en-US" sz="2800" u="sng" dirty="0" smtClean="0">
                <a:latin typeface="+mn-lt"/>
              </a:rPr>
              <a:t>Introduction to project</a:t>
            </a:r>
            <a:endParaRPr lang="en-IN" sz="2800" u="sng" dirty="0">
              <a:latin typeface="+mn-lt"/>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115057592"/>
              </p:ext>
            </p:extLst>
          </p:nvPr>
        </p:nvGraphicFramePr>
        <p:xfrm>
          <a:off x="537327" y="1263192"/>
          <a:ext cx="5410985" cy="4713402"/>
        </p:xfrm>
        <a:graphic>
          <a:graphicData uri="http://schemas.openxmlformats.org/drawingml/2006/table">
            <a:tbl>
              <a:tblPr firstRow="1" bandRow="1">
                <a:tableStyleId>{C083E6E3-FA7D-4D7B-A595-EF9225AFEA82}</a:tableStyleId>
              </a:tblPr>
              <a:tblGrid>
                <a:gridCol w="5410985">
                  <a:extLst>
                    <a:ext uri="{9D8B030D-6E8A-4147-A177-3AD203B41FA5}">
                      <a16:colId xmlns:a16="http://schemas.microsoft.com/office/drawing/2014/main" val="543213348"/>
                    </a:ext>
                  </a:extLst>
                </a:gridCol>
              </a:tblGrid>
              <a:tr h="1410766">
                <a:tc>
                  <a:txBody>
                    <a:bodyPr/>
                    <a:lstStyle/>
                    <a:p>
                      <a:pPr algn="l"/>
                      <a:r>
                        <a:rPr lang="en-US" dirty="0" smtClean="0"/>
                        <a:t>What is a Face Recognition Attendance System?</a:t>
                      </a:r>
                      <a:endParaRPr lang="en-IN" dirty="0"/>
                    </a:p>
                  </a:txBody>
                  <a:tcPr anchor="ctr"/>
                </a:tc>
                <a:extLst>
                  <a:ext uri="{0D108BD9-81ED-4DB2-BD59-A6C34878D82A}">
                    <a16:rowId xmlns:a16="http://schemas.microsoft.com/office/drawing/2014/main" val="2620566360"/>
                  </a:ext>
                </a:extLst>
              </a:tr>
              <a:tr h="3302636">
                <a:tc>
                  <a:txBody>
                    <a:bodyPr/>
                    <a:lstStyle/>
                    <a:p>
                      <a:pPr algn="ctr"/>
                      <a:r>
                        <a:rPr lang="en-US" dirty="0" smtClean="0"/>
                        <a:t>A </a:t>
                      </a:r>
                      <a:r>
                        <a:rPr lang="en-US" b="1" dirty="0" smtClean="0"/>
                        <a:t>Face Recognition Attendance System</a:t>
                      </a:r>
                      <a:r>
                        <a:rPr lang="en-US" dirty="0" smtClean="0"/>
                        <a:t> is an automated method of recording attendance by identifying and verifying an individual’s face using advanced image processing and facial recognition technology. It replaces traditional attendance systems, such as manual sign-ins, ID cards, or fingerprint scanning, with a more sophisticated, efficient, and contactless solution.</a:t>
                      </a:r>
                      <a:endParaRPr lang="en-IN" dirty="0"/>
                    </a:p>
                  </a:txBody>
                  <a:tcPr anchor="ctr"/>
                </a:tc>
                <a:extLst>
                  <a:ext uri="{0D108BD9-81ED-4DB2-BD59-A6C34878D82A}">
                    <a16:rowId xmlns:a16="http://schemas.microsoft.com/office/drawing/2014/main" val="212858590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4085063580"/>
              </p:ext>
            </p:extLst>
          </p:nvPr>
        </p:nvGraphicFramePr>
        <p:xfrm>
          <a:off x="6090675" y="1263192"/>
          <a:ext cx="5420413" cy="4806620"/>
        </p:xfrm>
        <a:graphic>
          <a:graphicData uri="http://schemas.openxmlformats.org/drawingml/2006/table">
            <a:tbl>
              <a:tblPr firstRow="1" bandRow="1">
                <a:tableStyleId>{C083E6E3-FA7D-4D7B-A595-EF9225AFEA82}</a:tableStyleId>
              </a:tblPr>
              <a:tblGrid>
                <a:gridCol w="5420413">
                  <a:extLst>
                    <a:ext uri="{9D8B030D-6E8A-4147-A177-3AD203B41FA5}">
                      <a16:colId xmlns:a16="http://schemas.microsoft.com/office/drawing/2014/main" val="110451871"/>
                    </a:ext>
                  </a:extLst>
                </a:gridCol>
              </a:tblGrid>
              <a:tr h="1423340">
                <a:tc>
                  <a:txBody>
                    <a:bodyPr/>
                    <a:lstStyle/>
                    <a:p>
                      <a:pPr algn="l"/>
                      <a:r>
                        <a:rPr lang="en-US" dirty="0" smtClean="0"/>
                        <a:t>Why is a Face Recognition Attendance System Needed?</a:t>
                      </a:r>
                      <a:endParaRPr lang="en-IN" dirty="0"/>
                    </a:p>
                  </a:txBody>
                  <a:tcPr anchor="ctr"/>
                </a:tc>
                <a:extLst>
                  <a:ext uri="{0D108BD9-81ED-4DB2-BD59-A6C34878D82A}">
                    <a16:rowId xmlns:a16="http://schemas.microsoft.com/office/drawing/2014/main" val="379732784"/>
                  </a:ext>
                </a:extLst>
              </a:tr>
              <a:tr h="3290062">
                <a:tc>
                  <a:txBody>
                    <a:bodyPr/>
                    <a:lstStyle/>
                    <a:p>
                      <a:pPr algn="l"/>
                      <a:r>
                        <a:rPr lang="en-US" dirty="0" smtClean="0"/>
                        <a:t>The need for a </a:t>
                      </a:r>
                      <a:r>
                        <a:rPr lang="en-US" b="1" dirty="0" smtClean="0"/>
                        <a:t>Face Recognition Attendance System</a:t>
                      </a:r>
                      <a:r>
                        <a:rPr lang="en-US" dirty="0" smtClean="0"/>
                        <a:t> arises from the limitations and challenges associated with traditional attendance management methods. Here are some key reasons why implementing such a system is essential:</a:t>
                      </a:r>
                    </a:p>
                    <a:p>
                      <a:pPr marL="342900" indent="-342900" algn="l">
                        <a:buAutoNum type="arabicPeriod"/>
                      </a:pPr>
                      <a:r>
                        <a:rPr lang="en-US" dirty="0" smtClean="0"/>
                        <a:t>Elimination of Manual Errors</a:t>
                      </a:r>
                    </a:p>
                    <a:p>
                      <a:pPr marL="342900" indent="-342900" algn="l">
                        <a:buAutoNum type="arabicPeriod"/>
                      </a:pPr>
                      <a:r>
                        <a:rPr lang="en-IN" dirty="0" smtClean="0"/>
                        <a:t>Prevention of Proxy Attendance</a:t>
                      </a:r>
                    </a:p>
                    <a:p>
                      <a:pPr marL="342900" marR="0" indent="-342900" algn="l" defTabSz="914400" rtl="0" eaLnBrk="1" fontAlgn="auto" latinLnBrk="0" hangingPunct="1">
                        <a:lnSpc>
                          <a:spcPct val="100000"/>
                        </a:lnSpc>
                        <a:spcBef>
                          <a:spcPts val="0"/>
                        </a:spcBef>
                        <a:spcAft>
                          <a:spcPts val="0"/>
                        </a:spcAft>
                        <a:buClrTx/>
                        <a:buSzTx/>
                        <a:buFontTx/>
                        <a:buAutoNum type="arabicPeriod"/>
                        <a:tabLst/>
                        <a:defRPr/>
                      </a:pPr>
                      <a:r>
                        <a:rPr lang="en-IN" b="1" dirty="0" smtClean="0"/>
                        <a:t>Time-Saving and Efficient</a:t>
                      </a:r>
                    </a:p>
                    <a:p>
                      <a:pPr marL="342900" marR="0" indent="-342900" algn="l" defTabSz="914400" rtl="0" eaLnBrk="1" fontAlgn="auto" latinLnBrk="0" hangingPunct="1">
                        <a:lnSpc>
                          <a:spcPct val="100000"/>
                        </a:lnSpc>
                        <a:spcBef>
                          <a:spcPts val="0"/>
                        </a:spcBef>
                        <a:spcAft>
                          <a:spcPts val="0"/>
                        </a:spcAft>
                        <a:buClrTx/>
                        <a:buSzTx/>
                        <a:buFontTx/>
                        <a:buAutoNum type="arabicPeriod"/>
                        <a:tabLst/>
                        <a:defRPr/>
                      </a:pPr>
                      <a:r>
                        <a:rPr lang="en-IN" dirty="0" smtClean="0"/>
                        <a:t>Real-Time Monitoring and Reporting</a:t>
                      </a:r>
                    </a:p>
                    <a:p>
                      <a:pPr marL="342900" marR="0" indent="-342900" algn="l" defTabSz="914400" rtl="0" eaLnBrk="1" fontAlgn="auto" latinLnBrk="0" hangingPunct="1">
                        <a:lnSpc>
                          <a:spcPct val="100000"/>
                        </a:lnSpc>
                        <a:spcBef>
                          <a:spcPts val="0"/>
                        </a:spcBef>
                        <a:spcAft>
                          <a:spcPts val="0"/>
                        </a:spcAft>
                        <a:buClrTx/>
                        <a:buSzTx/>
                        <a:buFontTx/>
                        <a:buAutoNum type="arabicPeriod"/>
                        <a:tabLst/>
                        <a:defRPr/>
                      </a:pPr>
                      <a:r>
                        <a:rPr lang="en-IN" dirty="0" smtClean="0"/>
                        <a:t>Reliability and Accuracy</a:t>
                      </a:r>
                      <a:endParaRPr lang="en-IN" b="1" dirty="0" smtClean="0"/>
                    </a:p>
                    <a:p>
                      <a:pPr marL="342900" indent="-342900">
                        <a:buAutoNum type="arabicPeriod"/>
                      </a:pPr>
                      <a:endParaRPr lang="en-IN" dirty="0"/>
                    </a:p>
                  </a:txBody>
                  <a:tcPr anchor="ctr"/>
                </a:tc>
                <a:extLst>
                  <a:ext uri="{0D108BD9-81ED-4DB2-BD59-A6C34878D82A}">
                    <a16:rowId xmlns:a16="http://schemas.microsoft.com/office/drawing/2014/main" val="3627451720"/>
                  </a:ext>
                </a:extLst>
              </a:tr>
            </a:tbl>
          </a:graphicData>
        </a:graphic>
      </p:graphicFrame>
    </p:spTree>
    <p:extLst>
      <p:ext uri="{BB962C8B-B14F-4D97-AF65-F5344CB8AC3E}">
        <p14:creationId xmlns:p14="http://schemas.microsoft.com/office/powerpoint/2010/main" val="3294231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546756"/>
            <a:ext cx="10353761" cy="612742"/>
          </a:xfrm>
        </p:spPr>
        <p:txBody>
          <a:bodyPr anchor="t">
            <a:normAutofit/>
          </a:bodyPr>
          <a:lstStyle/>
          <a:p>
            <a:r>
              <a:rPr lang="en-US" sz="2800" u="sng" dirty="0" smtClean="0"/>
              <a:t>Objective of the system</a:t>
            </a:r>
            <a:endParaRPr lang="en-IN" sz="2800" u="sng" dirty="0"/>
          </a:p>
        </p:txBody>
      </p:sp>
      <p:sp>
        <p:nvSpPr>
          <p:cNvPr id="3" name="Content Placeholder 2"/>
          <p:cNvSpPr>
            <a:spLocks noGrp="1"/>
          </p:cNvSpPr>
          <p:nvPr>
            <p:ph idx="1"/>
          </p:nvPr>
        </p:nvSpPr>
        <p:spPr>
          <a:xfrm>
            <a:off x="913795" y="1395167"/>
            <a:ext cx="10353762" cy="4433740"/>
          </a:xfrm>
        </p:spPr>
        <p:txBody>
          <a:bodyPr/>
          <a:lstStyle/>
          <a:p>
            <a:pPr>
              <a:buFont typeface="Wingdings" panose="05000000000000000000" pitchFamily="2" charset="2"/>
              <a:buChar char="v"/>
            </a:pPr>
            <a:r>
              <a:rPr lang="en-IN" dirty="0" smtClean="0"/>
              <a:t> Automate </a:t>
            </a:r>
            <a:r>
              <a:rPr lang="en-IN" dirty="0"/>
              <a:t>Attendance </a:t>
            </a:r>
            <a:r>
              <a:rPr lang="en-IN" dirty="0" smtClean="0"/>
              <a:t>Marking</a:t>
            </a:r>
          </a:p>
          <a:p>
            <a:pPr>
              <a:buFont typeface="Wingdings" panose="05000000000000000000" pitchFamily="2" charset="2"/>
              <a:buChar char="v"/>
            </a:pPr>
            <a:r>
              <a:rPr lang="en-US" dirty="0"/>
              <a:t> </a:t>
            </a:r>
            <a:r>
              <a:rPr lang="en-IN" dirty="0"/>
              <a:t>Ensure Accuracy and </a:t>
            </a:r>
            <a:r>
              <a:rPr lang="en-IN" dirty="0" smtClean="0"/>
              <a:t>Reliability</a:t>
            </a:r>
          </a:p>
          <a:p>
            <a:pPr>
              <a:buFont typeface="Wingdings" panose="05000000000000000000" pitchFamily="2" charset="2"/>
              <a:buChar char="v"/>
            </a:pPr>
            <a:r>
              <a:rPr lang="en-US" dirty="0"/>
              <a:t> Enhance Security and Prevent Proxy </a:t>
            </a:r>
            <a:r>
              <a:rPr lang="en-US" dirty="0" smtClean="0"/>
              <a:t>Attendance</a:t>
            </a:r>
          </a:p>
          <a:p>
            <a:pPr>
              <a:buFont typeface="Wingdings" panose="05000000000000000000" pitchFamily="2" charset="2"/>
              <a:buChar char="v"/>
            </a:pPr>
            <a:r>
              <a:rPr lang="en-US" dirty="0" smtClean="0"/>
              <a:t> Improve </a:t>
            </a:r>
            <a:r>
              <a:rPr lang="en-US" dirty="0"/>
              <a:t>Efficiency and Save </a:t>
            </a:r>
            <a:r>
              <a:rPr lang="en-US" dirty="0" smtClean="0"/>
              <a:t>Time</a:t>
            </a:r>
          </a:p>
          <a:p>
            <a:pPr>
              <a:buFont typeface="Wingdings" panose="05000000000000000000" pitchFamily="2" charset="2"/>
              <a:buChar char="v"/>
            </a:pPr>
            <a:r>
              <a:rPr lang="en-US" dirty="0" smtClean="0"/>
              <a:t> Enable </a:t>
            </a:r>
            <a:r>
              <a:rPr lang="en-US" dirty="0"/>
              <a:t>Real-Time Monitoring and </a:t>
            </a:r>
            <a:r>
              <a:rPr lang="en-US" dirty="0" smtClean="0"/>
              <a:t>Reporting</a:t>
            </a:r>
            <a:endParaRPr lang="en-US" dirty="0"/>
          </a:p>
          <a:p>
            <a:pPr>
              <a:buFont typeface="Wingdings" panose="05000000000000000000" pitchFamily="2" charset="2"/>
              <a:buChar char="v"/>
            </a:pPr>
            <a:r>
              <a:rPr lang="en-IN" dirty="0" smtClean="0"/>
              <a:t> Integrate </a:t>
            </a:r>
            <a:r>
              <a:rPr lang="en-IN" dirty="0"/>
              <a:t>with Other </a:t>
            </a:r>
            <a:r>
              <a:rPr lang="en-IN" dirty="0" smtClean="0"/>
              <a:t>Systems</a:t>
            </a:r>
          </a:p>
          <a:p>
            <a:pPr>
              <a:buFont typeface="Wingdings" panose="05000000000000000000" pitchFamily="2" charset="2"/>
              <a:buChar char="v"/>
            </a:pPr>
            <a:r>
              <a:rPr lang="en-US" dirty="0"/>
              <a:t> </a:t>
            </a:r>
            <a:r>
              <a:rPr lang="en-US" dirty="0" smtClean="0"/>
              <a:t>Promote </a:t>
            </a:r>
            <a:r>
              <a:rPr lang="en-US" dirty="0"/>
              <a:t>Contactless and Hygienic </a:t>
            </a:r>
            <a:r>
              <a:rPr lang="en-US" dirty="0" smtClean="0"/>
              <a:t>Solutions</a:t>
            </a:r>
          </a:p>
          <a:p>
            <a:pPr>
              <a:buFont typeface="Wingdings" panose="05000000000000000000" pitchFamily="2" charset="2"/>
              <a:buChar char="v"/>
            </a:pPr>
            <a:r>
              <a:rPr lang="en-IN" dirty="0" smtClean="0"/>
              <a:t> Improve </a:t>
            </a:r>
            <a:r>
              <a:rPr lang="en-IN" dirty="0"/>
              <a:t>Data Management and </a:t>
            </a:r>
            <a:r>
              <a:rPr lang="en-IN" dirty="0" smtClean="0"/>
              <a:t>Accessibility</a:t>
            </a:r>
          </a:p>
          <a:p>
            <a:pPr>
              <a:buFont typeface="Wingdings" panose="05000000000000000000" pitchFamily="2" charset="2"/>
              <a:buChar char="v"/>
            </a:pPr>
            <a:r>
              <a:rPr lang="en-IN" dirty="0" smtClean="0"/>
              <a:t>Reduce </a:t>
            </a:r>
            <a:r>
              <a:rPr lang="en-IN" dirty="0"/>
              <a:t>Operational Costs</a:t>
            </a:r>
            <a:endParaRPr lang="en-US" dirty="0" smtClean="0"/>
          </a:p>
          <a:p>
            <a:pPr>
              <a:buFont typeface="Wingdings" panose="05000000000000000000" pitchFamily="2" charset="2"/>
              <a:buChar char="v"/>
            </a:pPr>
            <a:endParaRPr lang="en-US" dirty="0"/>
          </a:p>
        </p:txBody>
      </p:sp>
    </p:spTree>
    <p:extLst>
      <p:ext uri="{BB962C8B-B14F-4D97-AF65-F5344CB8AC3E}">
        <p14:creationId xmlns:p14="http://schemas.microsoft.com/office/powerpoint/2010/main" val="48216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92232"/>
            <a:ext cx="10353761" cy="1329178"/>
          </a:xfrm>
        </p:spPr>
        <p:txBody>
          <a:bodyPr/>
          <a:lstStyle/>
          <a:p>
            <a:r>
              <a:rPr lang="en-IN" u="sng" dirty="0"/>
              <a:t>Functional and Non-Functional Requirements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80799760"/>
              </p:ext>
            </p:extLst>
          </p:nvPr>
        </p:nvGraphicFramePr>
        <p:xfrm>
          <a:off x="575036" y="1620837"/>
          <a:ext cx="5486400" cy="4553719"/>
        </p:xfrm>
        <a:graphic>
          <a:graphicData uri="http://schemas.openxmlformats.org/drawingml/2006/table">
            <a:tbl>
              <a:tblPr firstRow="1" bandRow="1">
                <a:tableStyleId>{C083E6E3-FA7D-4D7B-A595-EF9225AFEA82}</a:tableStyleId>
              </a:tblPr>
              <a:tblGrid>
                <a:gridCol w="5486400">
                  <a:extLst>
                    <a:ext uri="{9D8B030D-6E8A-4147-A177-3AD203B41FA5}">
                      <a16:colId xmlns:a16="http://schemas.microsoft.com/office/drawing/2014/main" val="2506841887"/>
                    </a:ext>
                  </a:extLst>
                </a:gridCol>
              </a:tblGrid>
              <a:tr h="4553719">
                <a:tc>
                  <a:txBody>
                    <a:bodyPr/>
                    <a:lstStyle/>
                    <a:p>
                      <a:pPr marL="342900" indent="-342900">
                        <a:buAutoNum type="arabicPeriod"/>
                      </a:pPr>
                      <a:r>
                        <a:rPr lang="en-IN" dirty="0" smtClean="0"/>
                        <a:t>Functional Requirements</a:t>
                      </a:r>
                    </a:p>
                    <a:p>
                      <a:pPr marL="0" indent="0">
                        <a:buNone/>
                      </a:pPr>
                      <a:endParaRPr lang="en-US" dirty="0" smtClean="0"/>
                    </a:p>
                    <a:p>
                      <a:pPr marL="285750" indent="-285750">
                        <a:buFont typeface="Wingdings" panose="05000000000000000000" pitchFamily="2" charset="2"/>
                        <a:buChar char="q"/>
                      </a:pPr>
                      <a:r>
                        <a:rPr lang="en-IN" dirty="0" smtClean="0"/>
                        <a:t>User Authentication</a:t>
                      </a:r>
                    </a:p>
                    <a:p>
                      <a:pPr marL="285750" indent="-285750">
                        <a:buFont typeface="Wingdings" panose="05000000000000000000" pitchFamily="2" charset="2"/>
                        <a:buChar char="q"/>
                      </a:pPr>
                      <a:r>
                        <a:rPr lang="en-IN" dirty="0" smtClean="0"/>
                        <a:t>Face Detection and Recognition</a:t>
                      </a:r>
                    </a:p>
                    <a:p>
                      <a:pPr marL="285750" indent="-285750">
                        <a:buFont typeface="Wingdings" panose="05000000000000000000" pitchFamily="2" charset="2"/>
                        <a:buChar char="q"/>
                      </a:pPr>
                      <a:r>
                        <a:rPr lang="en-IN" dirty="0" smtClean="0"/>
                        <a:t>Attendance Marking</a:t>
                      </a:r>
                    </a:p>
                    <a:p>
                      <a:pPr marL="285750" indent="-285750">
                        <a:buFont typeface="Wingdings" panose="05000000000000000000" pitchFamily="2" charset="2"/>
                        <a:buChar char="q"/>
                      </a:pPr>
                      <a:r>
                        <a:rPr lang="en-IN" dirty="0" smtClean="0"/>
                        <a:t>Data Storage and Management</a:t>
                      </a:r>
                    </a:p>
                    <a:p>
                      <a:pPr marL="285750" indent="-285750">
                        <a:buFont typeface="Wingdings" panose="05000000000000000000" pitchFamily="2" charset="2"/>
                        <a:buChar char="q"/>
                      </a:pPr>
                      <a:r>
                        <a:rPr lang="en-IN" dirty="0" smtClean="0"/>
                        <a:t>Report Generation</a:t>
                      </a:r>
                    </a:p>
                    <a:p>
                      <a:pPr marL="285750" indent="-285750">
                        <a:buFont typeface="Wingdings" panose="05000000000000000000" pitchFamily="2" charset="2"/>
                        <a:buChar char="q"/>
                      </a:pPr>
                      <a:r>
                        <a:rPr lang="en-IN" dirty="0" smtClean="0"/>
                        <a:t>Real-Time Monitoring</a:t>
                      </a:r>
                    </a:p>
                    <a:p>
                      <a:pPr marL="285750" indent="-285750">
                        <a:buFont typeface="Wingdings" panose="05000000000000000000" pitchFamily="2" charset="2"/>
                        <a:buChar char="q"/>
                      </a:pPr>
                      <a:r>
                        <a:rPr lang="en-IN" dirty="0" smtClean="0"/>
                        <a:t>Data Backup and Recovery</a:t>
                      </a:r>
                      <a:endParaRPr lang="en-IN" dirty="0"/>
                    </a:p>
                  </a:txBody>
                  <a:tcPr anchor="ctr"/>
                </a:tc>
                <a:extLst>
                  <a:ext uri="{0D108BD9-81ED-4DB2-BD59-A6C34878D82A}">
                    <a16:rowId xmlns:a16="http://schemas.microsoft.com/office/drawing/2014/main" val="196198987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114644949"/>
              </p:ext>
            </p:extLst>
          </p:nvPr>
        </p:nvGraphicFramePr>
        <p:xfrm>
          <a:off x="6306531" y="1536568"/>
          <a:ext cx="5299783" cy="4637987"/>
        </p:xfrm>
        <a:graphic>
          <a:graphicData uri="http://schemas.openxmlformats.org/drawingml/2006/table">
            <a:tbl>
              <a:tblPr firstRow="1" bandRow="1">
                <a:tableStyleId>{C083E6E3-FA7D-4D7B-A595-EF9225AFEA82}</a:tableStyleId>
              </a:tblPr>
              <a:tblGrid>
                <a:gridCol w="5299783">
                  <a:extLst>
                    <a:ext uri="{9D8B030D-6E8A-4147-A177-3AD203B41FA5}">
                      <a16:colId xmlns:a16="http://schemas.microsoft.com/office/drawing/2014/main" val="2140076969"/>
                    </a:ext>
                  </a:extLst>
                </a:gridCol>
              </a:tblGrid>
              <a:tr h="4637987">
                <a:tc>
                  <a:txBody>
                    <a:bodyPr/>
                    <a:lstStyle/>
                    <a:p>
                      <a:r>
                        <a:rPr lang="en-US" dirty="0" smtClean="0"/>
                        <a:t>2. </a:t>
                      </a:r>
                      <a:r>
                        <a:rPr lang="en-IN" dirty="0" smtClean="0"/>
                        <a:t>Non-Functional Requirements</a:t>
                      </a:r>
                    </a:p>
                    <a:p>
                      <a:endParaRPr lang="en-US" dirty="0" smtClean="0"/>
                    </a:p>
                    <a:p>
                      <a:pPr marL="285750" indent="-285750">
                        <a:buFont typeface="Wingdings" panose="05000000000000000000" pitchFamily="2" charset="2"/>
                        <a:buChar char="q"/>
                      </a:pPr>
                      <a:r>
                        <a:rPr lang="en-IN" dirty="0" smtClean="0"/>
                        <a:t>Performance</a:t>
                      </a:r>
                    </a:p>
                    <a:p>
                      <a:pPr marL="285750" indent="-285750">
                        <a:buFont typeface="Wingdings" panose="05000000000000000000" pitchFamily="2" charset="2"/>
                        <a:buChar char="q"/>
                      </a:pPr>
                      <a:r>
                        <a:rPr lang="en-IN" dirty="0" smtClean="0"/>
                        <a:t>Accuracy</a:t>
                      </a:r>
                    </a:p>
                    <a:p>
                      <a:pPr marL="285750" indent="-285750">
                        <a:buFont typeface="Wingdings" panose="05000000000000000000" pitchFamily="2" charset="2"/>
                        <a:buChar char="q"/>
                      </a:pPr>
                      <a:r>
                        <a:rPr lang="en-IN" dirty="0" smtClean="0"/>
                        <a:t>Reliability</a:t>
                      </a:r>
                    </a:p>
                    <a:p>
                      <a:pPr marL="285750" indent="-285750">
                        <a:buFont typeface="Wingdings" panose="05000000000000000000" pitchFamily="2" charset="2"/>
                        <a:buChar char="q"/>
                      </a:pPr>
                      <a:r>
                        <a:rPr lang="en-IN" dirty="0" smtClean="0"/>
                        <a:t>Usability</a:t>
                      </a:r>
                    </a:p>
                    <a:p>
                      <a:pPr marL="285750" indent="-285750">
                        <a:buFont typeface="Wingdings" panose="05000000000000000000" pitchFamily="2" charset="2"/>
                        <a:buChar char="q"/>
                      </a:pPr>
                      <a:r>
                        <a:rPr lang="en-IN" dirty="0" smtClean="0"/>
                        <a:t>Security</a:t>
                      </a:r>
                    </a:p>
                    <a:p>
                      <a:pPr marL="285750" indent="-285750">
                        <a:buFont typeface="Wingdings" panose="05000000000000000000" pitchFamily="2" charset="2"/>
                        <a:buChar char="q"/>
                      </a:pPr>
                      <a:r>
                        <a:rPr lang="en-IN" dirty="0" smtClean="0"/>
                        <a:t>Scalability</a:t>
                      </a:r>
                    </a:p>
                    <a:p>
                      <a:pPr marL="285750" indent="-285750">
                        <a:buFont typeface="Wingdings" panose="05000000000000000000" pitchFamily="2" charset="2"/>
                        <a:buChar char="q"/>
                      </a:pPr>
                      <a:endParaRPr lang="en-IN" dirty="0"/>
                    </a:p>
                  </a:txBody>
                  <a:tcPr anchor="ctr"/>
                </a:tc>
                <a:extLst>
                  <a:ext uri="{0D108BD9-81ED-4DB2-BD59-A6C34878D82A}">
                    <a16:rowId xmlns:a16="http://schemas.microsoft.com/office/drawing/2014/main" val="19000518"/>
                  </a:ext>
                </a:extLst>
              </a:tr>
            </a:tbl>
          </a:graphicData>
        </a:graphic>
      </p:graphicFrame>
    </p:spTree>
    <p:extLst>
      <p:ext uri="{BB962C8B-B14F-4D97-AF65-F5344CB8AC3E}">
        <p14:creationId xmlns:p14="http://schemas.microsoft.com/office/powerpoint/2010/main" val="691467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329938"/>
            <a:ext cx="10353761" cy="904973"/>
          </a:xfrm>
        </p:spPr>
        <p:txBody>
          <a:bodyPr>
            <a:normAutofit/>
          </a:bodyPr>
          <a:lstStyle/>
          <a:p>
            <a:r>
              <a:rPr lang="en-IN" sz="3200" u="sng" dirty="0"/>
              <a:t>Hardware and Software Requirements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26905690"/>
              </p:ext>
            </p:extLst>
          </p:nvPr>
        </p:nvGraphicFramePr>
        <p:xfrm>
          <a:off x="914400" y="1541497"/>
          <a:ext cx="10353676" cy="4567072"/>
        </p:xfrm>
        <a:graphic>
          <a:graphicData uri="http://schemas.openxmlformats.org/drawingml/2006/table">
            <a:tbl>
              <a:tblPr firstRow="1" bandRow="1">
                <a:tableStyleId>{C083E6E3-FA7D-4D7B-A595-EF9225AFEA82}</a:tableStyleId>
              </a:tblPr>
              <a:tblGrid>
                <a:gridCol w="2677212">
                  <a:extLst>
                    <a:ext uri="{9D8B030D-6E8A-4147-A177-3AD203B41FA5}">
                      <a16:colId xmlns:a16="http://schemas.microsoft.com/office/drawing/2014/main" val="1761881593"/>
                    </a:ext>
                  </a:extLst>
                </a:gridCol>
                <a:gridCol w="7676464">
                  <a:extLst>
                    <a:ext uri="{9D8B030D-6E8A-4147-A177-3AD203B41FA5}">
                      <a16:colId xmlns:a16="http://schemas.microsoft.com/office/drawing/2014/main" val="1413626795"/>
                    </a:ext>
                  </a:extLst>
                </a:gridCol>
              </a:tblGrid>
              <a:tr h="761920">
                <a:tc gridSpan="2">
                  <a:txBody>
                    <a:bodyPr/>
                    <a:lstStyle/>
                    <a:p>
                      <a:pPr algn="ctr"/>
                      <a:r>
                        <a:rPr lang="en-US" u="sng" dirty="0" smtClean="0"/>
                        <a:t>HARDWARE</a:t>
                      </a:r>
                      <a:r>
                        <a:rPr lang="en-US" u="sng" baseline="0" dirty="0" smtClean="0"/>
                        <a:t> REQUIREMENTS</a:t>
                      </a:r>
                      <a:endParaRPr lang="en-IN" u="sng" dirty="0"/>
                    </a:p>
                  </a:txBody>
                  <a:tcPr anchor="ctr"/>
                </a:tc>
                <a:tc hMerge="1">
                  <a:txBody>
                    <a:bodyPr/>
                    <a:lstStyle/>
                    <a:p>
                      <a:endParaRPr lang="en-IN" dirty="0"/>
                    </a:p>
                  </a:txBody>
                  <a:tcPr/>
                </a:tc>
                <a:extLst>
                  <a:ext uri="{0D108BD9-81ED-4DB2-BD59-A6C34878D82A}">
                    <a16:rowId xmlns:a16="http://schemas.microsoft.com/office/drawing/2014/main" val="2330048488"/>
                  </a:ext>
                </a:extLst>
              </a:tr>
              <a:tr h="761920">
                <a:tc>
                  <a:txBody>
                    <a:bodyPr/>
                    <a:lstStyle/>
                    <a:p>
                      <a:pPr algn="ctr"/>
                      <a:r>
                        <a:rPr lang="en-IN" dirty="0" smtClean="0"/>
                        <a:t>Camera</a:t>
                      </a:r>
                      <a:endParaRPr lang="en-IN" dirty="0"/>
                    </a:p>
                  </a:txBody>
                  <a:tcPr anchor="ctr"/>
                </a:tc>
                <a:tc>
                  <a:txBody>
                    <a:bodyPr/>
                    <a:lstStyle/>
                    <a:p>
                      <a:pPr algn="ctr"/>
                      <a:r>
                        <a:rPr lang="en-US" b="1" dirty="0" smtClean="0"/>
                        <a:t>Purpose:</a:t>
                      </a:r>
                      <a:r>
                        <a:rPr lang="en-US" dirty="0" smtClean="0"/>
                        <a:t> Capture clear images/videos for accurate face recognition.</a:t>
                      </a:r>
                      <a:endParaRPr lang="en-IN" dirty="0"/>
                    </a:p>
                  </a:txBody>
                  <a:tcPr anchor="ctr"/>
                </a:tc>
                <a:extLst>
                  <a:ext uri="{0D108BD9-81ED-4DB2-BD59-A6C34878D82A}">
                    <a16:rowId xmlns:a16="http://schemas.microsoft.com/office/drawing/2014/main" val="105292896"/>
                  </a:ext>
                </a:extLst>
              </a:tr>
              <a:tr h="1978101">
                <a:tc>
                  <a:txBody>
                    <a:bodyPr/>
                    <a:lstStyle/>
                    <a:p>
                      <a:pPr algn="ctr"/>
                      <a:r>
                        <a:rPr lang="en-IN" dirty="0" smtClean="0"/>
                        <a:t>Server/PC</a:t>
                      </a:r>
                      <a:endParaRPr lang="en-IN" dirty="0"/>
                    </a:p>
                  </a:txBody>
                  <a:tcPr anchor="ctr"/>
                </a:tc>
                <a:tc>
                  <a:txBody>
                    <a:bodyPr/>
                    <a:lstStyle/>
                    <a:p>
                      <a:pPr algn="ctr"/>
                      <a:r>
                        <a:rPr lang="en-US" b="1" dirty="0" smtClean="0"/>
                        <a:t>Processor:</a:t>
                      </a:r>
                      <a:r>
                        <a:rPr lang="en-US" dirty="0" smtClean="0"/>
                        <a:t> Intel i5 or higher (for fast image processing).</a:t>
                      </a:r>
                    </a:p>
                    <a:p>
                      <a:pPr algn="ctr"/>
                      <a:r>
                        <a:rPr lang="en-US" b="1" dirty="0" smtClean="0"/>
                        <a:t>RAM:</a:t>
                      </a:r>
                      <a:r>
                        <a:rPr lang="en-US" dirty="0" smtClean="0"/>
                        <a:t> Minimum 8 GB (preferably 16 GB for larger systems).</a:t>
                      </a:r>
                    </a:p>
                    <a:p>
                      <a:pPr algn="ctr"/>
                      <a:r>
                        <a:rPr lang="en-US" b="1" dirty="0" smtClean="0"/>
                        <a:t>Storage:</a:t>
                      </a:r>
                      <a:r>
                        <a:rPr lang="en-US" dirty="0" smtClean="0"/>
                        <a:t> At least 500 GB HDD or SSD (for storing attendance data and face images).</a:t>
                      </a:r>
                      <a:endParaRPr lang="en-IN" dirty="0"/>
                    </a:p>
                  </a:txBody>
                  <a:tcPr anchor="ctr"/>
                </a:tc>
                <a:extLst>
                  <a:ext uri="{0D108BD9-81ED-4DB2-BD59-A6C34878D82A}">
                    <a16:rowId xmlns:a16="http://schemas.microsoft.com/office/drawing/2014/main" val="1736681361"/>
                  </a:ext>
                </a:extLst>
              </a:tr>
              <a:tr h="1065131">
                <a:tc>
                  <a:txBody>
                    <a:bodyPr/>
                    <a:lstStyle/>
                    <a:p>
                      <a:pPr algn="ctr"/>
                      <a:r>
                        <a:rPr lang="en-IN" dirty="0" smtClean="0"/>
                        <a:t>Peripheral Devices</a:t>
                      </a:r>
                      <a:endParaRPr lang="en-IN" dirty="0"/>
                    </a:p>
                  </a:txBody>
                  <a:tcPr anchor="ctr"/>
                </a:tc>
                <a:tc>
                  <a:txBody>
                    <a:bodyPr/>
                    <a:lstStyle/>
                    <a:p>
                      <a:pPr algn="ctr"/>
                      <a:r>
                        <a:rPr lang="en-US" b="1" dirty="0" smtClean="0"/>
                        <a:t>Monitor:</a:t>
                      </a:r>
                      <a:r>
                        <a:rPr lang="en-US" dirty="0" smtClean="0"/>
                        <a:t> For real-time monitoring and dashboard display.</a:t>
                      </a:r>
                    </a:p>
                    <a:p>
                      <a:pPr algn="ctr"/>
                      <a:r>
                        <a:rPr lang="en-US" b="1" dirty="0" smtClean="0"/>
                        <a:t>Keyboard and Mouse:</a:t>
                      </a:r>
                      <a:r>
                        <a:rPr lang="en-US" dirty="0" smtClean="0"/>
                        <a:t> For system interaction and administration</a:t>
                      </a:r>
                      <a:endParaRPr lang="en-IN" dirty="0"/>
                    </a:p>
                  </a:txBody>
                  <a:tcPr anchor="ctr"/>
                </a:tc>
                <a:extLst>
                  <a:ext uri="{0D108BD9-81ED-4DB2-BD59-A6C34878D82A}">
                    <a16:rowId xmlns:a16="http://schemas.microsoft.com/office/drawing/2014/main" val="3879487379"/>
                  </a:ext>
                </a:extLst>
              </a:tr>
            </a:tbl>
          </a:graphicData>
        </a:graphic>
      </p:graphicFrame>
    </p:spTree>
    <p:extLst>
      <p:ext uri="{BB962C8B-B14F-4D97-AF65-F5344CB8AC3E}">
        <p14:creationId xmlns:p14="http://schemas.microsoft.com/office/powerpoint/2010/main" val="1348183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176273884"/>
              </p:ext>
            </p:extLst>
          </p:nvPr>
        </p:nvGraphicFramePr>
        <p:xfrm>
          <a:off x="914400" y="65989"/>
          <a:ext cx="10353676" cy="6319482"/>
        </p:xfrm>
        <a:graphic>
          <a:graphicData uri="http://schemas.openxmlformats.org/drawingml/2006/table">
            <a:tbl>
              <a:tblPr firstRow="1" bandRow="1">
                <a:tableStyleId>{C083E6E3-FA7D-4D7B-A595-EF9225AFEA82}</a:tableStyleId>
              </a:tblPr>
              <a:tblGrid>
                <a:gridCol w="3120272">
                  <a:extLst>
                    <a:ext uri="{9D8B030D-6E8A-4147-A177-3AD203B41FA5}">
                      <a16:colId xmlns:a16="http://schemas.microsoft.com/office/drawing/2014/main" val="2078142649"/>
                    </a:ext>
                  </a:extLst>
                </a:gridCol>
                <a:gridCol w="7233404">
                  <a:extLst>
                    <a:ext uri="{9D8B030D-6E8A-4147-A177-3AD203B41FA5}">
                      <a16:colId xmlns:a16="http://schemas.microsoft.com/office/drawing/2014/main" val="2470736129"/>
                    </a:ext>
                  </a:extLst>
                </a:gridCol>
              </a:tblGrid>
              <a:tr h="650448">
                <a:tc gridSpan="2">
                  <a:txBody>
                    <a:bodyPr/>
                    <a:lstStyle/>
                    <a:p>
                      <a:pPr algn="ctr"/>
                      <a:r>
                        <a:rPr lang="en-IN" sz="1800" u="sng" dirty="0" smtClean="0"/>
                        <a:t>Software Requirements</a:t>
                      </a:r>
                      <a:endParaRPr lang="en-IN" dirty="0"/>
                    </a:p>
                  </a:txBody>
                  <a:tcPr anchor="ctr"/>
                </a:tc>
                <a:tc hMerge="1">
                  <a:txBody>
                    <a:bodyPr/>
                    <a:lstStyle/>
                    <a:p>
                      <a:endParaRPr lang="en-IN" dirty="0"/>
                    </a:p>
                  </a:txBody>
                  <a:tcPr/>
                </a:tc>
                <a:extLst>
                  <a:ext uri="{0D108BD9-81ED-4DB2-BD59-A6C34878D82A}">
                    <a16:rowId xmlns:a16="http://schemas.microsoft.com/office/drawing/2014/main" val="3279391506"/>
                  </a:ext>
                </a:extLst>
              </a:tr>
              <a:tr h="785949">
                <a:tc>
                  <a:txBody>
                    <a:bodyPr/>
                    <a:lstStyle/>
                    <a:p>
                      <a:r>
                        <a:rPr lang="en-IN" dirty="0" smtClean="0"/>
                        <a:t>Operating System</a:t>
                      </a:r>
                      <a:endParaRPr lang="en-IN" dirty="0"/>
                    </a:p>
                  </a:txBody>
                  <a:tcPr/>
                </a:tc>
                <a:tc>
                  <a:txBody>
                    <a:bodyPr/>
                    <a:lstStyle/>
                    <a:p>
                      <a:r>
                        <a:rPr lang="en-IN" b="1" dirty="0" smtClean="0"/>
                        <a:t>Windows 11 (64-bit)</a:t>
                      </a:r>
                      <a:r>
                        <a:rPr lang="en-IN" dirty="0" smtClean="0"/>
                        <a:t> </a:t>
                      </a:r>
                      <a:endParaRPr lang="en-IN" dirty="0"/>
                    </a:p>
                  </a:txBody>
                  <a:tcPr/>
                </a:tc>
                <a:extLst>
                  <a:ext uri="{0D108BD9-81ED-4DB2-BD59-A6C34878D82A}">
                    <a16:rowId xmlns:a16="http://schemas.microsoft.com/office/drawing/2014/main" val="2987106853"/>
                  </a:ext>
                </a:extLst>
              </a:tr>
              <a:tr h="785949">
                <a:tc>
                  <a:txBody>
                    <a:bodyPr/>
                    <a:lstStyle/>
                    <a:p>
                      <a:r>
                        <a:rPr lang="en-IN" dirty="0" smtClean="0"/>
                        <a:t>Programming Languages</a:t>
                      </a:r>
                      <a:endParaRPr lang="en-IN" dirty="0"/>
                    </a:p>
                  </a:txBody>
                  <a:tcPr/>
                </a:tc>
                <a:tc>
                  <a:txBody>
                    <a:bodyPr/>
                    <a:lstStyle/>
                    <a:p>
                      <a:r>
                        <a:rPr lang="en-US" b="1" dirty="0" smtClean="0"/>
                        <a:t>Python 3.x:</a:t>
                      </a:r>
                      <a:r>
                        <a:rPr lang="en-US" dirty="0" smtClean="0"/>
                        <a:t> For developing the core system and integrating libraries.</a:t>
                      </a:r>
                      <a:endParaRPr lang="en-IN" dirty="0"/>
                    </a:p>
                  </a:txBody>
                  <a:tcPr/>
                </a:tc>
                <a:extLst>
                  <a:ext uri="{0D108BD9-81ED-4DB2-BD59-A6C34878D82A}">
                    <a16:rowId xmlns:a16="http://schemas.microsoft.com/office/drawing/2014/main" val="1661389536"/>
                  </a:ext>
                </a:extLst>
              </a:tr>
              <a:tr h="1520094">
                <a:tc>
                  <a:txBody>
                    <a:bodyPr/>
                    <a:lstStyle/>
                    <a:p>
                      <a:r>
                        <a:rPr lang="en-IN" dirty="0" smtClean="0"/>
                        <a:t>Libraries and Frameworks</a:t>
                      </a:r>
                      <a:endParaRPr lang="en-IN" dirty="0"/>
                    </a:p>
                  </a:txBody>
                  <a:tcPr/>
                </a:tc>
                <a:tc>
                  <a:txBody>
                    <a:bodyPr/>
                    <a:lstStyle/>
                    <a:p>
                      <a:r>
                        <a:rPr lang="en-US" b="1" dirty="0" smtClean="0"/>
                        <a:t>OpenCV:</a:t>
                      </a:r>
                      <a:r>
                        <a:rPr lang="en-US" dirty="0" smtClean="0"/>
                        <a:t> For image processing and face detection.</a:t>
                      </a:r>
                    </a:p>
                    <a:p>
                      <a:r>
                        <a:rPr lang="en-US" dirty="0" smtClean="0"/>
                        <a:t> </a:t>
                      </a:r>
                      <a:r>
                        <a:rPr lang="en-US" b="1" dirty="0" smtClean="0"/>
                        <a:t>Dlib:</a:t>
                      </a:r>
                      <a:r>
                        <a:rPr lang="en-US" dirty="0" smtClean="0"/>
                        <a:t> For facial feature extraction. </a:t>
                      </a:r>
                    </a:p>
                    <a:p>
                      <a:r>
                        <a:rPr lang="en-US" b="1" dirty="0" smtClean="0"/>
                        <a:t>Face Recognition:</a:t>
                      </a:r>
                      <a:r>
                        <a:rPr lang="en-US" dirty="0" smtClean="0"/>
                        <a:t> For recognizing and comparing faces.</a:t>
                      </a:r>
                    </a:p>
                    <a:p>
                      <a:r>
                        <a:rPr lang="en-US" dirty="0" smtClean="0"/>
                        <a:t> </a:t>
                      </a:r>
                      <a:r>
                        <a:rPr lang="en-US" b="1" dirty="0" smtClean="0"/>
                        <a:t>Numpy:</a:t>
                      </a:r>
                      <a:r>
                        <a:rPr lang="en-US" dirty="0" smtClean="0"/>
                        <a:t> For numerical computations. </a:t>
                      </a:r>
                    </a:p>
                    <a:p>
                      <a:r>
                        <a:rPr lang="en-US" b="1" dirty="0" smtClean="0"/>
                        <a:t>PIL (Pillow):</a:t>
                      </a:r>
                      <a:r>
                        <a:rPr lang="en-US" dirty="0" smtClean="0"/>
                        <a:t> For image handling.</a:t>
                      </a:r>
                      <a:endParaRPr lang="en-IN" dirty="0"/>
                    </a:p>
                  </a:txBody>
                  <a:tcPr/>
                </a:tc>
                <a:extLst>
                  <a:ext uri="{0D108BD9-81ED-4DB2-BD59-A6C34878D82A}">
                    <a16:rowId xmlns:a16="http://schemas.microsoft.com/office/drawing/2014/main" val="597573920"/>
                  </a:ext>
                </a:extLst>
              </a:tr>
              <a:tr h="707011">
                <a:tc>
                  <a:txBody>
                    <a:bodyPr/>
                    <a:lstStyle/>
                    <a:p>
                      <a:r>
                        <a:rPr lang="en-IN" dirty="0" smtClean="0"/>
                        <a:t>Database Management System (DBMS)</a:t>
                      </a:r>
                      <a:endParaRPr lang="en-IN" dirty="0"/>
                    </a:p>
                  </a:txBody>
                  <a:tcPr/>
                </a:tc>
                <a:tc>
                  <a:txBody>
                    <a:bodyPr/>
                    <a:lstStyle/>
                    <a:p>
                      <a:r>
                        <a:rPr lang="en-US" b="1" dirty="0" smtClean="0"/>
                        <a:t>SQLite:</a:t>
                      </a:r>
                      <a:r>
                        <a:rPr lang="en-US" dirty="0" smtClean="0"/>
                        <a:t> For storing attendance records and user data.</a:t>
                      </a:r>
                      <a:endParaRPr lang="en-IN" dirty="0"/>
                    </a:p>
                  </a:txBody>
                  <a:tcPr/>
                </a:tc>
                <a:extLst>
                  <a:ext uri="{0D108BD9-81ED-4DB2-BD59-A6C34878D82A}">
                    <a16:rowId xmlns:a16="http://schemas.microsoft.com/office/drawing/2014/main" val="4253696534"/>
                  </a:ext>
                </a:extLst>
              </a:tr>
              <a:tr h="546755">
                <a:tc>
                  <a:txBody>
                    <a:bodyPr/>
                    <a:lstStyle/>
                    <a:p>
                      <a:r>
                        <a:rPr lang="en-IN" dirty="0" smtClean="0"/>
                        <a:t>Web Framework </a:t>
                      </a:r>
                      <a:endParaRPr lang="en-IN" dirty="0"/>
                    </a:p>
                  </a:txBody>
                  <a:tcPr/>
                </a:tc>
                <a:tc>
                  <a:txBody>
                    <a:bodyPr/>
                    <a:lstStyle/>
                    <a:p>
                      <a:r>
                        <a:rPr lang="en-US" b="1" dirty="0" smtClean="0"/>
                        <a:t>Django:</a:t>
                      </a:r>
                      <a:r>
                        <a:rPr lang="en-US" dirty="0" smtClean="0"/>
                        <a:t> For building web applications.</a:t>
                      </a:r>
                      <a:endParaRPr lang="en-IN" dirty="0"/>
                    </a:p>
                  </a:txBody>
                  <a:tcPr/>
                </a:tc>
                <a:extLst>
                  <a:ext uri="{0D108BD9-81ED-4DB2-BD59-A6C34878D82A}">
                    <a16:rowId xmlns:a16="http://schemas.microsoft.com/office/drawing/2014/main" val="154585844"/>
                  </a:ext>
                </a:extLst>
              </a:tr>
              <a:tr h="537327">
                <a:tc>
                  <a:txBody>
                    <a:bodyPr/>
                    <a:lstStyle/>
                    <a:p>
                      <a:r>
                        <a:rPr lang="en-IN" dirty="0" smtClean="0"/>
                        <a:t>Development Environment</a:t>
                      </a:r>
                      <a:endParaRPr lang="en-IN" dirty="0"/>
                    </a:p>
                  </a:txBody>
                  <a:tcPr/>
                </a:tc>
                <a:tc>
                  <a:txBody>
                    <a:bodyPr/>
                    <a:lstStyle/>
                    <a:p>
                      <a:r>
                        <a:rPr lang="en-US" b="1" dirty="0" smtClean="0"/>
                        <a:t>IDE:</a:t>
                      </a:r>
                      <a:r>
                        <a:rPr lang="en-US" dirty="0" smtClean="0"/>
                        <a:t> PyCharm, Visual Studio Code, or Jupyter Notebook.</a:t>
                      </a:r>
                      <a:endParaRPr lang="en-IN" dirty="0"/>
                    </a:p>
                  </a:txBody>
                  <a:tcPr/>
                </a:tc>
                <a:extLst>
                  <a:ext uri="{0D108BD9-81ED-4DB2-BD59-A6C34878D82A}">
                    <a16:rowId xmlns:a16="http://schemas.microsoft.com/office/drawing/2014/main" val="3238774625"/>
                  </a:ext>
                </a:extLst>
              </a:tr>
              <a:tr h="785949">
                <a:tc>
                  <a:txBody>
                    <a:bodyPr/>
                    <a:lstStyle/>
                    <a:p>
                      <a:r>
                        <a:rPr lang="en-IN" dirty="0" smtClean="0"/>
                        <a:t>Other Tools</a:t>
                      </a:r>
                      <a:endParaRPr lang="en-IN" dirty="0"/>
                    </a:p>
                  </a:txBody>
                  <a:tcPr/>
                </a:tc>
                <a:tc>
                  <a:txBody>
                    <a:bodyPr/>
                    <a:lstStyle/>
                    <a:p>
                      <a:r>
                        <a:rPr lang="en-US" b="1" dirty="0" smtClean="0"/>
                        <a:t>CMake:</a:t>
                      </a:r>
                      <a:r>
                        <a:rPr lang="en-US" dirty="0" smtClean="0"/>
                        <a:t> For building and compiling Dlib.</a:t>
                      </a:r>
                      <a:endParaRPr lang="en-IN" dirty="0"/>
                    </a:p>
                  </a:txBody>
                  <a:tcPr/>
                </a:tc>
                <a:extLst>
                  <a:ext uri="{0D108BD9-81ED-4DB2-BD59-A6C34878D82A}">
                    <a16:rowId xmlns:a16="http://schemas.microsoft.com/office/drawing/2014/main" val="3381461458"/>
                  </a:ext>
                </a:extLst>
              </a:tr>
            </a:tbl>
          </a:graphicData>
        </a:graphic>
      </p:graphicFrame>
    </p:spTree>
    <p:extLst>
      <p:ext uri="{BB962C8B-B14F-4D97-AF65-F5344CB8AC3E}">
        <p14:creationId xmlns:p14="http://schemas.microsoft.com/office/powerpoint/2010/main" val="1098096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92231"/>
            <a:ext cx="10353761" cy="961534"/>
          </a:xfrm>
        </p:spPr>
        <p:txBody>
          <a:bodyPr>
            <a:normAutofit/>
          </a:bodyPr>
          <a:lstStyle/>
          <a:p>
            <a:r>
              <a:rPr lang="en-IN" sz="2800" u="sng" dirty="0"/>
              <a:t>System Modules and Functionalities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43950770"/>
              </p:ext>
            </p:extLst>
          </p:nvPr>
        </p:nvGraphicFramePr>
        <p:xfrm>
          <a:off x="914400" y="1036949"/>
          <a:ext cx="10353676" cy="5224893"/>
        </p:xfrm>
        <a:graphic>
          <a:graphicData uri="http://schemas.openxmlformats.org/drawingml/2006/table">
            <a:tbl>
              <a:tblPr firstRow="1" bandRow="1">
                <a:tableStyleId>{C083E6E3-FA7D-4D7B-A595-EF9225AFEA82}</a:tableStyleId>
              </a:tblPr>
              <a:tblGrid>
                <a:gridCol w="5176838">
                  <a:extLst>
                    <a:ext uri="{9D8B030D-6E8A-4147-A177-3AD203B41FA5}">
                      <a16:colId xmlns:a16="http://schemas.microsoft.com/office/drawing/2014/main" val="3133130015"/>
                    </a:ext>
                  </a:extLst>
                </a:gridCol>
                <a:gridCol w="5176838">
                  <a:extLst>
                    <a:ext uri="{9D8B030D-6E8A-4147-A177-3AD203B41FA5}">
                      <a16:colId xmlns:a16="http://schemas.microsoft.com/office/drawing/2014/main" val="899133072"/>
                    </a:ext>
                  </a:extLst>
                </a:gridCol>
              </a:tblGrid>
              <a:tr h="896531">
                <a:tc>
                  <a:txBody>
                    <a:bodyPr/>
                    <a:lstStyle/>
                    <a:p>
                      <a:pPr algn="ctr"/>
                      <a:r>
                        <a:rPr lang="en-US" dirty="0" smtClean="0"/>
                        <a:t>MODULES</a:t>
                      </a:r>
                      <a:endParaRPr lang="en-IN" dirty="0"/>
                    </a:p>
                  </a:txBody>
                  <a:tcPr anchor="ctr"/>
                </a:tc>
                <a:tc>
                  <a:txBody>
                    <a:bodyPr/>
                    <a:lstStyle/>
                    <a:p>
                      <a:pPr algn="ctr"/>
                      <a:r>
                        <a:rPr lang="en-US" dirty="0" smtClean="0"/>
                        <a:t>FUNCTIONALITIES</a:t>
                      </a:r>
                      <a:endParaRPr lang="en-IN" dirty="0"/>
                    </a:p>
                  </a:txBody>
                  <a:tcPr anchor="ctr"/>
                </a:tc>
                <a:extLst>
                  <a:ext uri="{0D108BD9-81ED-4DB2-BD59-A6C34878D82A}">
                    <a16:rowId xmlns:a16="http://schemas.microsoft.com/office/drawing/2014/main" val="502995206"/>
                  </a:ext>
                </a:extLst>
              </a:tr>
              <a:tr h="1580867">
                <a:tc>
                  <a:txBody>
                    <a:bodyPr/>
                    <a:lstStyle/>
                    <a:p>
                      <a:pPr algn="ctr"/>
                      <a:r>
                        <a:rPr lang="en-US" dirty="0" smtClean="0"/>
                        <a:t>User Registration and Management Module</a:t>
                      </a:r>
                      <a:endParaRPr lang="en-IN" dirty="0"/>
                    </a:p>
                  </a:txBody>
                  <a:tcPr anchor="ctr"/>
                </a:tc>
                <a:tc>
                  <a:txBody>
                    <a:bodyPr/>
                    <a:lstStyle/>
                    <a:p>
                      <a:r>
                        <a:rPr lang="en-US" dirty="0" smtClean="0"/>
                        <a:t>Capture and store user face data (images or videos). Register new users by saving their facial features and personal details (name, ID, etc.). Update user information (e.g., name or designation).</a:t>
                      </a:r>
                      <a:endParaRPr lang="en-IN" dirty="0"/>
                    </a:p>
                  </a:txBody>
                  <a:tcPr/>
                </a:tc>
                <a:extLst>
                  <a:ext uri="{0D108BD9-81ED-4DB2-BD59-A6C34878D82A}">
                    <a16:rowId xmlns:a16="http://schemas.microsoft.com/office/drawing/2014/main" val="258083913"/>
                  </a:ext>
                </a:extLst>
              </a:tr>
              <a:tr h="1284455">
                <a:tc>
                  <a:txBody>
                    <a:bodyPr/>
                    <a:lstStyle/>
                    <a:p>
                      <a:pPr algn="ctr"/>
                      <a:r>
                        <a:rPr lang="en-US" dirty="0" smtClean="0"/>
                        <a:t>Face Detection and Recognition Module</a:t>
                      </a:r>
                      <a:endParaRPr lang="en-IN" dirty="0"/>
                    </a:p>
                  </a:txBody>
                  <a:tcPr anchor="ctr"/>
                </a:tc>
                <a:tc>
                  <a:txBody>
                    <a:bodyPr/>
                    <a:lstStyle/>
                    <a:p>
                      <a:r>
                        <a:rPr lang="en-US" dirty="0" smtClean="0"/>
                        <a:t>Detect faces from real-time video streams or images.</a:t>
                      </a:r>
                    </a:p>
                    <a:p>
                      <a:r>
                        <a:rPr lang="en-US" dirty="0" smtClean="0"/>
                        <a:t>Display the recognized user's information on the screen.</a:t>
                      </a:r>
                      <a:endParaRPr lang="en-IN" dirty="0"/>
                    </a:p>
                  </a:txBody>
                  <a:tcPr/>
                </a:tc>
                <a:extLst>
                  <a:ext uri="{0D108BD9-81ED-4DB2-BD59-A6C34878D82A}">
                    <a16:rowId xmlns:a16="http://schemas.microsoft.com/office/drawing/2014/main" val="980605285"/>
                  </a:ext>
                </a:extLst>
              </a:tr>
              <a:tr h="896531">
                <a:tc>
                  <a:txBody>
                    <a:bodyPr/>
                    <a:lstStyle/>
                    <a:p>
                      <a:pPr algn="ctr"/>
                      <a:r>
                        <a:rPr lang="en-IN" dirty="0" smtClean="0"/>
                        <a:t>Attendance Marking Module</a:t>
                      </a:r>
                      <a:endParaRPr lang="en-IN" dirty="0"/>
                    </a:p>
                  </a:txBody>
                  <a:tcPr anchor="ctr"/>
                </a:tc>
                <a:tc>
                  <a:txBody>
                    <a:bodyPr/>
                    <a:lstStyle/>
                    <a:p>
                      <a:r>
                        <a:rPr lang="en-US" dirty="0" smtClean="0"/>
                        <a:t>Automatically mark attendance when a face is recognized. Record the time and date of attendance. Avoid duplicate attendance entries within a specific time frame. Mark attendance as "Present" or "Absent" based on recognition.</a:t>
                      </a:r>
                      <a:endParaRPr lang="en-IN" dirty="0"/>
                    </a:p>
                  </a:txBody>
                  <a:tcPr/>
                </a:tc>
                <a:extLst>
                  <a:ext uri="{0D108BD9-81ED-4DB2-BD59-A6C34878D82A}">
                    <a16:rowId xmlns:a16="http://schemas.microsoft.com/office/drawing/2014/main" val="3876038335"/>
                  </a:ext>
                </a:extLst>
              </a:tr>
            </a:tbl>
          </a:graphicData>
        </a:graphic>
      </p:graphicFrame>
    </p:spTree>
    <p:extLst>
      <p:ext uri="{BB962C8B-B14F-4D97-AF65-F5344CB8AC3E}">
        <p14:creationId xmlns:p14="http://schemas.microsoft.com/office/powerpoint/2010/main" val="1769601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605873951"/>
              </p:ext>
            </p:extLst>
          </p:nvPr>
        </p:nvGraphicFramePr>
        <p:xfrm>
          <a:off x="941388" y="390525"/>
          <a:ext cx="10353676" cy="5903208"/>
        </p:xfrm>
        <a:graphic>
          <a:graphicData uri="http://schemas.openxmlformats.org/drawingml/2006/table">
            <a:tbl>
              <a:tblPr firstRow="1" bandRow="1">
                <a:tableStyleId>{C083E6E3-FA7D-4D7B-A595-EF9225AFEA82}</a:tableStyleId>
              </a:tblPr>
              <a:tblGrid>
                <a:gridCol w="5176838">
                  <a:extLst>
                    <a:ext uri="{9D8B030D-6E8A-4147-A177-3AD203B41FA5}">
                      <a16:colId xmlns:a16="http://schemas.microsoft.com/office/drawing/2014/main" val="813769355"/>
                    </a:ext>
                  </a:extLst>
                </a:gridCol>
                <a:gridCol w="5176838">
                  <a:extLst>
                    <a:ext uri="{9D8B030D-6E8A-4147-A177-3AD203B41FA5}">
                      <a16:colId xmlns:a16="http://schemas.microsoft.com/office/drawing/2014/main" val="2665611773"/>
                    </a:ext>
                  </a:extLst>
                </a:gridCol>
              </a:tblGrid>
              <a:tr h="1808604">
                <a:tc>
                  <a:txBody>
                    <a:bodyPr/>
                    <a:lstStyle/>
                    <a:p>
                      <a:pPr algn="ctr"/>
                      <a:r>
                        <a:rPr lang="en-IN" dirty="0" smtClean="0"/>
                        <a:t>Database Management Module</a:t>
                      </a:r>
                      <a:endParaRPr lang="en-IN" dirty="0"/>
                    </a:p>
                  </a:txBody>
                  <a:tcPr anchor="ctr"/>
                </a:tc>
                <a:tc>
                  <a:txBody>
                    <a:bodyPr/>
                    <a:lstStyle/>
                    <a:p>
                      <a:pPr lvl="1" algn="l"/>
                      <a:r>
                        <a:rPr lang="en-US" dirty="0" smtClean="0"/>
                        <a:t>Store user data, face </a:t>
                      </a:r>
                      <a:r>
                        <a:rPr lang="en-US" dirty="0" err="1" smtClean="0"/>
                        <a:t>embeddings</a:t>
                      </a:r>
                      <a:r>
                        <a:rPr lang="en-US" dirty="0" smtClean="0"/>
                        <a:t>, and attendance records.</a:t>
                      </a:r>
                    </a:p>
                    <a:p>
                      <a:pPr lvl="1" algn="l"/>
                      <a:r>
                        <a:rPr lang="en-US" dirty="0" smtClean="0"/>
                        <a:t>Maintain the integrity and security of data.</a:t>
                      </a:r>
                    </a:p>
                    <a:p>
                      <a:pPr lvl="1" algn="l"/>
                      <a:r>
                        <a:rPr lang="en-US" dirty="0" smtClean="0"/>
                        <a:t>Perform CRUD (Create, Read, Update, Delete) operations on the database.</a:t>
                      </a:r>
                    </a:p>
                    <a:p>
                      <a:pPr lvl="1" algn="l"/>
                      <a:r>
                        <a:rPr lang="en-US" dirty="0" smtClean="0"/>
                        <a:t>Generate attendance reports and summaries.</a:t>
                      </a:r>
                      <a:endParaRPr lang="en-US" dirty="0"/>
                    </a:p>
                  </a:txBody>
                  <a:tcPr/>
                </a:tc>
                <a:extLst>
                  <a:ext uri="{0D108BD9-81ED-4DB2-BD59-A6C34878D82A}">
                    <a16:rowId xmlns:a16="http://schemas.microsoft.com/office/drawing/2014/main" val="774121940"/>
                  </a:ext>
                </a:extLst>
              </a:tr>
              <a:tr h="1808604">
                <a:tc>
                  <a:txBody>
                    <a:bodyPr/>
                    <a:lstStyle/>
                    <a:p>
                      <a:pPr algn="ctr"/>
                      <a:r>
                        <a:rPr lang="en-IN" dirty="0" smtClean="0"/>
                        <a:t>Reporting and Analytics Module</a:t>
                      </a:r>
                      <a:endParaRPr lang="en-IN" dirty="0"/>
                    </a:p>
                  </a:txBody>
                  <a:tcPr anchor="ctr"/>
                </a:tc>
                <a:tc>
                  <a:txBody>
                    <a:bodyPr/>
                    <a:lstStyle/>
                    <a:p>
                      <a:pPr algn="l"/>
                      <a:r>
                        <a:rPr lang="en-US" dirty="0" smtClean="0"/>
                        <a:t> Generate daily, weekly, and monthly attendance reports. Visualize attendance data using charts and graphs. Export reports to formats like Excel, CSV, or PDF. Analyze attendance trends and patterns.</a:t>
                      </a:r>
                      <a:endParaRPr lang="en-IN" dirty="0"/>
                    </a:p>
                  </a:txBody>
                  <a:tcPr/>
                </a:tc>
                <a:extLst>
                  <a:ext uri="{0D108BD9-81ED-4DB2-BD59-A6C34878D82A}">
                    <a16:rowId xmlns:a16="http://schemas.microsoft.com/office/drawing/2014/main" val="3934184311"/>
                  </a:ext>
                </a:extLst>
              </a:tr>
              <a:tr h="1808604">
                <a:tc>
                  <a:txBody>
                    <a:bodyPr/>
                    <a:lstStyle/>
                    <a:p>
                      <a:endParaRPr lang="en-IN"/>
                    </a:p>
                  </a:txBody>
                  <a:tcPr/>
                </a:tc>
                <a:tc>
                  <a:txBody>
                    <a:bodyPr/>
                    <a:lstStyle/>
                    <a:p>
                      <a:endParaRPr lang="en-IN" dirty="0"/>
                    </a:p>
                  </a:txBody>
                  <a:tcPr/>
                </a:tc>
                <a:extLst>
                  <a:ext uri="{0D108BD9-81ED-4DB2-BD59-A6C34878D82A}">
                    <a16:rowId xmlns:a16="http://schemas.microsoft.com/office/drawing/2014/main" val="4207353836"/>
                  </a:ext>
                </a:extLst>
              </a:tr>
            </a:tbl>
          </a:graphicData>
        </a:graphic>
      </p:graphicFrame>
    </p:spTree>
    <p:extLst>
      <p:ext uri="{BB962C8B-B14F-4D97-AF65-F5344CB8AC3E}">
        <p14:creationId xmlns:p14="http://schemas.microsoft.com/office/powerpoint/2010/main" val="3730928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35671"/>
            <a:ext cx="10353761" cy="1376314"/>
          </a:xfrm>
        </p:spPr>
        <p:txBody>
          <a:bodyPr>
            <a:normAutofit/>
          </a:bodyPr>
          <a:lstStyle/>
          <a:p>
            <a:r>
              <a:rPr lang="en-IN" sz="3600" u="sng" dirty="0" smtClean="0"/>
              <a:t>system design diagrams</a:t>
            </a:r>
            <a:r>
              <a:rPr lang="en-US" sz="3600" dirty="0">
                <a:solidFill>
                  <a:schemeClr val="accent3"/>
                </a:solidFill>
                <a:latin typeface="Times New Roman" panose="02020603050405020304" pitchFamily="18" charset="0"/>
                <a:cs typeface="Times New Roman" panose="02020603050405020304" pitchFamily="18" charset="0"/>
              </a:rPr>
              <a:t/>
            </a:r>
            <a:br>
              <a:rPr lang="en-US" sz="3600" dirty="0">
                <a:solidFill>
                  <a:schemeClr val="accent3"/>
                </a:solidFill>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913795" y="1357460"/>
            <a:ext cx="10353762" cy="4433740"/>
          </a:xfrm>
        </p:spPr>
        <p:txBody>
          <a:bodyPr/>
          <a:lstStyle/>
          <a:p>
            <a:pPr marL="457200" indent="-457200">
              <a:buFont typeface="+mj-lt"/>
              <a:buAutoNum type="arabicPeriod"/>
            </a:pPr>
            <a:r>
              <a:rPr lang="en-IN" b="1" dirty="0"/>
              <a:t>Entity-Relationship Diagram (ERD)</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862137"/>
            <a:ext cx="10728308" cy="4764906"/>
          </a:xfrm>
          <a:prstGeom prst="rect">
            <a:avLst/>
          </a:prstGeom>
        </p:spPr>
      </p:pic>
    </p:spTree>
    <p:extLst>
      <p:ext uri="{BB962C8B-B14F-4D97-AF65-F5344CB8AC3E}">
        <p14:creationId xmlns:p14="http://schemas.microsoft.com/office/powerpoint/2010/main" val="725582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320511"/>
            <a:ext cx="10353762" cy="6268825"/>
          </a:xfrm>
        </p:spPr>
        <p:txBody>
          <a:bodyPr/>
          <a:lstStyle/>
          <a:p>
            <a:pPr marL="0" indent="0">
              <a:buNone/>
            </a:pPr>
            <a:r>
              <a:rPr lang="en-US" dirty="0" smtClean="0"/>
              <a:t>2. </a:t>
            </a:r>
            <a:r>
              <a:rPr lang="en-IN" b="1" dirty="0"/>
              <a:t>Class Diagram (UML)</a:t>
            </a:r>
          </a:p>
          <a:p>
            <a:pPr marL="0" indent="0">
              <a:buNone/>
            </a:pP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2050" y="320511"/>
            <a:ext cx="1818564" cy="6268825"/>
          </a:xfrm>
          <a:prstGeom prst="rect">
            <a:avLst/>
          </a:prstGeom>
        </p:spPr>
      </p:pic>
    </p:spTree>
    <p:extLst>
      <p:ext uri="{BB962C8B-B14F-4D97-AF65-F5344CB8AC3E}">
        <p14:creationId xmlns:p14="http://schemas.microsoft.com/office/powerpoint/2010/main" val="1048514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254524"/>
            <a:ext cx="10353762" cy="6306532"/>
          </a:xfrm>
        </p:spPr>
        <p:txBody>
          <a:bodyPr/>
          <a:lstStyle/>
          <a:p>
            <a:pPr marL="0" indent="0">
              <a:buNone/>
            </a:pPr>
            <a:r>
              <a:rPr lang="en-US" dirty="0" smtClean="0"/>
              <a:t>3. </a:t>
            </a:r>
            <a:r>
              <a:rPr lang="en-IN" b="1" dirty="0"/>
              <a:t>Activity Diagram</a:t>
            </a:r>
          </a:p>
          <a:p>
            <a:pPr>
              <a:buFont typeface="Wingdings" panose="05000000000000000000" pitchFamily="2" charset="2"/>
              <a:buChar char="q"/>
            </a:pPr>
            <a:r>
              <a:rPr lang="en-US" dirty="0" smtClean="0"/>
              <a:t> </a:t>
            </a:r>
            <a:r>
              <a:rPr lang="en-IN" b="1" dirty="0"/>
              <a:t>Attendance Marking Process</a:t>
            </a:r>
            <a:r>
              <a:rPr lang="en-IN" dirty="0"/>
              <a:t> </a:t>
            </a:r>
            <a:endParaRPr lang="en-IN" dirty="0" smtClean="0"/>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2125" y="1677971"/>
            <a:ext cx="3636438" cy="4524866"/>
          </a:xfrm>
          <a:prstGeom prst="rect">
            <a:avLst/>
          </a:prstGeom>
        </p:spPr>
      </p:pic>
    </p:spTree>
    <p:extLst>
      <p:ext uri="{BB962C8B-B14F-4D97-AF65-F5344CB8AC3E}">
        <p14:creationId xmlns:p14="http://schemas.microsoft.com/office/powerpoint/2010/main" val="2711652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377072"/>
            <a:ext cx="10353762" cy="6165130"/>
          </a:xfrm>
        </p:spPr>
        <p:txBody>
          <a:bodyPr/>
          <a:lstStyle/>
          <a:p>
            <a:pPr marL="0" indent="0">
              <a:buNone/>
            </a:pPr>
            <a:r>
              <a:rPr lang="en-US" dirty="0" smtClean="0"/>
              <a:t>3. </a:t>
            </a:r>
            <a:r>
              <a:rPr lang="en-IN" b="1" dirty="0"/>
              <a:t>Activity </a:t>
            </a:r>
            <a:r>
              <a:rPr lang="en-IN" b="1" dirty="0" smtClean="0"/>
              <a:t>Diagram</a:t>
            </a:r>
          </a:p>
          <a:p>
            <a:pPr>
              <a:buFont typeface="Wingdings" panose="05000000000000000000" pitchFamily="2" charset="2"/>
              <a:buChar char="q"/>
            </a:pPr>
            <a:r>
              <a:rPr lang="en-US" b="1" dirty="0"/>
              <a:t> </a:t>
            </a:r>
            <a:r>
              <a:rPr lang="en-US" b="1" dirty="0" smtClean="0"/>
              <a:t>Employee Registration Process</a:t>
            </a:r>
          </a:p>
          <a:p>
            <a:pPr marL="0" indent="0">
              <a:buNone/>
            </a:pPr>
            <a:endParaRPr lang="en-IN"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8430" y="1461155"/>
            <a:ext cx="4741682" cy="4506012"/>
          </a:xfrm>
          <a:prstGeom prst="rect">
            <a:avLst/>
          </a:prstGeom>
        </p:spPr>
      </p:pic>
    </p:spTree>
    <p:extLst>
      <p:ext uri="{BB962C8B-B14F-4D97-AF65-F5344CB8AC3E}">
        <p14:creationId xmlns:p14="http://schemas.microsoft.com/office/powerpoint/2010/main" val="1853154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358219"/>
            <a:ext cx="10353762" cy="6193410"/>
          </a:xfrm>
        </p:spPr>
        <p:txBody>
          <a:bodyPr/>
          <a:lstStyle/>
          <a:p>
            <a:pPr marL="0" indent="0">
              <a:buNone/>
            </a:pPr>
            <a:r>
              <a:rPr lang="en-US" dirty="0" smtClean="0"/>
              <a:t>3. Activity Diagram</a:t>
            </a:r>
          </a:p>
          <a:p>
            <a:pPr>
              <a:buFont typeface="Wingdings" panose="05000000000000000000" pitchFamily="2" charset="2"/>
              <a:buChar char="q"/>
            </a:pPr>
            <a:r>
              <a:rPr lang="en-US" dirty="0"/>
              <a:t> </a:t>
            </a:r>
            <a:r>
              <a:rPr lang="en-US" dirty="0" smtClean="0"/>
              <a:t>Face Recognition Flow</a:t>
            </a:r>
          </a:p>
          <a:p>
            <a:pPr>
              <a:buFont typeface="Wingdings" panose="05000000000000000000" pitchFamily="2" charset="2"/>
              <a:buChar char="q"/>
            </a:pPr>
            <a:endParaRPr lang="en-US" dirty="0"/>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2424" y="1602557"/>
            <a:ext cx="4463101" cy="4694548"/>
          </a:xfrm>
          <a:prstGeom prst="rect">
            <a:avLst/>
          </a:prstGeom>
        </p:spPr>
      </p:pic>
    </p:spTree>
    <p:extLst>
      <p:ext uri="{BB962C8B-B14F-4D97-AF65-F5344CB8AC3E}">
        <p14:creationId xmlns:p14="http://schemas.microsoft.com/office/powerpoint/2010/main" val="3046013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395925"/>
            <a:ext cx="10353762" cy="6089715"/>
          </a:xfrm>
        </p:spPr>
        <p:txBody>
          <a:bodyPr/>
          <a:lstStyle/>
          <a:p>
            <a:pPr marL="0" indent="0">
              <a:buNone/>
            </a:pPr>
            <a:r>
              <a:rPr lang="en-US" dirty="0" smtClean="0"/>
              <a:t>3. Activity Diagram</a:t>
            </a:r>
          </a:p>
          <a:p>
            <a:pPr>
              <a:buFont typeface="Wingdings" panose="05000000000000000000" pitchFamily="2" charset="2"/>
              <a:buChar char="q"/>
            </a:pPr>
            <a:r>
              <a:rPr lang="en-US" dirty="0"/>
              <a:t> </a:t>
            </a:r>
            <a:r>
              <a:rPr lang="en-US" dirty="0" smtClean="0"/>
              <a:t>Report Generation Process</a:t>
            </a:r>
          </a:p>
          <a:p>
            <a:pPr marL="0" indent="0">
              <a:buNone/>
            </a:pPr>
            <a:endParaRPr lang="en-US" dirty="0"/>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8305" y="1715678"/>
            <a:ext cx="3487918" cy="4062953"/>
          </a:xfrm>
          <a:prstGeom prst="rect">
            <a:avLst/>
          </a:prstGeom>
        </p:spPr>
      </p:pic>
    </p:spTree>
    <p:extLst>
      <p:ext uri="{BB962C8B-B14F-4D97-AF65-F5344CB8AC3E}">
        <p14:creationId xmlns:p14="http://schemas.microsoft.com/office/powerpoint/2010/main" val="713198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395926"/>
            <a:ext cx="10353762" cy="5395274"/>
          </a:xfrm>
        </p:spPr>
        <p:txBody>
          <a:bodyPr/>
          <a:lstStyle/>
          <a:p>
            <a:pPr marL="0" indent="0">
              <a:buNone/>
            </a:pPr>
            <a:r>
              <a:rPr lang="en-US" dirty="0" smtClean="0"/>
              <a:t>3. Activity Diagram</a:t>
            </a:r>
          </a:p>
          <a:p>
            <a:pPr>
              <a:buFont typeface="Wingdings" panose="05000000000000000000" pitchFamily="2" charset="2"/>
              <a:buChar char="q"/>
            </a:pPr>
            <a:r>
              <a:rPr lang="en-US" dirty="0"/>
              <a:t> </a:t>
            </a:r>
            <a:r>
              <a:rPr lang="en-US" dirty="0" smtClean="0"/>
              <a:t>System Initialization Process</a:t>
            </a:r>
          </a:p>
          <a:p>
            <a:pPr>
              <a:buFont typeface="Wingdings" panose="05000000000000000000" pitchFamily="2" charset="2"/>
              <a:buChar char="q"/>
            </a:pPr>
            <a:endParaRPr lang="en-US" dirty="0"/>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9134" y="1470582"/>
            <a:ext cx="3261673" cy="4251488"/>
          </a:xfrm>
          <a:prstGeom prst="rect">
            <a:avLst/>
          </a:prstGeom>
        </p:spPr>
      </p:pic>
    </p:spTree>
    <p:extLst>
      <p:ext uri="{BB962C8B-B14F-4D97-AF65-F5344CB8AC3E}">
        <p14:creationId xmlns:p14="http://schemas.microsoft.com/office/powerpoint/2010/main" val="3027771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377071"/>
            <a:ext cx="10353762" cy="6221691"/>
          </a:xfrm>
        </p:spPr>
        <p:txBody>
          <a:bodyPr/>
          <a:lstStyle/>
          <a:p>
            <a:pPr marL="0" indent="0">
              <a:buNone/>
            </a:pPr>
            <a:r>
              <a:rPr lang="en-US" dirty="0" smtClean="0"/>
              <a:t>4. </a:t>
            </a:r>
            <a:r>
              <a:rPr lang="en-US" b="1" dirty="0"/>
              <a:t>Sequence</a:t>
            </a:r>
            <a:r>
              <a:rPr lang="en-IN" b="1" dirty="0"/>
              <a:t> Diagram </a:t>
            </a:r>
            <a:endParaRPr lang="en-IN" b="1" dirty="0" smtClean="0"/>
          </a:p>
          <a:p>
            <a:pPr>
              <a:buFont typeface="Wingdings" panose="05000000000000000000" pitchFamily="2" charset="2"/>
              <a:buChar char="q"/>
            </a:pPr>
            <a:r>
              <a:rPr lang="en-IN" dirty="0"/>
              <a:t>Face Attendance Marking </a:t>
            </a:r>
            <a:r>
              <a:rPr lang="en-IN" dirty="0" smtClean="0"/>
              <a:t>Sequence</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5912" y="1300899"/>
            <a:ext cx="9217206" cy="4524866"/>
          </a:xfrm>
          <a:prstGeom prst="rect">
            <a:avLst/>
          </a:prstGeom>
        </p:spPr>
      </p:pic>
    </p:spTree>
    <p:extLst>
      <p:ext uri="{BB962C8B-B14F-4D97-AF65-F5344CB8AC3E}">
        <p14:creationId xmlns:p14="http://schemas.microsoft.com/office/powerpoint/2010/main" val="3762054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405353"/>
            <a:ext cx="10353762" cy="6070861"/>
          </a:xfrm>
        </p:spPr>
        <p:txBody>
          <a:bodyPr/>
          <a:lstStyle/>
          <a:p>
            <a:pPr marL="0" indent="0">
              <a:buNone/>
            </a:pPr>
            <a:r>
              <a:rPr lang="en-US" dirty="0"/>
              <a:t>4. </a:t>
            </a:r>
            <a:r>
              <a:rPr lang="en-US" b="1" dirty="0"/>
              <a:t>Sequence</a:t>
            </a:r>
            <a:r>
              <a:rPr lang="en-IN" b="1" dirty="0"/>
              <a:t> </a:t>
            </a:r>
            <a:r>
              <a:rPr lang="en-IN" b="1" dirty="0" smtClean="0"/>
              <a:t>Diagram</a:t>
            </a:r>
          </a:p>
          <a:p>
            <a:pPr>
              <a:buFont typeface="Wingdings" panose="05000000000000000000" pitchFamily="2" charset="2"/>
              <a:buChar char="q"/>
            </a:pPr>
            <a:r>
              <a:rPr lang="en-US" b="1" dirty="0"/>
              <a:t> </a:t>
            </a:r>
            <a:r>
              <a:rPr lang="en-US" b="1" dirty="0" smtClean="0"/>
              <a:t>Employee Registration Sequence</a:t>
            </a:r>
            <a:endParaRPr lang="en-IN" b="1" dirty="0" smtClean="0"/>
          </a:p>
          <a:p>
            <a:pPr marL="0" indent="0">
              <a:buNone/>
            </a:pPr>
            <a:endParaRPr lang="en-IN" b="1" dirty="0"/>
          </a:p>
          <a:p>
            <a:pPr marL="0" indent="0">
              <a:buNone/>
            </a:pPr>
            <a:r>
              <a:rPr lang="en-IN" b="1" dirty="0" smtClean="0"/>
              <a:t> </a:t>
            </a:r>
            <a:endParaRPr lang="en-IN" b="1" dirty="0"/>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2557" y="1706253"/>
            <a:ext cx="8842341" cy="4176074"/>
          </a:xfrm>
          <a:prstGeom prst="rect">
            <a:avLst/>
          </a:prstGeom>
        </p:spPr>
      </p:pic>
    </p:spTree>
    <p:extLst>
      <p:ext uri="{BB962C8B-B14F-4D97-AF65-F5344CB8AC3E}">
        <p14:creationId xmlns:p14="http://schemas.microsoft.com/office/powerpoint/2010/main" val="3336946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386499"/>
            <a:ext cx="10353762" cy="6052008"/>
          </a:xfrm>
        </p:spPr>
        <p:txBody>
          <a:bodyPr/>
          <a:lstStyle/>
          <a:p>
            <a:pPr marL="0" indent="0">
              <a:buNone/>
            </a:pPr>
            <a:r>
              <a:rPr lang="en-US" dirty="0"/>
              <a:t>4. </a:t>
            </a:r>
            <a:r>
              <a:rPr lang="en-US" b="1" dirty="0"/>
              <a:t>Sequence</a:t>
            </a:r>
            <a:r>
              <a:rPr lang="en-IN" b="1" dirty="0"/>
              <a:t> </a:t>
            </a:r>
            <a:r>
              <a:rPr lang="en-IN" b="1" dirty="0" smtClean="0"/>
              <a:t>Diagram</a:t>
            </a:r>
          </a:p>
          <a:p>
            <a:pPr>
              <a:buFont typeface="Wingdings" panose="05000000000000000000" pitchFamily="2" charset="2"/>
              <a:buChar char="q"/>
            </a:pPr>
            <a:r>
              <a:rPr lang="en-US" b="1" dirty="0"/>
              <a:t> </a:t>
            </a:r>
            <a:r>
              <a:rPr lang="en-US" b="1" dirty="0" smtClean="0"/>
              <a:t>Report Generation Sequence</a:t>
            </a:r>
            <a:endParaRPr lang="en-IN" b="1" dirty="0" smtClean="0"/>
          </a:p>
          <a:p>
            <a:pPr marL="0" indent="0">
              <a:buNone/>
            </a:pPr>
            <a:r>
              <a:rPr lang="en-IN" b="1" dirty="0" smtClean="0"/>
              <a:t> </a:t>
            </a:r>
            <a:endParaRPr lang="en-IN" b="1" dirty="0"/>
          </a:p>
          <a:p>
            <a:pPr marL="0" indent="0">
              <a:buNone/>
            </a:pP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4849" y="1687398"/>
            <a:ext cx="8795209" cy="4345757"/>
          </a:xfrm>
          <a:prstGeom prst="rect">
            <a:avLst/>
          </a:prstGeom>
        </p:spPr>
      </p:pic>
    </p:spTree>
    <p:extLst>
      <p:ext uri="{BB962C8B-B14F-4D97-AF65-F5344CB8AC3E}">
        <p14:creationId xmlns:p14="http://schemas.microsoft.com/office/powerpoint/2010/main" val="730349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433633"/>
            <a:ext cx="10353762" cy="5948313"/>
          </a:xfrm>
        </p:spPr>
        <p:txBody>
          <a:bodyPr/>
          <a:lstStyle/>
          <a:p>
            <a:pPr marL="0" indent="0">
              <a:buNone/>
            </a:pPr>
            <a:r>
              <a:rPr lang="en-US" dirty="0"/>
              <a:t>4. </a:t>
            </a:r>
            <a:r>
              <a:rPr lang="en-US" b="1" dirty="0"/>
              <a:t>Sequence</a:t>
            </a:r>
            <a:r>
              <a:rPr lang="en-IN" b="1" dirty="0"/>
              <a:t> </a:t>
            </a:r>
            <a:r>
              <a:rPr lang="en-IN" b="1" dirty="0" smtClean="0"/>
              <a:t>Diagram</a:t>
            </a:r>
          </a:p>
          <a:p>
            <a:pPr>
              <a:buFont typeface="Wingdings" panose="05000000000000000000" pitchFamily="2" charset="2"/>
              <a:buChar char="q"/>
            </a:pPr>
            <a:r>
              <a:rPr lang="en-US" b="1" dirty="0"/>
              <a:t> </a:t>
            </a:r>
            <a:r>
              <a:rPr lang="en-US" b="1" dirty="0" smtClean="0"/>
              <a:t>Face Recognition Sequence</a:t>
            </a:r>
            <a:endParaRPr lang="en-IN" b="1" dirty="0" smtClean="0"/>
          </a:p>
          <a:p>
            <a:pPr marL="0" indent="0">
              <a:buNone/>
            </a:pPr>
            <a:r>
              <a:rPr lang="en-IN" b="1" dirty="0" smtClean="0"/>
              <a:t> </a:t>
            </a:r>
            <a:endParaRPr lang="en-IN" b="1" dirty="0"/>
          </a:p>
          <a:p>
            <a:pPr marL="0" indent="0">
              <a:buNone/>
            </a:pP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0008" y="1715678"/>
            <a:ext cx="8804635" cy="4411745"/>
          </a:xfrm>
          <a:prstGeom prst="rect">
            <a:avLst/>
          </a:prstGeom>
        </p:spPr>
      </p:pic>
    </p:spTree>
    <p:extLst>
      <p:ext uri="{BB962C8B-B14F-4D97-AF65-F5344CB8AC3E}">
        <p14:creationId xmlns:p14="http://schemas.microsoft.com/office/powerpoint/2010/main" val="3119515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433633"/>
            <a:ext cx="10353762" cy="5891753"/>
          </a:xfrm>
        </p:spPr>
        <p:txBody>
          <a:bodyPr/>
          <a:lstStyle/>
          <a:p>
            <a:pPr marL="0" indent="0">
              <a:buNone/>
            </a:pPr>
            <a:r>
              <a:rPr lang="en-US" dirty="0"/>
              <a:t>4. </a:t>
            </a:r>
            <a:r>
              <a:rPr lang="en-US" b="1" dirty="0"/>
              <a:t>Sequence</a:t>
            </a:r>
            <a:r>
              <a:rPr lang="en-IN" b="1" dirty="0"/>
              <a:t> </a:t>
            </a:r>
            <a:r>
              <a:rPr lang="en-IN" b="1" dirty="0" smtClean="0"/>
              <a:t>Diagram</a:t>
            </a:r>
          </a:p>
          <a:p>
            <a:pPr>
              <a:buFont typeface="Wingdings" panose="05000000000000000000" pitchFamily="2" charset="2"/>
              <a:buChar char="q"/>
            </a:pPr>
            <a:r>
              <a:rPr lang="en-IN" b="1" dirty="0"/>
              <a:t> </a:t>
            </a:r>
            <a:r>
              <a:rPr lang="en-IN" b="1" dirty="0" smtClean="0"/>
              <a:t>System Initialization Sequence </a:t>
            </a:r>
          </a:p>
          <a:p>
            <a:pPr marL="0" indent="0">
              <a:buNone/>
            </a:pPr>
            <a:endParaRPr lang="en-IN"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8924" y="1687398"/>
            <a:ext cx="9200561" cy="4364610"/>
          </a:xfrm>
          <a:prstGeom prst="rect">
            <a:avLst/>
          </a:prstGeom>
        </p:spPr>
      </p:pic>
    </p:spTree>
    <p:extLst>
      <p:ext uri="{BB962C8B-B14F-4D97-AF65-F5344CB8AC3E}">
        <p14:creationId xmlns:p14="http://schemas.microsoft.com/office/powerpoint/2010/main" val="2429555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358219"/>
            <a:ext cx="10353762" cy="6174556"/>
          </a:xfrm>
        </p:spPr>
        <p:txBody>
          <a:bodyPr/>
          <a:lstStyle/>
          <a:p>
            <a:pPr marL="457200" indent="-457200">
              <a:buAutoNum type="arabicPeriod" startAt="5"/>
            </a:pPr>
            <a:r>
              <a:rPr lang="en-US" b="1" dirty="0" smtClean="0"/>
              <a:t>Use Case Diagram</a:t>
            </a:r>
          </a:p>
          <a:p>
            <a:pPr>
              <a:buFont typeface="Wingdings" panose="05000000000000000000" pitchFamily="2" charset="2"/>
              <a:buChar char="q"/>
            </a:pPr>
            <a:r>
              <a:rPr lang="en-IN" dirty="0"/>
              <a:t>Attendance Marking Use </a:t>
            </a:r>
            <a:r>
              <a:rPr lang="en-IN" dirty="0" smtClean="0"/>
              <a:t>Case</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1350" y="1338606"/>
            <a:ext cx="5829300" cy="4835951"/>
          </a:xfrm>
          <a:prstGeom prst="rect">
            <a:avLst/>
          </a:prstGeom>
        </p:spPr>
      </p:pic>
    </p:spTree>
    <p:extLst>
      <p:ext uri="{BB962C8B-B14F-4D97-AF65-F5344CB8AC3E}">
        <p14:creationId xmlns:p14="http://schemas.microsoft.com/office/powerpoint/2010/main" val="819097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490193"/>
            <a:ext cx="10353762" cy="5637229"/>
          </a:xfrm>
        </p:spPr>
        <p:txBody>
          <a:bodyPr/>
          <a:lstStyle/>
          <a:p>
            <a:pPr>
              <a:buFont typeface="Wingdings" panose="05000000000000000000" pitchFamily="2" charset="2"/>
              <a:buChar char="q"/>
            </a:pPr>
            <a:r>
              <a:rPr lang="en-IN" dirty="0" smtClean="0"/>
              <a:t> Employee </a:t>
            </a:r>
            <a:r>
              <a:rPr lang="en-IN" dirty="0"/>
              <a:t>Management Use Case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437" y="1838227"/>
            <a:ext cx="7477125" cy="3648173"/>
          </a:xfrm>
          <a:prstGeom prst="rect">
            <a:avLst/>
          </a:prstGeom>
        </p:spPr>
      </p:pic>
    </p:spTree>
    <p:extLst>
      <p:ext uri="{BB962C8B-B14F-4D97-AF65-F5344CB8AC3E}">
        <p14:creationId xmlns:p14="http://schemas.microsoft.com/office/powerpoint/2010/main" val="4248559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433633"/>
            <a:ext cx="10353762" cy="5722070"/>
          </a:xfrm>
        </p:spPr>
        <p:txBody>
          <a:bodyPr/>
          <a:lstStyle/>
          <a:p>
            <a:pPr>
              <a:buFont typeface="Wingdings" panose="05000000000000000000" pitchFamily="2" charset="2"/>
              <a:buChar char="q"/>
            </a:pPr>
            <a:r>
              <a:rPr lang="en-US" dirty="0" smtClean="0"/>
              <a:t> </a:t>
            </a:r>
            <a:r>
              <a:rPr lang="en-IN" dirty="0"/>
              <a:t>Face Recognition Use </a:t>
            </a:r>
            <a:r>
              <a:rPr lang="en-IN" dirty="0" smtClean="0"/>
              <a:t>Case</a:t>
            </a:r>
          </a:p>
          <a:p>
            <a:pPr>
              <a:buFont typeface="Wingdings" panose="05000000000000000000" pitchFamily="2" charset="2"/>
              <a:buChar char="q"/>
            </a:pPr>
            <a:endParaRPr lang="en-US" dirty="0"/>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2587" y="1772239"/>
            <a:ext cx="8886825" cy="2922309"/>
          </a:xfrm>
          <a:prstGeom prst="rect">
            <a:avLst/>
          </a:prstGeom>
        </p:spPr>
      </p:pic>
    </p:spTree>
    <p:extLst>
      <p:ext uri="{BB962C8B-B14F-4D97-AF65-F5344CB8AC3E}">
        <p14:creationId xmlns:p14="http://schemas.microsoft.com/office/powerpoint/2010/main" val="755499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480767"/>
            <a:ext cx="10353762" cy="5627802"/>
          </a:xfrm>
        </p:spPr>
        <p:txBody>
          <a:bodyPr/>
          <a:lstStyle/>
          <a:p>
            <a:pPr>
              <a:buFont typeface="Wingdings" panose="05000000000000000000" pitchFamily="2" charset="2"/>
              <a:buChar char="q"/>
            </a:pPr>
            <a:r>
              <a:rPr lang="en-US" dirty="0" smtClean="0"/>
              <a:t> </a:t>
            </a:r>
            <a:r>
              <a:rPr lang="en-IN" dirty="0"/>
              <a:t>Report Management Use Case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0140" y="1602557"/>
            <a:ext cx="7494309" cy="3365369"/>
          </a:xfrm>
          <a:prstGeom prst="rect">
            <a:avLst/>
          </a:prstGeom>
        </p:spPr>
      </p:pic>
    </p:spTree>
    <p:extLst>
      <p:ext uri="{BB962C8B-B14F-4D97-AF65-F5344CB8AC3E}">
        <p14:creationId xmlns:p14="http://schemas.microsoft.com/office/powerpoint/2010/main" val="3835572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499621"/>
            <a:ext cx="10353762" cy="5291579"/>
          </a:xfrm>
        </p:spPr>
        <p:txBody>
          <a:bodyPr/>
          <a:lstStyle/>
          <a:p>
            <a:pPr>
              <a:buFont typeface="Wingdings" panose="05000000000000000000" pitchFamily="2" charset="2"/>
              <a:buChar char="q"/>
            </a:pPr>
            <a:r>
              <a:rPr lang="en-US" dirty="0" smtClean="0"/>
              <a:t>  </a:t>
            </a:r>
            <a:r>
              <a:rPr lang="en-IN" dirty="0"/>
              <a:t>System Initialization Use </a:t>
            </a:r>
            <a:r>
              <a:rPr lang="en-IN" dirty="0" smtClean="0"/>
              <a:t>Case</a:t>
            </a:r>
          </a:p>
          <a:p>
            <a:pPr>
              <a:buFont typeface="Wingdings" panose="05000000000000000000" pitchFamily="2" charset="2"/>
              <a:buChar char="q"/>
            </a:pPr>
            <a:endParaRPr lang="en-US" dirty="0"/>
          </a:p>
          <a:p>
            <a:pPr>
              <a:buFont typeface="Wingdings" panose="05000000000000000000" pitchFamily="2" charset="2"/>
              <a:buChar char="q"/>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8312" y="1649691"/>
            <a:ext cx="8715375" cy="2903259"/>
          </a:xfrm>
          <a:prstGeom prst="rect">
            <a:avLst/>
          </a:prstGeom>
        </p:spPr>
      </p:pic>
    </p:spTree>
    <p:extLst>
      <p:ext uri="{BB962C8B-B14F-4D97-AF65-F5344CB8AC3E}">
        <p14:creationId xmlns:p14="http://schemas.microsoft.com/office/powerpoint/2010/main" val="1630317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60257"/>
            <a:ext cx="10353761" cy="942680"/>
          </a:xfrm>
        </p:spPr>
        <p:txBody>
          <a:bodyPr anchor="t"/>
          <a:lstStyle/>
          <a:p>
            <a:r>
              <a:rPr lang="en-IN" u="sng" dirty="0" smtClean="0"/>
              <a:t>Data </a:t>
            </a:r>
            <a:r>
              <a:rPr lang="en-IN" u="sng" dirty="0"/>
              <a:t>Dictionary</a:t>
            </a:r>
          </a:p>
        </p:txBody>
      </p:sp>
      <p:sp>
        <p:nvSpPr>
          <p:cNvPr id="3" name="Content Placeholder 2"/>
          <p:cNvSpPr>
            <a:spLocks noGrp="1"/>
          </p:cNvSpPr>
          <p:nvPr>
            <p:ph idx="1"/>
          </p:nvPr>
        </p:nvSpPr>
        <p:spPr>
          <a:xfrm>
            <a:off x="913795" y="1102937"/>
            <a:ext cx="10353762" cy="5656082"/>
          </a:xfrm>
        </p:spPr>
        <p:txBody>
          <a:bodyPr/>
          <a:lstStyle/>
          <a:p>
            <a:pPr marL="0" indent="0">
              <a:buNone/>
            </a:pPr>
            <a:r>
              <a:rPr lang="en-US" dirty="0" smtClean="0"/>
              <a:t>1. </a:t>
            </a:r>
            <a:r>
              <a:rPr lang="en-IN" dirty="0"/>
              <a:t>Employee Table</a:t>
            </a:r>
          </a:p>
        </p:txBody>
      </p:sp>
      <p:graphicFrame>
        <p:nvGraphicFramePr>
          <p:cNvPr id="4" name="Table 3"/>
          <p:cNvGraphicFramePr>
            <a:graphicFrameLocks noGrp="1"/>
          </p:cNvGraphicFramePr>
          <p:nvPr>
            <p:extLst>
              <p:ext uri="{D42A27DB-BD31-4B8C-83A1-F6EECF244321}">
                <p14:modId xmlns:p14="http://schemas.microsoft.com/office/powerpoint/2010/main" val="3234121226"/>
              </p:ext>
            </p:extLst>
          </p:nvPr>
        </p:nvGraphicFramePr>
        <p:xfrm>
          <a:off x="1951349" y="1766041"/>
          <a:ext cx="8323869" cy="4895476"/>
        </p:xfrm>
        <a:graphic>
          <a:graphicData uri="http://schemas.openxmlformats.org/drawingml/2006/table">
            <a:tbl>
              <a:tblPr firstRow="1" bandRow="1">
                <a:tableStyleId>{C083E6E3-FA7D-4D7B-A595-EF9225AFEA82}</a:tableStyleId>
              </a:tblPr>
              <a:tblGrid>
                <a:gridCol w="2774623">
                  <a:extLst>
                    <a:ext uri="{9D8B030D-6E8A-4147-A177-3AD203B41FA5}">
                      <a16:colId xmlns:a16="http://schemas.microsoft.com/office/drawing/2014/main" val="2570308165"/>
                    </a:ext>
                  </a:extLst>
                </a:gridCol>
                <a:gridCol w="2774623">
                  <a:extLst>
                    <a:ext uri="{9D8B030D-6E8A-4147-A177-3AD203B41FA5}">
                      <a16:colId xmlns:a16="http://schemas.microsoft.com/office/drawing/2014/main" val="2011435546"/>
                    </a:ext>
                  </a:extLst>
                </a:gridCol>
                <a:gridCol w="2774623">
                  <a:extLst>
                    <a:ext uri="{9D8B030D-6E8A-4147-A177-3AD203B41FA5}">
                      <a16:colId xmlns:a16="http://schemas.microsoft.com/office/drawing/2014/main" val="1132945570"/>
                    </a:ext>
                  </a:extLst>
                </a:gridCol>
              </a:tblGrid>
              <a:tr h="527498">
                <a:tc>
                  <a:txBody>
                    <a:bodyPr/>
                    <a:lstStyle/>
                    <a:p>
                      <a:pPr algn="ctr"/>
                      <a:r>
                        <a:rPr lang="en-IN" dirty="0"/>
                        <a:t>Attribute</a:t>
                      </a:r>
                    </a:p>
                  </a:txBody>
                  <a:tcPr anchor="ctr"/>
                </a:tc>
                <a:tc>
                  <a:txBody>
                    <a:bodyPr/>
                    <a:lstStyle/>
                    <a:p>
                      <a:pPr algn="ctr"/>
                      <a:r>
                        <a:rPr lang="en-IN" dirty="0"/>
                        <a:t>Data Type</a:t>
                      </a:r>
                    </a:p>
                  </a:txBody>
                  <a:tcPr anchor="ctr"/>
                </a:tc>
                <a:tc>
                  <a:txBody>
                    <a:bodyPr/>
                    <a:lstStyle/>
                    <a:p>
                      <a:pPr algn="ctr"/>
                      <a:r>
                        <a:rPr lang="en-IN" dirty="0"/>
                        <a:t>Description</a:t>
                      </a:r>
                    </a:p>
                  </a:txBody>
                  <a:tcPr anchor="ctr"/>
                </a:tc>
                <a:extLst>
                  <a:ext uri="{0D108BD9-81ED-4DB2-BD59-A6C34878D82A}">
                    <a16:rowId xmlns:a16="http://schemas.microsoft.com/office/drawing/2014/main" val="3970383634"/>
                  </a:ext>
                </a:extLst>
              </a:tr>
              <a:tr h="527498">
                <a:tc>
                  <a:txBody>
                    <a:bodyPr/>
                    <a:lstStyle/>
                    <a:p>
                      <a:pPr algn="ctr"/>
                      <a:r>
                        <a:rPr lang="en-IN" dirty="0" err="1"/>
                        <a:t>employee_id</a:t>
                      </a:r>
                      <a:endParaRPr lang="en-IN" dirty="0"/>
                    </a:p>
                  </a:txBody>
                  <a:tcPr anchor="ctr"/>
                </a:tc>
                <a:tc>
                  <a:txBody>
                    <a:bodyPr/>
                    <a:lstStyle/>
                    <a:p>
                      <a:pPr algn="ctr"/>
                      <a:r>
                        <a:rPr lang="en-IN" dirty="0"/>
                        <a:t>INT</a:t>
                      </a:r>
                    </a:p>
                  </a:txBody>
                  <a:tcPr anchor="ctr"/>
                </a:tc>
                <a:tc>
                  <a:txBody>
                    <a:bodyPr/>
                    <a:lstStyle/>
                    <a:p>
                      <a:pPr algn="ctr"/>
                      <a:r>
                        <a:rPr lang="en-US" dirty="0"/>
                        <a:t>Unique identifier for each employee</a:t>
                      </a:r>
                    </a:p>
                  </a:txBody>
                  <a:tcPr anchor="ctr"/>
                </a:tc>
                <a:extLst>
                  <a:ext uri="{0D108BD9-81ED-4DB2-BD59-A6C34878D82A}">
                    <a16:rowId xmlns:a16="http://schemas.microsoft.com/office/drawing/2014/main" val="3434800269"/>
                  </a:ext>
                </a:extLst>
              </a:tr>
              <a:tr h="527498">
                <a:tc>
                  <a:txBody>
                    <a:bodyPr/>
                    <a:lstStyle/>
                    <a:p>
                      <a:pPr algn="ctr" fontAlgn="base"/>
                      <a:r>
                        <a:rPr lang="en-IN" dirty="0">
                          <a:effectLst/>
                        </a:rPr>
                        <a:t>name</a:t>
                      </a:r>
                    </a:p>
                  </a:txBody>
                  <a:tcPr anchor="ctr"/>
                </a:tc>
                <a:tc>
                  <a:txBody>
                    <a:bodyPr/>
                    <a:lstStyle/>
                    <a:p>
                      <a:pPr algn="ctr" fontAlgn="base"/>
                      <a:r>
                        <a:rPr lang="en-IN" dirty="0">
                          <a:effectLst/>
                        </a:rPr>
                        <a:t>VARCHAR</a:t>
                      </a:r>
                    </a:p>
                  </a:txBody>
                  <a:tcPr anchor="ctr"/>
                </a:tc>
                <a:tc>
                  <a:txBody>
                    <a:bodyPr/>
                    <a:lstStyle/>
                    <a:p>
                      <a:pPr algn="ctr" fontAlgn="base"/>
                      <a:r>
                        <a:rPr lang="en-US" dirty="0">
                          <a:effectLst/>
                        </a:rPr>
                        <a:t>Full name of the employee</a:t>
                      </a:r>
                    </a:p>
                  </a:txBody>
                  <a:tcPr anchor="ctr"/>
                </a:tc>
                <a:extLst>
                  <a:ext uri="{0D108BD9-81ED-4DB2-BD59-A6C34878D82A}">
                    <a16:rowId xmlns:a16="http://schemas.microsoft.com/office/drawing/2014/main" val="1509260006"/>
                  </a:ext>
                </a:extLst>
              </a:tr>
              <a:tr h="527498">
                <a:tc>
                  <a:txBody>
                    <a:bodyPr/>
                    <a:lstStyle/>
                    <a:p>
                      <a:pPr algn="ctr"/>
                      <a:r>
                        <a:rPr lang="en-IN" dirty="0" err="1"/>
                        <a:t>department_id</a:t>
                      </a:r>
                      <a:endParaRPr lang="en-IN" dirty="0"/>
                    </a:p>
                  </a:txBody>
                  <a:tcPr anchor="ctr"/>
                </a:tc>
                <a:tc>
                  <a:txBody>
                    <a:bodyPr/>
                    <a:lstStyle/>
                    <a:p>
                      <a:pPr algn="ctr"/>
                      <a:r>
                        <a:rPr lang="en-IN"/>
                        <a:t>INT</a:t>
                      </a:r>
                    </a:p>
                  </a:txBody>
                  <a:tcPr anchor="ctr"/>
                </a:tc>
                <a:tc>
                  <a:txBody>
                    <a:bodyPr/>
                    <a:lstStyle/>
                    <a:p>
                      <a:pPr algn="ctr"/>
                      <a:r>
                        <a:rPr lang="en-US" dirty="0"/>
                        <a:t>Foreign key referencing Department table</a:t>
                      </a:r>
                    </a:p>
                  </a:txBody>
                  <a:tcPr anchor="ctr"/>
                </a:tc>
                <a:extLst>
                  <a:ext uri="{0D108BD9-81ED-4DB2-BD59-A6C34878D82A}">
                    <a16:rowId xmlns:a16="http://schemas.microsoft.com/office/drawing/2014/main" val="3227378344"/>
                  </a:ext>
                </a:extLst>
              </a:tr>
              <a:tr h="527498">
                <a:tc>
                  <a:txBody>
                    <a:bodyPr/>
                    <a:lstStyle/>
                    <a:p>
                      <a:pPr algn="ctr"/>
                      <a:r>
                        <a:rPr lang="en-IN" dirty="0" err="1"/>
                        <a:t>role_id</a:t>
                      </a:r>
                      <a:endParaRPr lang="en-IN" dirty="0"/>
                    </a:p>
                  </a:txBody>
                  <a:tcPr anchor="ctr"/>
                </a:tc>
                <a:tc>
                  <a:txBody>
                    <a:bodyPr/>
                    <a:lstStyle/>
                    <a:p>
                      <a:pPr algn="ctr"/>
                      <a:r>
                        <a:rPr lang="en-IN"/>
                        <a:t>INT</a:t>
                      </a:r>
                    </a:p>
                  </a:txBody>
                  <a:tcPr anchor="ctr"/>
                </a:tc>
                <a:tc>
                  <a:txBody>
                    <a:bodyPr/>
                    <a:lstStyle/>
                    <a:p>
                      <a:pPr algn="ctr"/>
                      <a:r>
                        <a:rPr lang="en-US" dirty="0"/>
                        <a:t>Foreign key referencing Role table</a:t>
                      </a:r>
                    </a:p>
                  </a:txBody>
                  <a:tcPr anchor="ctr"/>
                </a:tc>
                <a:extLst>
                  <a:ext uri="{0D108BD9-81ED-4DB2-BD59-A6C34878D82A}">
                    <a16:rowId xmlns:a16="http://schemas.microsoft.com/office/drawing/2014/main" val="705595570"/>
                  </a:ext>
                </a:extLst>
              </a:tr>
              <a:tr h="527498">
                <a:tc>
                  <a:txBody>
                    <a:bodyPr/>
                    <a:lstStyle/>
                    <a:p>
                      <a:pPr algn="ctr"/>
                      <a:r>
                        <a:rPr lang="en-IN" dirty="0" err="1"/>
                        <a:t>face_encoding</a:t>
                      </a:r>
                      <a:endParaRPr lang="en-IN" dirty="0"/>
                    </a:p>
                  </a:txBody>
                  <a:tcPr anchor="ctr"/>
                </a:tc>
                <a:tc>
                  <a:txBody>
                    <a:bodyPr/>
                    <a:lstStyle/>
                    <a:p>
                      <a:pPr algn="ctr"/>
                      <a:r>
                        <a:rPr lang="en-IN"/>
                        <a:t>BLOB</a:t>
                      </a:r>
                    </a:p>
                  </a:txBody>
                  <a:tcPr anchor="ctr"/>
                </a:tc>
                <a:tc>
                  <a:txBody>
                    <a:bodyPr/>
                    <a:lstStyle/>
                    <a:p>
                      <a:pPr algn="ctr"/>
                      <a:r>
                        <a:rPr lang="en-IN" dirty="0"/>
                        <a:t>Encoded face data</a:t>
                      </a:r>
                    </a:p>
                  </a:txBody>
                  <a:tcPr anchor="ctr"/>
                </a:tc>
                <a:extLst>
                  <a:ext uri="{0D108BD9-81ED-4DB2-BD59-A6C34878D82A}">
                    <a16:rowId xmlns:a16="http://schemas.microsoft.com/office/drawing/2014/main" val="1174096555"/>
                  </a:ext>
                </a:extLst>
              </a:tr>
              <a:tr h="527498">
                <a:tc>
                  <a:txBody>
                    <a:bodyPr/>
                    <a:lstStyle/>
                    <a:p>
                      <a:pPr algn="ctr"/>
                      <a:r>
                        <a:rPr lang="en-IN" dirty="0" err="1"/>
                        <a:t>contact_number</a:t>
                      </a:r>
                      <a:endParaRPr lang="en-IN" dirty="0"/>
                    </a:p>
                  </a:txBody>
                  <a:tcPr anchor="ctr"/>
                </a:tc>
                <a:tc>
                  <a:txBody>
                    <a:bodyPr/>
                    <a:lstStyle/>
                    <a:p>
                      <a:pPr algn="ctr"/>
                      <a:r>
                        <a:rPr lang="en-IN" dirty="0"/>
                        <a:t>VARCHAR</a:t>
                      </a:r>
                    </a:p>
                  </a:txBody>
                  <a:tcPr anchor="ctr"/>
                </a:tc>
                <a:tc>
                  <a:txBody>
                    <a:bodyPr/>
                    <a:lstStyle/>
                    <a:p>
                      <a:pPr algn="ctr"/>
                      <a:r>
                        <a:rPr lang="en-US" dirty="0"/>
                        <a:t>Contact number of the employee</a:t>
                      </a:r>
                    </a:p>
                  </a:txBody>
                  <a:tcPr anchor="ctr"/>
                </a:tc>
                <a:extLst>
                  <a:ext uri="{0D108BD9-81ED-4DB2-BD59-A6C34878D82A}">
                    <a16:rowId xmlns:a16="http://schemas.microsoft.com/office/drawing/2014/main" val="73038779"/>
                  </a:ext>
                </a:extLst>
              </a:tr>
              <a:tr h="527498">
                <a:tc>
                  <a:txBody>
                    <a:bodyPr/>
                    <a:lstStyle/>
                    <a:p>
                      <a:pPr algn="ctr"/>
                      <a:r>
                        <a:rPr lang="en-IN" dirty="0"/>
                        <a:t>email</a:t>
                      </a:r>
                    </a:p>
                  </a:txBody>
                  <a:tcPr anchor="ctr"/>
                </a:tc>
                <a:tc>
                  <a:txBody>
                    <a:bodyPr/>
                    <a:lstStyle/>
                    <a:p>
                      <a:pPr algn="ctr"/>
                      <a:r>
                        <a:rPr lang="en-IN" dirty="0" smtClean="0"/>
                        <a:t>VARCHAR</a:t>
                      </a:r>
                      <a:endParaRPr lang="en-IN" dirty="0"/>
                    </a:p>
                  </a:txBody>
                  <a:tcPr anchor="ctr"/>
                </a:tc>
                <a:tc>
                  <a:txBody>
                    <a:bodyPr/>
                    <a:lstStyle/>
                    <a:p>
                      <a:pPr algn="ctr"/>
                      <a:r>
                        <a:rPr lang="en-US" dirty="0" smtClean="0"/>
                        <a:t>Email address of the employee</a:t>
                      </a:r>
                      <a:endParaRPr lang="en-IN" dirty="0"/>
                    </a:p>
                  </a:txBody>
                  <a:tcPr anchor="ctr"/>
                </a:tc>
                <a:extLst>
                  <a:ext uri="{0D108BD9-81ED-4DB2-BD59-A6C34878D82A}">
                    <a16:rowId xmlns:a16="http://schemas.microsoft.com/office/drawing/2014/main" val="1702635831"/>
                  </a:ext>
                </a:extLst>
              </a:tr>
            </a:tbl>
          </a:graphicData>
        </a:graphic>
      </p:graphicFrame>
    </p:spTree>
    <p:extLst>
      <p:ext uri="{BB962C8B-B14F-4D97-AF65-F5344CB8AC3E}">
        <p14:creationId xmlns:p14="http://schemas.microsoft.com/office/powerpoint/2010/main" val="18717028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4686" y="292231"/>
            <a:ext cx="10353762" cy="6042581"/>
          </a:xfrm>
        </p:spPr>
        <p:txBody>
          <a:bodyPr/>
          <a:lstStyle/>
          <a:p>
            <a:pPr marL="0" indent="0">
              <a:buNone/>
            </a:pPr>
            <a:r>
              <a:rPr lang="en-IN" dirty="0" smtClean="0"/>
              <a:t>2. Department Table</a:t>
            </a:r>
          </a:p>
          <a:p>
            <a:pPr marL="0" indent="0">
              <a:buNone/>
            </a:pPr>
            <a:endParaRPr lang="en-US" dirty="0"/>
          </a:p>
          <a:p>
            <a:pPr marL="0" indent="0">
              <a:buNone/>
            </a:pPr>
            <a:endParaRPr lang="en-IN" dirty="0"/>
          </a:p>
        </p:txBody>
      </p:sp>
      <p:graphicFrame>
        <p:nvGraphicFramePr>
          <p:cNvPr id="7" name="Table 6"/>
          <p:cNvGraphicFramePr>
            <a:graphicFrameLocks noGrp="1"/>
          </p:cNvGraphicFramePr>
          <p:nvPr>
            <p:extLst>
              <p:ext uri="{D42A27DB-BD31-4B8C-83A1-F6EECF244321}">
                <p14:modId xmlns:p14="http://schemas.microsoft.com/office/powerpoint/2010/main" val="494293637"/>
              </p:ext>
            </p:extLst>
          </p:nvPr>
        </p:nvGraphicFramePr>
        <p:xfrm>
          <a:off x="1668545" y="1530371"/>
          <a:ext cx="8993169" cy="1948926"/>
        </p:xfrm>
        <a:graphic>
          <a:graphicData uri="http://schemas.openxmlformats.org/drawingml/2006/table">
            <a:tbl>
              <a:tblPr firstRow="1" bandRow="1">
                <a:tableStyleId>{C083E6E3-FA7D-4D7B-A595-EF9225AFEA82}</a:tableStyleId>
              </a:tblPr>
              <a:tblGrid>
                <a:gridCol w="2997723">
                  <a:extLst>
                    <a:ext uri="{9D8B030D-6E8A-4147-A177-3AD203B41FA5}">
                      <a16:colId xmlns:a16="http://schemas.microsoft.com/office/drawing/2014/main" val="2591307956"/>
                    </a:ext>
                  </a:extLst>
                </a:gridCol>
                <a:gridCol w="2997723">
                  <a:extLst>
                    <a:ext uri="{9D8B030D-6E8A-4147-A177-3AD203B41FA5}">
                      <a16:colId xmlns:a16="http://schemas.microsoft.com/office/drawing/2014/main" val="823059815"/>
                    </a:ext>
                  </a:extLst>
                </a:gridCol>
                <a:gridCol w="2997723">
                  <a:extLst>
                    <a:ext uri="{9D8B030D-6E8A-4147-A177-3AD203B41FA5}">
                      <a16:colId xmlns:a16="http://schemas.microsoft.com/office/drawing/2014/main" val="2352117679"/>
                    </a:ext>
                  </a:extLst>
                </a:gridCol>
              </a:tblGrid>
              <a:tr h="649642">
                <a:tc>
                  <a:txBody>
                    <a:bodyPr/>
                    <a:lstStyle/>
                    <a:p>
                      <a:pPr algn="ctr"/>
                      <a:r>
                        <a:rPr lang="en-IN" dirty="0"/>
                        <a:t>Attribute</a:t>
                      </a:r>
                    </a:p>
                  </a:txBody>
                  <a:tcPr anchor="ctr"/>
                </a:tc>
                <a:tc>
                  <a:txBody>
                    <a:bodyPr/>
                    <a:lstStyle/>
                    <a:p>
                      <a:pPr algn="ctr"/>
                      <a:r>
                        <a:rPr lang="en-IN" dirty="0"/>
                        <a:t>Data Type</a:t>
                      </a:r>
                    </a:p>
                  </a:txBody>
                  <a:tcPr anchor="ctr"/>
                </a:tc>
                <a:tc>
                  <a:txBody>
                    <a:bodyPr/>
                    <a:lstStyle/>
                    <a:p>
                      <a:pPr algn="ctr"/>
                      <a:r>
                        <a:rPr lang="en-IN" dirty="0"/>
                        <a:t>Description</a:t>
                      </a:r>
                    </a:p>
                  </a:txBody>
                  <a:tcPr anchor="ctr"/>
                </a:tc>
                <a:extLst>
                  <a:ext uri="{0D108BD9-81ED-4DB2-BD59-A6C34878D82A}">
                    <a16:rowId xmlns:a16="http://schemas.microsoft.com/office/drawing/2014/main" val="1725028266"/>
                  </a:ext>
                </a:extLst>
              </a:tr>
              <a:tr h="649642">
                <a:tc>
                  <a:txBody>
                    <a:bodyPr/>
                    <a:lstStyle/>
                    <a:p>
                      <a:pPr algn="ctr"/>
                      <a:r>
                        <a:rPr lang="en-IN" dirty="0" err="1"/>
                        <a:t>department_id</a:t>
                      </a:r>
                      <a:endParaRPr lang="en-IN" dirty="0"/>
                    </a:p>
                  </a:txBody>
                  <a:tcPr anchor="ctr"/>
                </a:tc>
                <a:tc>
                  <a:txBody>
                    <a:bodyPr/>
                    <a:lstStyle/>
                    <a:p>
                      <a:pPr algn="ctr"/>
                      <a:r>
                        <a:rPr lang="en-IN"/>
                        <a:t>INT</a:t>
                      </a:r>
                    </a:p>
                  </a:txBody>
                  <a:tcPr anchor="ctr"/>
                </a:tc>
                <a:tc>
                  <a:txBody>
                    <a:bodyPr/>
                    <a:lstStyle/>
                    <a:p>
                      <a:pPr algn="ctr"/>
                      <a:r>
                        <a:rPr lang="en-US" dirty="0"/>
                        <a:t>Unique identifier for each department</a:t>
                      </a:r>
                    </a:p>
                  </a:txBody>
                  <a:tcPr anchor="ctr"/>
                </a:tc>
                <a:extLst>
                  <a:ext uri="{0D108BD9-81ED-4DB2-BD59-A6C34878D82A}">
                    <a16:rowId xmlns:a16="http://schemas.microsoft.com/office/drawing/2014/main" val="4120846914"/>
                  </a:ext>
                </a:extLst>
              </a:tr>
              <a:tr h="649642">
                <a:tc>
                  <a:txBody>
                    <a:bodyPr/>
                    <a:lstStyle/>
                    <a:p>
                      <a:pPr algn="ctr"/>
                      <a:r>
                        <a:rPr lang="en-IN" dirty="0" err="1"/>
                        <a:t>department_name</a:t>
                      </a:r>
                      <a:endParaRPr lang="en-IN" dirty="0"/>
                    </a:p>
                  </a:txBody>
                  <a:tcPr anchor="ctr"/>
                </a:tc>
                <a:tc>
                  <a:txBody>
                    <a:bodyPr/>
                    <a:lstStyle/>
                    <a:p>
                      <a:pPr algn="ctr"/>
                      <a:r>
                        <a:rPr lang="en-IN" dirty="0" smtClean="0"/>
                        <a:t>VARCHAR</a:t>
                      </a:r>
                      <a:endParaRPr lang="en-IN" dirty="0"/>
                    </a:p>
                  </a:txBody>
                  <a:tcPr/>
                </a:tc>
                <a:tc>
                  <a:txBody>
                    <a:bodyPr/>
                    <a:lstStyle/>
                    <a:p>
                      <a:pPr algn="ctr"/>
                      <a:r>
                        <a:rPr lang="en-IN" dirty="0" smtClean="0"/>
                        <a:t>Name of the department</a:t>
                      </a:r>
                      <a:endParaRPr lang="en-IN" dirty="0"/>
                    </a:p>
                  </a:txBody>
                  <a:tcPr/>
                </a:tc>
                <a:extLst>
                  <a:ext uri="{0D108BD9-81ED-4DB2-BD59-A6C34878D82A}">
                    <a16:rowId xmlns:a16="http://schemas.microsoft.com/office/drawing/2014/main" val="834882462"/>
                  </a:ext>
                </a:extLst>
              </a:tr>
            </a:tbl>
          </a:graphicData>
        </a:graphic>
      </p:graphicFrame>
    </p:spTree>
    <p:extLst>
      <p:ext uri="{BB962C8B-B14F-4D97-AF65-F5344CB8AC3E}">
        <p14:creationId xmlns:p14="http://schemas.microsoft.com/office/powerpoint/2010/main" val="14646760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490193"/>
            <a:ext cx="10353762" cy="5599521"/>
          </a:xfrm>
        </p:spPr>
        <p:txBody>
          <a:bodyPr/>
          <a:lstStyle/>
          <a:p>
            <a:pPr marL="0" indent="0">
              <a:buNone/>
            </a:pPr>
            <a:r>
              <a:rPr lang="en-US" dirty="0" smtClean="0"/>
              <a:t>3. </a:t>
            </a:r>
            <a:r>
              <a:rPr lang="en-IN" dirty="0"/>
              <a:t>Attendance </a:t>
            </a:r>
            <a:r>
              <a:rPr lang="en-IN" dirty="0" smtClean="0"/>
              <a:t>Table</a:t>
            </a:r>
          </a:p>
          <a:p>
            <a:pPr marL="0" indent="0">
              <a:buNone/>
            </a:pPr>
            <a:endParaRPr lang="en-IN" dirty="0"/>
          </a:p>
        </p:txBody>
      </p:sp>
      <p:graphicFrame>
        <p:nvGraphicFramePr>
          <p:cNvPr id="11" name="Table 10"/>
          <p:cNvGraphicFramePr>
            <a:graphicFrameLocks noGrp="1"/>
          </p:cNvGraphicFramePr>
          <p:nvPr>
            <p:extLst>
              <p:ext uri="{D42A27DB-BD31-4B8C-83A1-F6EECF244321}">
                <p14:modId xmlns:p14="http://schemas.microsoft.com/office/powerpoint/2010/main" val="2643988517"/>
              </p:ext>
            </p:extLst>
          </p:nvPr>
        </p:nvGraphicFramePr>
        <p:xfrm>
          <a:off x="1890598" y="1238136"/>
          <a:ext cx="8592009" cy="4540494"/>
        </p:xfrm>
        <a:graphic>
          <a:graphicData uri="http://schemas.openxmlformats.org/drawingml/2006/table">
            <a:tbl>
              <a:tblPr firstRow="1" bandRow="1">
                <a:tableStyleId>{C083E6E3-FA7D-4D7B-A595-EF9225AFEA82}</a:tableStyleId>
              </a:tblPr>
              <a:tblGrid>
                <a:gridCol w="2864003">
                  <a:extLst>
                    <a:ext uri="{9D8B030D-6E8A-4147-A177-3AD203B41FA5}">
                      <a16:colId xmlns:a16="http://schemas.microsoft.com/office/drawing/2014/main" val="2059229758"/>
                    </a:ext>
                  </a:extLst>
                </a:gridCol>
                <a:gridCol w="2864003">
                  <a:extLst>
                    <a:ext uri="{9D8B030D-6E8A-4147-A177-3AD203B41FA5}">
                      <a16:colId xmlns:a16="http://schemas.microsoft.com/office/drawing/2014/main" val="3931362201"/>
                    </a:ext>
                  </a:extLst>
                </a:gridCol>
                <a:gridCol w="2864003">
                  <a:extLst>
                    <a:ext uri="{9D8B030D-6E8A-4147-A177-3AD203B41FA5}">
                      <a16:colId xmlns:a16="http://schemas.microsoft.com/office/drawing/2014/main" val="2423624094"/>
                    </a:ext>
                  </a:extLst>
                </a:gridCol>
              </a:tblGrid>
              <a:tr h="648642">
                <a:tc>
                  <a:txBody>
                    <a:bodyPr/>
                    <a:lstStyle/>
                    <a:p>
                      <a:pPr algn="ctr"/>
                      <a:r>
                        <a:rPr lang="en-IN" dirty="0"/>
                        <a:t>Attribute</a:t>
                      </a:r>
                    </a:p>
                  </a:txBody>
                  <a:tcPr anchor="ctr"/>
                </a:tc>
                <a:tc>
                  <a:txBody>
                    <a:bodyPr/>
                    <a:lstStyle/>
                    <a:p>
                      <a:pPr algn="ctr"/>
                      <a:r>
                        <a:rPr lang="en-IN" dirty="0"/>
                        <a:t>Data Type</a:t>
                      </a:r>
                    </a:p>
                  </a:txBody>
                  <a:tcPr anchor="ctr"/>
                </a:tc>
                <a:tc>
                  <a:txBody>
                    <a:bodyPr/>
                    <a:lstStyle/>
                    <a:p>
                      <a:pPr algn="ctr"/>
                      <a:r>
                        <a:rPr lang="en-IN" dirty="0"/>
                        <a:t>Description</a:t>
                      </a:r>
                    </a:p>
                  </a:txBody>
                  <a:tcPr anchor="ctr"/>
                </a:tc>
                <a:extLst>
                  <a:ext uri="{0D108BD9-81ED-4DB2-BD59-A6C34878D82A}">
                    <a16:rowId xmlns:a16="http://schemas.microsoft.com/office/drawing/2014/main" val="3313692648"/>
                  </a:ext>
                </a:extLst>
              </a:tr>
              <a:tr h="648642">
                <a:tc>
                  <a:txBody>
                    <a:bodyPr/>
                    <a:lstStyle/>
                    <a:p>
                      <a:pPr algn="ctr"/>
                      <a:r>
                        <a:rPr lang="en-IN" dirty="0" err="1"/>
                        <a:t>attendance_id</a:t>
                      </a:r>
                      <a:endParaRPr lang="en-IN" dirty="0"/>
                    </a:p>
                  </a:txBody>
                  <a:tcPr anchor="ctr"/>
                </a:tc>
                <a:tc>
                  <a:txBody>
                    <a:bodyPr/>
                    <a:lstStyle/>
                    <a:p>
                      <a:pPr algn="ctr"/>
                      <a:r>
                        <a:rPr lang="en-IN" dirty="0"/>
                        <a:t>INT</a:t>
                      </a:r>
                    </a:p>
                  </a:txBody>
                  <a:tcPr anchor="ctr"/>
                </a:tc>
                <a:tc>
                  <a:txBody>
                    <a:bodyPr/>
                    <a:lstStyle/>
                    <a:p>
                      <a:pPr algn="ctr"/>
                      <a:r>
                        <a:rPr lang="en-IN" dirty="0"/>
                        <a:t>Unique identifier for each attendance record</a:t>
                      </a:r>
                    </a:p>
                  </a:txBody>
                  <a:tcPr anchor="ctr"/>
                </a:tc>
                <a:extLst>
                  <a:ext uri="{0D108BD9-81ED-4DB2-BD59-A6C34878D82A}">
                    <a16:rowId xmlns:a16="http://schemas.microsoft.com/office/drawing/2014/main" val="657852994"/>
                  </a:ext>
                </a:extLst>
              </a:tr>
              <a:tr h="648642">
                <a:tc>
                  <a:txBody>
                    <a:bodyPr/>
                    <a:lstStyle/>
                    <a:p>
                      <a:pPr algn="ctr"/>
                      <a:r>
                        <a:rPr lang="en-IN" dirty="0" err="1"/>
                        <a:t>employee_id</a:t>
                      </a:r>
                      <a:endParaRPr lang="en-IN" dirty="0"/>
                    </a:p>
                  </a:txBody>
                  <a:tcPr anchor="ctr"/>
                </a:tc>
                <a:tc>
                  <a:txBody>
                    <a:bodyPr/>
                    <a:lstStyle/>
                    <a:p>
                      <a:pPr algn="ctr"/>
                      <a:r>
                        <a:rPr lang="en-IN" dirty="0"/>
                        <a:t>INT</a:t>
                      </a:r>
                    </a:p>
                  </a:txBody>
                  <a:tcPr anchor="ctr"/>
                </a:tc>
                <a:tc>
                  <a:txBody>
                    <a:bodyPr/>
                    <a:lstStyle/>
                    <a:p>
                      <a:pPr algn="ctr"/>
                      <a:r>
                        <a:rPr lang="en-US" dirty="0"/>
                        <a:t>Foreign key referencing Employee table</a:t>
                      </a:r>
                    </a:p>
                  </a:txBody>
                  <a:tcPr anchor="ctr"/>
                </a:tc>
                <a:extLst>
                  <a:ext uri="{0D108BD9-81ED-4DB2-BD59-A6C34878D82A}">
                    <a16:rowId xmlns:a16="http://schemas.microsoft.com/office/drawing/2014/main" val="1618856405"/>
                  </a:ext>
                </a:extLst>
              </a:tr>
              <a:tr h="648642">
                <a:tc>
                  <a:txBody>
                    <a:bodyPr/>
                    <a:lstStyle/>
                    <a:p>
                      <a:pPr algn="ctr"/>
                      <a:r>
                        <a:rPr lang="en-IN" dirty="0"/>
                        <a:t>date</a:t>
                      </a:r>
                    </a:p>
                  </a:txBody>
                  <a:tcPr anchor="ctr"/>
                </a:tc>
                <a:tc>
                  <a:txBody>
                    <a:bodyPr/>
                    <a:lstStyle/>
                    <a:p>
                      <a:pPr algn="ctr"/>
                      <a:r>
                        <a:rPr lang="en-IN" dirty="0"/>
                        <a:t>DATE</a:t>
                      </a:r>
                    </a:p>
                  </a:txBody>
                  <a:tcPr anchor="ctr"/>
                </a:tc>
                <a:tc>
                  <a:txBody>
                    <a:bodyPr/>
                    <a:lstStyle/>
                    <a:p>
                      <a:pPr algn="ctr"/>
                      <a:r>
                        <a:rPr lang="en-IN" dirty="0"/>
                        <a:t>Date of attendance</a:t>
                      </a:r>
                    </a:p>
                  </a:txBody>
                  <a:tcPr anchor="ctr"/>
                </a:tc>
                <a:extLst>
                  <a:ext uri="{0D108BD9-81ED-4DB2-BD59-A6C34878D82A}">
                    <a16:rowId xmlns:a16="http://schemas.microsoft.com/office/drawing/2014/main" val="46082680"/>
                  </a:ext>
                </a:extLst>
              </a:tr>
              <a:tr h="648642">
                <a:tc>
                  <a:txBody>
                    <a:bodyPr/>
                    <a:lstStyle/>
                    <a:p>
                      <a:pPr algn="ctr"/>
                      <a:r>
                        <a:rPr lang="en-IN" dirty="0" err="1"/>
                        <a:t>time_in</a:t>
                      </a:r>
                      <a:endParaRPr lang="en-IN" dirty="0"/>
                    </a:p>
                  </a:txBody>
                  <a:tcPr anchor="ctr"/>
                </a:tc>
                <a:tc>
                  <a:txBody>
                    <a:bodyPr/>
                    <a:lstStyle/>
                    <a:p>
                      <a:pPr algn="ctr"/>
                      <a:r>
                        <a:rPr lang="en-IN" dirty="0"/>
                        <a:t>TIME</a:t>
                      </a:r>
                    </a:p>
                  </a:txBody>
                  <a:tcPr anchor="ctr"/>
                </a:tc>
                <a:tc>
                  <a:txBody>
                    <a:bodyPr/>
                    <a:lstStyle/>
                    <a:p>
                      <a:pPr algn="ctr"/>
                      <a:r>
                        <a:rPr lang="en-US" dirty="0"/>
                        <a:t>Time when the employee checked in</a:t>
                      </a:r>
                    </a:p>
                  </a:txBody>
                  <a:tcPr anchor="ctr"/>
                </a:tc>
                <a:extLst>
                  <a:ext uri="{0D108BD9-81ED-4DB2-BD59-A6C34878D82A}">
                    <a16:rowId xmlns:a16="http://schemas.microsoft.com/office/drawing/2014/main" val="1818397963"/>
                  </a:ext>
                </a:extLst>
              </a:tr>
              <a:tr h="648642">
                <a:tc>
                  <a:txBody>
                    <a:bodyPr/>
                    <a:lstStyle/>
                    <a:p>
                      <a:pPr algn="ctr"/>
                      <a:r>
                        <a:rPr lang="en-IN" dirty="0" err="1"/>
                        <a:t>time_out</a:t>
                      </a:r>
                      <a:endParaRPr lang="en-IN" dirty="0"/>
                    </a:p>
                  </a:txBody>
                  <a:tcPr anchor="ctr"/>
                </a:tc>
                <a:tc>
                  <a:txBody>
                    <a:bodyPr/>
                    <a:lstStyle/>
                    <a:p>
                      <a:pPr algn="ctr"/>
                      <a:r>
                        <a:rPr lang="en-IN" dirty="0"/>
                        <a:t>TIME</a:t>
                      </a:r>
                    </a:p>
                  </a:txBody>
                  <a:tcPr anchor="ctr"/>
                </a:tc>
                <a:tc>
                  <a:txBody>
                    <a:bodyPr/>
                    <a:lstStyle/>
                    <a:p>
                      <a:pPr algn="ctr"/>
                      <a:r>
                        <a:rPr lang="en-US" dirty="0"/>
                        <a:t>Time when the employee checked out</a:t>
                      </a:r>
                    </a:p>
                  </a:txBody>
                  <a:tcPr anchor="ctr"/>
                </a:tc>
                <a:extLst>
                  <a:ext uri="{0D108BD9-81ED-4DB2-BD59-A6C34878D82A}">
                    <a16:rowId xmlns:a16="http://schemas.microsoft.com/office/drawing/2014/main" val="1700242720"/>
                  </a:ext>
                </a:extLst>
              </a:tr>
              <a:tr h="648642">
                <a:tc>
                  <a:txBody>
                    <a:bodyPr/>
                    <a:lstStyle/>
                    <a:p>
                      <a:pPr algn="ctr"/>
                      <a:r>
                        <a:rPr lang="en-IN" dirty="0" smtClean="0"/>
                        <a:t>status</a:t>
                      </a:r>
                      <a:endParaRPr lang="en-IN" dirty="0"/>
                    </a:p>
                  </a:txBody>
                  <a:tcPr anchor="ctr"/>
                </a:tc>
                <a:tc>
                  <a:txBody>
                    <a:bodyPr/>
                    <a:lstStyle/>
                    <a:p>
                      <a:pPr algn="ctr"/>
                      <a:r>
                        <a:rPr lang="en-IN" dirty="0" smtClean="0"/>
                        <a:t>VARCHAR</a:t>
                      </a:r>
                      <a:endParaRPr lang="en-IN" dirty="0"/>
                    </a:p>
                  </a:txBody>
                  <a:tcPr anchor="ctr"/>
                </a:tc>
                <a:tc>
                  <a:txBody>
                    <a:bodyPr/>
                    <a:lstStyle/>
                    <a:p>
                      <a:pPr algn="ctr"/>
                      <a:r>
                        <a:rPr lang="fr-FR" dirty="0" err="1" smtClean="0"/>
                        <a:t>Attendance</a:t>
                      </a:r>
                      <a:r>
                        <a:rPr lang="fr-FR" dirty="0" smtClean="0"/>
                        <a:t> </a:t>
                      </a:r>
                      <a:r>
                        <a:rPr lang="fr-FR" dirty="0" err="1" smtClean="0"/>
                        <a:t>status</a:t>
                      </a:r>
                      <a:r>
                        <a:rPr lang="fr-FR" dirty="0" smtClean="0"/>
                        <a:t> (</a:t>
                      </a:r>
                      <a:r>
                        <a:rPr lang="fr-FR" dirty="0" err="1" smtClean="0"/>
                        <a:t>Present</a:t>
                      </a:r>
                      <a:r>
                        <a:rPr lang="fr-FR" dirty="0" smtClean="0"/>
                        <a:t>, Absent, etc.)</a:t>
                      </a:r>
                      <a:endParaRPr lang="en-IN" dirty="0"/>
                    </a:p>
                  </a:txBody>
                  <a:tcPr anchor="ctr"/>
                </a:tc>
                <a:extLst>
                  <a:ext uri="{0D108BD9-81ED-4DB2-BD59-A6C34878D82A}">
                    <a16:rowId xmlns:a16="http://schemas.microsoft.com/office/drawing/2014/main" val="1567700131"/>
                  </a:ext>
                </a:extLst>
              </a:tr>
            </a:tbl>
          </a:graphicData>
        </a:graphic>
      </p:graphicFrame>
    </p:spTree>
    <p:extLst>
      <p:ext uri="{BB962C8B-B14F-4D97-AF65-F5344CB8AC3E}">
        <p14:creationId xmlns:p14="http://schemas.microsoft.com/office/powerpoint/2010/main" val="3512148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509047"/>
            <a:ext cx="10353762" cy="5788058"/>
          </a:xfrm>
        </p:spPr>
        <p:txBody>
          <a:bodyPr/>
          <a:lstStyle/>
          <a:p>
            <a:pPr marL="0" indent="0">
              <a:buNone/>
            </a:pPr>
            <a:r>
              <a:rPr lang="en-US" dirty="0" smtClean="0"/>
              <a:t>4. </a:t>
            </a:r>
            <a:r>
              <a:rPr lang="en-IN" dirty="0"/>
              <a:t>Attendance Report </a:t>
            </a:r>
            <a:r>
              <a:rPr lang="en-IN" dirty="0" smtClean="0"/>
              <a:t>Table</a:t>
            </a:r>
          </a:p>
          <a:p>
            <a:pPr marL="0" indent="0">
              <a:buNone/>
            </a:pP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567584004"/>
              </p:ext>
            </p:extLst>
          </p:nvPr>
        </p:nvGraphicFramePr>
        <p:xfrm>
          <a:off x="2026676" y="1442301"/>
          <a:ext cx="8127999" cy="3728301"/>
        </p:xfrm>
        <a:graphic>
          <a:graphicData uri="http://schemas.openxmlformats.org/drawingml/2006/table">
            <a:tbl>
              <a:tblPr firstRow="1" bandRow="1">
                <a:tableStyleId>{C083E6E3-FA7D-4D7B-A595-EF9225AFEA82}</a:tableStyleId>
              </a:tblPr>
              <a:tblGrid>
                <a:gridCol w="2709333">
                  <a:extLst>
                    <a:ext uri="{9D8B030D-6E8A-4147-A177-3AD203B41FA5}">
                      <a16:colId xmlns:a16="http://schemas.microsoft.com/office/drawing/2014/main" val="1944356880"/>
                    </a:ext>
                  </a:extLst>
                </a:gridCol>
                <a:gridCol w="2709333">
                  <a:extLst>
                    <a:ext uri="{9D8B030D-6E8A-4147-A177-3AD203B41FA5}">
                      <a16:colId xmlns:a16="http://schemas.microsoft.com/office/drawing/2014/main" val="2599176834"/>
                    </a:ext>
                  </a:extLst>
                </a:gridCol>
                <a:gridCol w="2709333">
                  <a:extLst>
                    <a:ext uri="{9D8B030D-6E8A-4147-A177-3AD203B41FA5}">
                      <a16:colId xmlns:a16="http://schemas.microsoft.com/office/drawing/2014/main" val="1469056104"/>
                    </a:ext>
                  </a:extLst>
                </a:gridCol>
              </a:tblGrid>
              <a:tr h="527901">
                <a:tc>
                  <a:txBody>
                    <a:bodyPr/>
                    <a:lstStyle/>
                    <a:p>
                      <a:pPr algn="ctr"/>
                      <a:r>
                        <a:rPr lang="en-IN" dirty="0"/>
                        <a:t>Attribute</a:t>
                      </a:r>
                    </a:p>
                  </a:txBody>
                  <a:tcPr anchor="ctr"/>
                </a:tc>
                <a:tc>
                  <a:txBody>
                    <a:bodyPr/>
                    <a:lstStyle/>
                    <a:p>
                      <a:pPr algn="ctr"/>
                      <a:r>
                        <a:rPr lang="en-IN"/>
                        <a:t>Data Type</a:t>
                      </a:r>
                    </a:p>
                  </a:txBody>
                  <a:tcPr anchor="ctr"/>
                </a:tc>
                <a:tc>
                  <a:txBody>
                    <a:bodyPr/>
                    <a:lstStyle/>
                    <a:p>
                      <a:pPr algn="ctr"/>
                      <a:r>
                        <a:rPr lang="en-IN" dirty="0"/>
                        <a:t>Description</a:t>
                      </a:r>
                    </a:p>
                  </a:txBody>
                  <a:tcPr anchor="ctr"/>
                </a:tc>
                <a:extLst>
                  <a:ext uri="{0D108BD9-81ED-4DB2-BD59-A6C34878D82A}">
                    <a16:rowId xmlns:a16="http://schemas.microsoft.com/office/drawing/2014/main" val="2156306108"/>
                  </a:ext>
                </a:extLst>
              </a:tr>
              <a:tr h="527901">
                <a:tc>
                  <a:txBody>
                    <a:bodyPr/>
                    <a:lstStyle/>
                    <a:p>
                      <a:pPr algn="ctr"/>
                      <a:r>
                        <a:rPr lang="en-IN" dirty="0" err="1"/>
                        <a:t>report_id</a:t>
                      </a:r>
                      <a:endParaRPr lang="en-IN" dirty="0"/>
                    </a:p>
                  </a:txBody>
                  <a:tcPr anchor="ctr"/>
                </a:tc>
                <a:tc>
                  <a:txBody>
                    <a:bodyPr/>
                    <a:lstStyle/>
                    <a:p>
                      <a:pPr algn="ctr"/>
                      <a:r>
                        <a:rPr lang="en-IN" dirty="0"/>
                        <a:t>INT</a:t>
                      </a:r>
                    </a:p>
                  </a:txBody>
                  <a:tcPr anchor="ctr"/>
                </a:tc>
                <a:tc>
                  <a:txBody>
                    <a:bodyPr/>
                    <a:lstStyle/>
                    <a:p>
                      <a:pPr algn="ctr"/>
                      <a:r>
                        <a:rPr lang="en-US" dirty="0"/>
                        <a:t>Unique identifier for each report</a:t>
                      </a:r>
                    </a:p>
                  </a:txBody>
                  <a:tcPr anchor="ctr"/>
                </a:tc>
                <a:extLst>
                  <a:ext uri="{0D108BD9-81ED-4DB2-BD59-A6C34878D82A}">
                    <a16:rowId xmlns:a16="http://schemas.microsoft.com/office/drawing/2014/main" val="860166389"/>
                  </a:ext>
                </a:extLst>
              </a:tr>
              <a:tr h="527901">
                <a:tc>
                  <a:txBody>
                    <a:bodyPr/>
                    <a:lstStyle/>
                    <a:p>
                      <a:pPr algn="ctr"/>
                      <a:r>
                        <a:rPr lang="en-IN" dirty="0" err="1"/>
                        <a:t>report_date</a:t>
                      </a:r>
                      <a:endParaRPr lang="en-IN" dirty="0"/>
                    </a:p>
                  </a:txBody>
                  <a:tcPr anchor="ctr"/>
                </a:tc>
                <a:tc>
                  <a:txBody>
                    <a:bodyPr/>
                    <a:lstStyle/>
                    <a:p>
                      <a:pPr algn="ctr"/>
                      <a:r>
                        <a:rPr lang="en-IN" dirty="0"/>
                        <a:t>DATE</a:t>
                      </a:r>
                    </a:p>
                  </a:txBody>
                  <a:tcPr anchor="ctr"/>
                </a:tc>
                <a:tc>
                  <a:txBody>
                    <a:bodyPr/>
                    <a:lstStyle/>
                    <a:p>
                      <a:pPr algn="ctr"/>
                      <a:r>
                        <a:rPr lang="en-US" dirty="0"/>
                        <a:t>Date when the report was generated</a:t>
                      </a:r>
                    </a:p>
                  </a:txBody>
                  <a:tcPr anchor="ctr"/>
                </a:tc>
                <a:extLst>
                  <a:ext uri="{0D108BD9-81ED-4DB2-BD59-A6C34878D82A}">
                    <a16:rowId xmlns:a16="http://schemas.microsoft.com/office/drawing/2014/main" val="1344629842"/>
                  </a:ext>
                </a:extLst>
              </a:tr>
              <a:tr h="527901">
                <a:tc>
                  <a:txBody>
                    <a:bodyPr/>
                    <a:lstStyle/>
                    <a:p>
                      <a:pPr algn="ctr"/>
                      <a:r>
                        <a:rPr lang="en-IN" dirty="0" err="1"/>
                        <a:t>total_present</a:t>
                      </a:r>
                      <a:endParaRPr lang="en-IN" dirty="0"/>
                    </a:p>
                  </a:txBody>
                  <a:tcPr anchor="ctr"/>
                </a:tc>
                <a:tc>
                  <a:txBody>
                    <a:bodyPr/>
                    <a:lstStyle/>
                    <a:p>
                      <a:pPr algn="ctr"/>
                      <a:r>
                        <a:rPr lang="en-IN" dirty="0"/>
                        <a:t>INT</a:t>
                      </a:r>
                    </a:p>
                  </a:txBody>
                  <a:tcPr anchor="ctr"/>
                </a:tc>
                <a:tc>
                  <a:txBody>
                    <a:bodyPr/>
                    <a:lstStyle/>
                    <a:p>
                      <a:pPr algn="ctr"/>
                      <a:r>
                        <a:rPr lang="en-US" dirty="0"/>
                        <a:t>Total number of employees present</a:t>
                      </a:r>
                    </a:p>
                  </a:txBody>
                  <a:tcPr anchor="ctr"/>
                </a:tc>
                <a:extLst>
                  <a:ext uri="{0D108BD9-81ED-4DB2-BD59-A6C34878D82A}">
                    <a16:rowId xmlns:a16="http://schemas.microsoft.com/office/drawing/2014/main" val="306139853"/>
                  </a:ext>
                </a:extLst>
              </a:tr>
              <a:tr h="527901">
                <a:tc>
                  <a:txBody>
                    <a:bodyPr/>
                    <a:lstStyle/>
                    <a:p>
                      <a:pPr algn="ctr"/>
                      <a:r>
                        <a:rPr lang="en-IN" dirty="0" err="1"/>
                        <a:t>total_absent</a:t>
                      </a:r>
                      <a:endParaRPr lang="en-IN" dirty="0"/>
                    </a:p>
                  </a:txBody>
                  <a:tcPr anchor="ctr"/>
                </a:tc>
                <a:tc>
                  <a:txBody>
                    <a:bodyPr/>
                    <a:lstStyle/>
                    <a:p>
                      <a:pPr algn="ctr"/>
                      <a:r>
                        <a:rPr lang="en-IN"/>
                        <a:t>INT</a:t>
                      </a:r>
                    </a:p>
                  </a:txBody>
                  <a:tcPr anchor="ctr"/>
                </a:tc>
                <a:tc>
                  <a:txBody>
                    <a:bodyPr/>
                    <a:lstStyle/>
                    <a:p>
                      <a:pPr algn="ctr"/>
                      <a:r>
                        <a:rPr lang="en-US" dirty="0"/>
                        <a:t>Total number of employees absent</a:t>
                      </a:r>
                    </a:p>
                  </a:txBody>
                  <a:tcPr anchor="ctr"/>
                </a:tc>
                <a:extLst>
                  <a:ext uri="{0D108BD9-81ED-4DB2-BD59-A6C34878D82A}">
                    <a16:rowId xmlns:a16="http://schemas.microsoft.com/office/drawing/2014/main" val="889701045"/>
                  </a:ext>
                </a:extLst>
              </a:tr>
              <a:tr h="527901">
                <a:tc>
                  <a:txBody>
                    <a:bodyPr/>
                    <a:lstStyle/>
                    <a:p>
                      <a:pPr algn="ctr"/>
                      <a:r>
                        <a:rPr lang="en-IN" dirty="0" smtClean="0"/>
                        <a:t>remarks</a:t>
                      </a:r>
                      <a:endParaRPr lang="en-IN" dirty="0"/>
                    </a:p>
                  </a:txBody>
                  <a:tcPr anchor="ctr"/>
                </a:tc>
                <a:tc>
                  <a:txBody>
                    <a:bodyPr/>
                    <a:lstStyle/>
                    <a:p>
                      <a:pPr algn="ctr"/>
                      <a:r>
                        <a:rPr lang="en-IN" dirty="0" smtClean="0"/>
                        <a:t>TEXT</a:t>
                      </a:r>
                      <a:endParaRPr lang="en-IN" dirty="0"/>
                    </a:p>
                  </a:txBody>
                  <a:tcPr anchor="ctr"/>
                </a:tc>
                <a:tc>
                  <a:txBody>
                    <a:bodyPr/>
                    <a:lstStyle/>
                    <a:p>
                      <a:pPr algn="ctr"/>
                      <a:r>
                        <a:rPr lang="en-IN" dirty="0" smtClean="0"/>
                        <a:t>Additional remarks or notes</a:t>
                      </a:r>
                      <a:endParaRPr lang="en-IN" dirty="0"/>
                    </a:p>
                  </a:txBody>
                  <a:tcPr anchor="ctr"/>
                </a:tc>
                <a:extLst>
                  <a:ext uri="{0D108BD9-81ED-4DB2-BD59-A6C34878D82A}">
                    <a16:rowId xmlns:a16="http://schemas.microsoft.com/office/drawing/2014/main" val="2998110558"/>
                  </a:ext>
                </a:extLst>
              </a:tr>
            </a:tbl>
          </a:graphicData>
        </a:graphic>
      </p:graphicFrame>
    </p:spTree>
    <p:extLst>
      <p:ext uri="{BB962C8B-B14F-4D97-AF65-F5344CB8AC3E}">
        <p14:creationId xmlns:p14="http://schemas.microsoft.com/office/powerpoint/2010/main" val="15873976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p>
        </p:txBody>
      </p:sp>
      <p:sp>
        <p:nvSpPr>
          <p:cNvPr id="3" name="Content Placeholder 2"/>
          <p:cNvSpPr>
            <a:spLocks noGrp="1"/>
          </p:cNvSpPr>
          <p:nvPr>
            <p:ph idx="1"/>
          </p:nvPr>
        </p:nvSpPr>
        <p:spPr/>
        <p:txBody>
          <a:bodyPr anchor="ctr"/>
          <a:lstStyle/>
          <a:p>
            <a:pPr marL="0" indent="0" algn="just">
              <a:buNone/>
            </a:pPr>
            <a:r>
              <a:rPr lang="en-US" dirty="0"/>
              <a:t>The </a:t>
            </a:r>
            <a:r>
              <a:rPr lang="en-US" b="1" dirty="0"/>
              <a:t>Face Recognition Attendance System</a:t>
            </a:r>
            <a:r>
              <a:rPr lang="en-US" dirty="0"/>
              <a:t> offers an efficient, secure, and automated way to mark attendance using face recognition technology. It eliminates the need for traditional manual methods, reduces human errors, and enhances the overall accuracy and speed of attendance tracking. With features like real-time face detection, automatic attendance marking, and detailed reporting, the system significantly improves workplace management. Its integration with databases ensures secure storage and easy retrieval of attendance records. Additionally, the use of face recognition minimizes proxy attendance and enhances overall security.</a:t>
            </a:r>
            <a:endParaRPr lang="en-IN" dirty="0"/>
          </a:p>
        </p:txBody>
      </p:sp>
    </p:spTree>
    <p:extLst>
      <p:ext uri="{BB962C8B-B14F-4D97-AF65-F5344CB8AC3E}">
        <p14:creationId xmlns:p14="http://schemas.microsoft.com/office/powerpoint/2010/main" val="37341482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793</TotalTime>
  <Words>1216</Words>
  <Application>Microsoft Office PowerPoint</Application>
  <PresentationFormat>Widescreen</PresentationFormat>
  <Paragraphs>240</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Bookman Old Style</vt:lpstr>
      <vt:lpstr>Rockwell</vt:lpstr>
      <vt:lpstr>Times New Roman</vt:lpstr>
      <vt:lpstr>Wingdings</vt:lpstr>
      <vt:lpstr>Damask</vt:lpstr>
      <vt:lpstr>FACE ATTENDANCE SYSTEM</vt:lpstr>
      <vt:lpstr>                         INDEX</vt:lpstr>
      <vt:lpstr>Project profile</vt:lpstr>
      <vt:lpstr>Introduction To Organization</vt:lpstr>
      <vt:lpstr>Introduction to project</vt:lpstr>
      <vt:lpstr>Objective of the system</vt:lpstr>
      <vt:lpstr>Functional and Non-Functional Requirements</vt:lpstr>
      <vt:lpstr>Hardware and Software Requirements</vt:lpstr>
      <vt:lpstr>PowerPoint Presentation</vt:lpstr>
      <vt:lpstr>System Modules and Functionalities</vt:lpstr>
      <vt:lpstr>PowerPoint Presentation</vt:lpstr>
      <vt:lpstr>system design diagrams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Dictionary</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ATTENDANCE SYSTEM</dc:title>
  <dc:creator>abhishek pal</dc:creator>
  <cp:lastModifiedBy>abhishek pal</cp:lastModifiedBy>
  <cp:revision>36</cp:revision>
  <dcterms:created xsi:type="dcterms:W3CDTF">2025-03-19T16:41:38Z</dcterms:created>
  <dcterms:modified xsi:type="dcterms:W3CDTF">2025-03-20T05:58:30Z</dcterms:modified>
</cp:coreProperties>
</file>